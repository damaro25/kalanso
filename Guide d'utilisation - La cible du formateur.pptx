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notesMasterIdLst>
    <p:notesMasterId r:id="rId6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fb6798e2-9e8d-96fc-ca59-1cd40f1b636f}">
          <p14:sldIdLst>
            <p14:sldId id="256"/>
            <p14:sldId id="257"/>
            <p14:sldId id="258"/>
            <p14:sldId id="259"/>
            <p14:sldId id="260"/>
          </p14:sldIdLst>
        </p14:section>
        <p14:section name="1 Démarrer" id="{f075d51b-f26b-6efd-4355-3329335dc1ab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2 Préparer l'année scolaire" id="{d9192290-ea98-ec5e-8779-8b3915719698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3 Admettre les élèves" id="{48f386a7-c00f-4e31-c572-6b3c0703b595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4 Inscrire, encaisser, éditer la carte" id="{b3d2cd52-dc56-be5e-3f8c-7a86910959f3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5 Vie scolaire au quotidien" id="{12c40b43-827f-8e80-9b4d-77f92e9f50cf}">
          <p14:sldIdLst>
            <p14:sldId id="297"/>
            <p14:sldId id="298"/>
            <p14:sldId id="299"/>
          </p14:sldIdLst>
        </p14:section>
        <p14:section name="6 Pédagogie" id="{b97bf3af-f501-e2ea-ef03-4c8600dbdd83}">
          <p14:sldIdLst>
            <p14:sldId id="300"/>
            <p14:sldId id="301"/>
            <p14:sldId id="302"/>
            <p14:sldId id="303"/>
          </p14:sldIdLst>
        </p14:section>
        <p14:section name="7 Piloter" id="{b1178e9a-db20-86d5-599d-fba9c019d72e}">
          <p14:sldIdLst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  <p14:section name="8 Clôturer l'année" id="{3e68e309-ab17-e990-d6b3-da02b25bdb10}">
          <p14:sldIdLst>
            <p14:sldId id="312"/>
            <p14:sldId id="313"/>
            <p14:sldId id="314"/>
          </p14:sldIdLst>
        </p14:section>
        <p14:section name="Annexes" id="{af782806-cea6-bc30-da55-2f1721dc3cab}">
          <p14:sldIdLst>
            <p14:sldId id="315"/>
            <p14:sldId id="316"/>
            <p14:sldId id="317"/>
            <p14:sldId id="318"/>
            <p14:sldId id="319"/>
            <p14:sldId id="320"/>
            <p14:sldId id="32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cible du formateur · Guide d'utilisation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_GRIS">
    <p:bg>
      <p:bgPr>
        <a:solidFill>
          <a:srgbClr val="EE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cible du formateur · Guide d'utilisation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solidFill>
          <a:srgbClr val="0B3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737360"/>
            <a:ext cx="6675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ITRE">
    <p:bg>
      <p:bgPr>
        <a:solidFill>
          <a:srgbClr val="0B3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69164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">
    <p:bg>
      <p:bgPr>
        <a:solidFill>
          <a:srgbClr val="0B3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03120"/>
            <a:ext cx="66751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eg"/><Relationship Id="rId2" Type="http://schemas.openxmlformats.org/officeDocument/2006/relationships/image" Target="../media/image-41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neau 1"/>
          <p:cNvSpPr/>
          <p:nvPr/>
        </p:nvSpPr>
        <p:spPr>
          <a:xfrm>
            <a:off x="6858000" y="960120"/>
            <a:ext cx="4937760" cy="493776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Anneau 2"/>
          <p:cNvSpPr/>
          <p:nvPr/>
        </p:nvSpPr>
        <p:spPr>
          <a:xfrm>
            <a:off x="7524598" y="1626718"/>
            <a:ext cx="3604565" cy="3604565"/>
          </a:xfrm>
          <a:prstGeom prst="ellipse">
            <a:avLst/>
          </a:prstGeom>
          <a:solidFill>
            <a:schemeClr val="accent1">
              <a:alpha val="2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nneau 3"/>
          <p:cNvSpPr/>
          <p:nvPr/>
        </p:nvSpPr>
        <p:spPr>
          <a:xfrm>
            <a:off x="8191195" y="2293315"/>
            <a:ext cx="2271370" cy="227137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entre de la cible"/>
          <p:cNvSpPr/>
          <p:nvPr/>
        </p:nvSpPr>
        <p:spPr>
          <a:xfrm>
            <a:off x="8857793" y="2959913"/>
            <a:ext cx="938174" cy="93817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822960" y="173736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cible du formateur</a:t>
            </a:r>
            <a:endParaRPr lang="en-US" sz="5400" dirty="0"/>
          </a:p>
        </p:txBody>
      </p:sp>
      <p:sp>
        <p:nvSpPr>
          <p:cNvPr id="7" name="Sous-titre"/>
          <p:cNvSpPr txBox="1"/>
          <p:nvPr/>
        </p:nvSpPr>
        <p:spPr>
          <a:xfrm>
            <a:off x="822960" y="34290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d'utilisation de la plateforme</a:t>
            </a:r>
            <a:endParaRPr lang="en-US" sz="2800" dirty="0"/>
          </a:p>
        </p:txBody>
      </p:sp>
      <p:sp>
        <p:nvSpPr>
          <p:cNvPr id="8" name="Accroche"/>
          <p:cNvSpPr txBox="1"/>
          <p:nvPr/>
        </p:nvSpPr>
        <p:spPr>
          <a:xfrm>
            <a:off x="822960" y="41148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l'ouverture de l'année scolaire à sa clôture, étape par étape</a:t>
            </a:r>
            <a:endParaRPr lang="en-US" sz="1800" dirty="0"/>
          </a:p>
        </p:txBody>
      </p:sp>
      <p:sp>
        <p:nvSpPr>
          <p:cNvPr id="9" name="Version"/>
          <p:cNvSpPr txBox="1"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1.1 · Octobre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utiliser ce guide</a:t>
            </a:r>
            <a:endParaRPr lang="en-US" sz="3000" dirty="0"/>
          </a:p>
        </p:txBody>
      </p:sp>
      <p:sp>
        <p:nvSpPr>
          <p:cNvPr id="3" name="Carte Suivez l'ordre"/>
          <p:cNvSpPr/>
          <p:nvPr/>
        </p:nvSpPr>
        <p:spPr>
          <a:xfrm>
            <a:off x="548640" y="1463040"/>
            <a:ext cx="2567864" cy="3063240"/>
          </a:xfrm>
          <a:prstGeom prst="roundRect">
            <a:avLst>
              <a:gd name="adj" fmla="val 3561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Pastille FiMap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9156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Suivez l'ordre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08960"/>
            <a:ext cx="2019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guide suit le déroulement réel d'une année scolaire, de la préparation à la clôture.</a:t>
            </a:r>
            <a:endParaRPr lang="en-US" sz="1400" dirty="0"/>
          </a:p>
        </p:txBody>
      </p:sp>
      <p:sp>
        <p:nvSpPr>
          <p:cNvPr id="8" name="Carte Repérez votre rôle"/>
          <p:cNvSpPr/>
          <p:nvPr/>
        </p:nvSpPr>
        <p:spPr>
          <a:xfrm>
            <a:off x="3390824" y="1463040"/>
            <a:ext cx="2567864" cy="3063240"/>
          </a:xfrm>
          <a:prstGeom prst="roundRect">
            <a:avLst>
              <a:gd name="adj" fmla="val 3561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Pastille FiUsers"/>
          <p:cNvSpPr/>
          <p:nvPr/>
        </p:nvSpPr>
        <p:spPr>
          <a:xfrm>
            <a:off x="3665144" y="173736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452" y="19156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0604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Repérez votre rôle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108960"/>
            <a:ext cx="2019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page indique qui peut agir : Fondateur, Chef, Secrétaire, Comptable ou Enseignant.</a:t>
            </a:r>
            <a:endParaRPr lang="en-US" sz="1400" dirty="0"/>
          </a:p>
        </p:txBody>
      </p:sp>
      <p:sp>
        <p:nvSpPr>
          <p:cNvPr id="13" name="Carte Suivez les numéros"/>
          <p:cNvSpPr/>
          <p:nvPr/>
        </p:nvSpPr>
        <p:spPr>
          <a:xfrm>
            <a:off x="6233008" y="1463040"/>
            <a:ext cx="2567864" cy="3063240"/>
          </a:xfrm>
          <a:prstGeom prst="roundRect">
            <a:avLst>
              <a:gd name="adj" fmla="val 3561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Pastille FiHash"/>
          <p:cNvSpPr/>
          <p:nvPr/>
        </p:nvSpPr>
        <p:spPr>
          <a:xfrm>
            <a:off x="6507328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636" y="191566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0604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Suivez les numéros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108960"/>
            <a:ext cx="2019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numéro orange sur une capture correspond à l'étape portant le même numéro.</a:t>
            </a:r>
            <a:endParaRPr lang="en-US" sz="1400" dirty="0"/>
          </a:p>
        </p:txBody>
      </p:sp>
      <p:sp>
        <p:nvSpPr>
          <p:cNvPr id="18" name="Carte Données de test"/>
          <p:cNvSpPr/>
          <p:nvPr/>
        </p:nvSpPr>
        <p:spPr>
          <a:xfrm>
            <a:off x="9075191" y="1463040"/>
            <a:ext cx="2567864" cy="3063240"/>
          </a:xfrm>
          <a:prstGeom prst="roundRect">
            <a:avLst>
              <a:gd name="adj" fmla="val 3561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Pastille FiInfo"/>
          <p:cNvSpPr/>
          <p:nvPr/>
        </p:nvSpPr>
        <p:spPr>
          <a:xfrm>
            <a:off x="9349511" y="1737360"/>
            <a:ext cx="685800" cy="685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819" y="191566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06040"/>
            <a:ext cx="2019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de test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108960"/>
            <a:ext cx="2019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captures viennent d'un environnement de test : vos noms et vos chiffres seront différents.</a:t>
            </a:r>
            <a:endParaRPr lang="en-US" sz="1400" dirty="0"/>
          </a:p>
        </p:txBody>
      </p:sp>
      <p:sp>
        <p:nvSpPr>
          <p:cNvPr id="23" name="Encadré"/>
          <p:cNvSpPr/>
          <p:nvPr/>
        </p:nvSpPr>
        <p:spPr>
          <a:xfrm>
            <a:off x="548640" y="4892040"/>
            <a:ext cx="11094415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</p:spPr>
      </p:sp>
      <p:sp>
        <p:nvSpPr>
          <p:cNvPr id="24" name="Pastille FiInfo"/>
          <p:cNvSpPr/>
          <p:nvPr/>
        </p:nvSpPr>
        <p:spPr>
          <a:xfrm>
            <a:off x="822960" y="5120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19" y="5251399"/>
            <a:ext cx="241402" cy="2414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54480" y="4983480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menus sont notés avec le signe › : par exemple Finances › Factures signifie « ouvrir le groupe Finances, puis la page Factures ».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000" dirty="0"/>
          </a:p>
        </p:txBody>
      </p:sp>
      <p:sp>
        <p:nvSpPr>
          <p:cNvPr id="3" name="Numéro 1"/>
          <p:cNvSpPr txBox="1"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Chapitre 1"/>
          <p:cNvSpPr txBox="1"/>
          <p:nvPr/>
        </p:nvSpPr>
        <p:spPr>
          <a:xfrm>
            <a:off x="1325880" y="1463040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874520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Connexion, navigation, téléphone, hors connexion</a:t>
            </a:r>
            <a:endParaRPr lang="en-US" sz="1400" dirty="0"/>
          </a:p>
        </p:txBody>
      </p:sp>
      <p:sp>
        <p:nvSpPr>
          <p:cNvPr id="6" name="Numéro 2"/>
          <p:cNvSpPr txBox="1"/>
          <p:nvPr/>
        </p:nvSpPr>
        <p:spPr>
          <a:xfrm>
            <a:off x="548640" y="263347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Chapitre 2"/>
          <p:cNvSpPr txBox="1"/>
          <p:nvPr/>
        </p:nvSpPr>
        <p:spPr>
          <a:xfrm>
            <a:off x="1325880" y="2542032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l'année scolaire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953512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Niveaux, classes, tarifs, matières, personnel, comptes, accès des enseignants</a:t>
            </a:r>
            <a:endParaRPr lang="en-US" sz="1400" dirty="0"/>
          </a:p>
        </p:txBody>
      </p:sp>
      <p:sp>
        <p:nvSpPr>
          <p:cNvPr id="9" name="Numéro 3"/>
          <p:cNvSpPr txBox="1"/>
          <p:nvPr/>
        </p:nvSpPr>
        <p:spPr>
          <a:xfrm>
            <a:off x="548640" y="371246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Chapitre 3"/>
          <p:cNvSpPr txBox="1"/>
          <p:nvPr/>
        </p:nvSpPr>
        <p:spPr>
          <a:xfrm>
            <a:off x="1325880" y="3621024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Admettre les élèves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032504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public, demandes, acceptation, refus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47914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Chapitre 4"/>
          <p:cNvSpPr txBox="1"/>
          <p:nvPr/>
        </p:nvSpPr>
        <p:spPr>
          <a:xfrm>
            <a:off x="1325880" y="4700016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Inscrire, encaisser, éditer la carte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5111496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élève, paiements, factures, bordereau, carte scolaire</a:t>
            </a:r>
            <a:endParaRPr lang="en-US" sz="1400" dirty="0"/>
          </a:p>
        </p:txBody>
      </p:sp>
      <p:sp>
        <p:nvSpPr>
          <p:cNvPr id="15" name="Numéro 5"/>
          <p:cNvSpPr txBox="1"/>
          <p:nvPr/>
        </p:nvSpPr>
        <p:spPr>
          <a:xfrm>
            <a:off x="6324448" y="15544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Chapitre 5"/>
          <p:cNvSpPr txBox="1"/>
          <p:nvPr/>
        </p:nvSpPr>
        <p:spPr>
          <a:xfrm>
            <a:off x="7101688" y="1463040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scolaire au quotidien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101688" y="1874520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Appel, absences, communication aux parents</a:t>
            </a:r>
            <a:endParaRPr lang="en-US" sz="1400" dirty="0"/>
          </a:p>
        </p:txBody>
      </p:sp>
      <p:sp>
        <p:nvSpPr>
          <p:cNvPr id="18" name="Numéro 6"/>
          <p:cNvSpPr txBox="1"/>
          <p:nvPr/>
        </p:nvSpPr>
        <p:spPr>
          <a:xfrm>
            <a:off x="6324448" y="263347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19" name="Chapitre 6"/>
          <p:cNvSpPr txBox="1"/>
          <p:nvPr/>
        </p:nvSpPr>
        <p:spPr>
          <a:xfrm>
            <a:off x="7101688" y="2542032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Pédagogie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101688" y="2953512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Emplois du temps, notes, bulletins, parcours</a:t>
            </a:r>
            <a:endParaRPr lang="en-US" sz="1400" dirty="0"/>
          </a:p>
        </p:txBody>
      </p:sp>
      <p:sp>
        <p:nvSpPr>
          <p:cNvPr id="21" name="Numéro 7"/>
          <p:cNvSpPr txBox="1"/>
          <p:nvPr/>
        </p:nvSpPr>
        <p:spPr>
          <a:xfrm>
            <a:off x="6324448" y="371246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22" name="Chapitre 7"/>
          <p:cNvSpPr txBox="1"/>
          <p:nvPr/>
        </p:nvSpPr>
        <p:spPr>
          <a:xfrm>
            <a:off x="7101688" y="3621024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Piloter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101688" y="4032504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financier, trésorerie, paie, logistique, bibliothèque</a:t>
            </a:r>
            <a:endParaRPr lang="en-US" sz="1400" dirty="0"/>
          </a:p>
        </p:txBody>
      </p:sp>
      <p:sp>
        <p:nvSpPr>
          <p:cNvPr id="24" name="Numéro 8"/>
          <p:cNvSpPr txBox="1"/>
          <p:nvPr/>
        </p:nvSpPr>
        <p:spPr>
          <a:xfrm>
            <a:off x="6324448" y="47914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25" name="Chapitre 8"/>
          <p:cNvSpPr txBox="1"/>
          <p:nvPr/>
        </p:nvSpPr>
        <p:spPr>
          <a:xfrm>
            <a:off x="7101688" y="4700016"/>
            <a:ext cx="4541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Clôturer l'année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101688" y="5111496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de classe et réinscriptions</a:t>
            </a:r>
            <a:endParaRPr lang="en-US" sz="1400" dirty="0"/>
          </a:p>
        </p:txBody>
      </p:sp>
      <p:sp>
        <p:nvSpPr>
          <p:cNvPr id="27" name="Annexes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Annexes : journée type par rôle, rôles et droits, glossaire, bonnes pratiques, dépannage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parcours d'une année scolaire</a:t>
            </a:r>
            <a:endParaRPr lang="en-US" sz="3000" dirty="0"/>
          </a:p>
        </p:txBody>
      </p:sp>
      <p:sp>
        <p:nvSpPr>
          <p:cNvPr id="3" name="Sous-titre"/>
          <p:cNvSpPr txBox="1"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temps forts, chacun détaillé dans un chapitre de ce guide</a:t>
            </a:r>
            <a:endParaRPr lang="en-US" sz="1600" dirty="0"/>
          </a:p>
        </p:txBody>
      </p:sp>
      <p:sp>
        <p:nvSpPr>
          <p:cNvPr id="4" name="Étape 1"/>
          <p:cNvSpPr/>
          <p:nvPr/>
        </p:nvSpPr>
        <p:spPr>
          <a:xfrm>
            <a:off x="548640" y="1645920"/>
            <a:ext cx="2464994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Numéro 1"/>
          <p:cNvSpPr txBox="1"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50592"/>
            <a:ext cx="2007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16352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Niveaux, classes, tarifs, personnel, comptes</a:t>
            </a:r>
            <a:endParaRPr lang="en-US" sz="1400" dirty="0"/>
          </a:p>
        </p:txBody>
      </p:sp>
      <p:sp>
        <p:nvSpPr>
          <p:cNvPr id="8" name="Flèche"/>
          <p:cNvSpPr/>
          <p:nvPr/>
        </p:nvSpPr>
        <p:spPr>
          <a:xfrm>
            <a:off x="3086786" y="2308860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Étape 2"/>
          <p:cNvSpPr/>
          <p:nvPr/>
        </p:nvSpPr>
        <p:spPr>
          <a:xfrm>
            <a:off x="3425114" y="1645920"/>
            <a:ext cx="2464994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Numéro 2"/>
          <p:cNvSpPr txBox="1"/>
          <p:nvPr/>
        </p:nvSpPr>
        <p:spPr>
          <a:xfrm>
            <a:off x="3653714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53714" y="2450592"/>
            <a:ext cx="2007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Admettre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3714" y="2816352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des familles, acceptation</a:t>
            </a:r>
            <a:endParaRPr lang="en-US" sz="1400" dirty="0"/>
          </a:p>
        </p:txBody>
      </p:sp>
      <p:sp>
        <p:nvSpPr>
          <p:cNvPr id="13" name="Flèche"/>
          <p:cNvSpPr/>
          <p:nvPr/>
        </p:nvSpPr>
        <p:spPr>
          <a:xfrm>
            <a:off x="5963260" y="2308860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Étape 3"/>
          <p:cNvSpPr/>
          <p:nvPr/>
        </p:nvSpPr>
        <p:spPr>
          <a:xfrm>
            <a:off x="6301588" y="1645920"/>
            <a:ext cx="2464994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Numéro 3"/>
          <p:cNvSpPr txBox="1"/>
          <p:nvPr/>
        </p:nvSpPr>
        <p:spPr>
          <a:xfrm>
            <a:off x="6530188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30188" y="2450592"/>
            <a:ext cx="2007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Inscrire et encaisser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30188" y="2816352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élève, inscription, factures, carte</a:t>
            </a:r>
            <a:endParaRPr lang="en-US" sz="1400" dirty="0"/>
          </a:p>
        </p:txBody>
      </p:sp>
      <p:sp>
        <p:nvSpPr>
          <p:cNvPr id="18" name="Flèche"/>
          <p:cNvSpPr/>
          <p:nvPr/>
        </p:nvSpPr>
        <p:spPr>
          <a:xfrm>
            <a:off x="8839733" y="2308860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Étape 4"/>
          <p:cNvSpPr/>
          <p:nvPr/>
        </p:nvSpPr>
        <p:spPr>
          <a:xfrm>
            <a:off x="9178061" y="1645920"/>
            <a:ext cx="2464994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Numéro 4"/>
          <p:cNvSpPr txBox="1"/>
          <p:nvPr/>
        </p:nvSpPr>
        <p:spPr>
          <a:xfrm>
            <a:off x="9406661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406661" y="2450592"/>
            <a:ext cx="2007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406661" y="2816352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Appel, absences, messages aux parents</a:t>
            </a:r>
            <a:endParaRPr lang="en-US" sz="1400" dirty="0"/>
          </a:p>
        </p:txBody>
      </p:sp>
      <p:sp>
        <p:nvSpPr>
          <p:cNvPr id="23" name="Étape 5"/>
          <p:cNvSpPr/>
          <p:nvPr/>
        </p:nvSpPr>
        <p:spPr>
          <a:xfrm>
            <a:off x="548640" y="3630168"/>
            <a:ext cx="2464994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Numéro 5"/>
          <p:cNvSpPr txBox="1"/>
          <p:nvPr/>
        </p:nvSpPr>
        <p:spPr>
          <a:xfrm>
            <a:off x="777240" y="3858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434840"/>
            <a:ext cx="2007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800600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 du temps, notes, bulletins</a:t>
            </a:r>
            <a:endParaRPr lang="en-US" sz="1400" dirty="0"/>
          </a:p>
        </p:txBody>
      </p:sp>
      <p:sp>
        <p:nvSpPr>
          <p:cNvPr id="27" name="Flèche"/>
          <p:cNvSpPr/>
          <p:nvPr/>
        </p:nvSpPr>
        <p:spPr>
          <a:xfrm>
            <a:off x="3086786" y="4293108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Étape 6"/>
          <p:cNvSpPr/>
          <p:nvPr/>
        </p:nvSpPr>
        <p:spPr>
          <a:xfrm>
            <a:off x="3425114" y="3630168"/>
            <a:ext cx="2464994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Numéro 6"/>
          <p:cNvSpPr txBox="1"/>
          <p:nvPr/>
        </p:nvSpPr>
        <p:spPr>
          <a:xfrm>
            <a:off x="3653714" y="3858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3653714" y="4434840"/>
            <a:ext cx="2007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Piloter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3653714" y="4800600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Bilan, trésorerie, paie</a:t>
            </a:r>
            <a:endParaRPr lang="en-US" sz="1400" dirty="0"/>
          </a:p>
        </p:txBody>
      </p:sp>
      <p:sp>
        <p:nvSpPr>
          <p:cNvPr id="32" name="Flèche"/>
          <p:cNvSpPr/>
          <p:nvPr/>
        </p:nvSpPr>
        <p:spPr>
          <a:xfrm>
            <a:off x="5963260" y="4293108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Étape 7"/>
          <p:cNvSpPr/>
          <p:nvPr/>
        </p:nvSpPr>
        <p:spPr>
          <a:xfrm>
            <a:off x="6301588" y="3630168"/>
            <a:ext cx="2464994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Numéro 7"/>
          <p:cNvSpPr txBox="1"/>
          <p:nvPr/>
        </p:nvSpPr>
        <p:spPr>
          <a:xfrm>
            <a:off x="6530188" y="3858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530188" y="4434840"/>
            <a:ext cx="2007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Clôturer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530188" y="4800600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de classe, réinscriptions</a:t>
            </a:r>
            <a:endParaRPr lang="en-US" sz="1400" dirty="0"/>
          </a:p>
        </p:txBody>
      </p:sp>
      <p:sp>
        <p:nvSpPr>
          <p:cNvPr id="37" name="Encadré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2960" y="56235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chapitres 2 à 8 reprennent ce fil dans l'ordre : chaque étape prépare la suivante.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cinq rôles</a:t>
            </a:r>
            <a:endParaRPr lang="en-US" sz="3000" dirty="0"/>
          </a:p>
        </p:txBody>
      </p:sp>
      <p:sp>
        <p:nvSpPr>
          <p:cNvPr id="3" name="Rôle Fondateur"/>
          <p:cNvSpPr/>
          <p:nvPr/>
        </p:nvSpPr>
        <p:spPr>
          <a:xfrm>
            <a:off x="548640" y="1463040"/>
            <a:ext cx="2057949" cy="3383280"/>
          </a:xfrm>
          <a:prstGeom prst="roundRect">
            <a:avLst>
              <a:gd name="adj" fmla="val 444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Pastille FiAward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17AE89"/>
          </a:solidFill>
          <a:ln w="12700">
            <a:solidFill>
              <a:srgbClr val="17AE8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9037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560320"/>
            <a:ext cx="16007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200400"/>
            <a:ext cx="1600749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complet : paramétrage, finances, personnel, comptes utilisateurs.</a:t>
            </a:r>
            <a:endParaRPr lang="en-US" sz="1400" dirty="0"/>
          </a:p>
        </p:txBody>
      </p:sp>
      <p:sp>
        <p:nvSpPr>
          <p:cNvPr id="8" name="Rôle Chef d'établissement"/>
          <p:cNvSpPr/>
          <p:nvPr/>
        </p:nvSpPr>
        <p:spPr>
          <a:xfrm>
            <a:off x="2807757" y="1463040"/>
            <a:ext cx="2057949" cy="3383280"/>
          </a:xfrm>
          <a:prstGeom prst="roundRect">
            <a:avLst>
              <a:gd name="adj" fmla="val 444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Pastille FiShield"/>
          <p:cNvSpPr/>
          <p:nvPr/>
        </p:nvSpPr>
        <p:spPr>
          <a:xfrm>
            <a:off x="3036357" y="1737360"/>
            <a:ext cx="640080" cy="640080"/>
          </a:xfrm>
          <a:prstGeom prst="ellipse">
            <a:avLst/>
          </a:prstGeom>
          <a:solidFill>
            <a:srgbClr val="0B3B35"/>
          </a:solidFill>
          <a:ln w="12700">
            <a:solidFill>
              <a:srgbClr val="0B3B3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777" y="19037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36357" y="2560320"/>
            <a:ext cx="16007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d'établissement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036357" y="3200400"/>
            <a:ext cx="1600749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Mêmes droits que le fondateur au quotidien.</a:t>
            </a:r>
            <a:endParaRPr lang="en-US" sz="1400" dirty="0"/>
          </a:p>
        </p:txBody>
      </p:sp>
      <p:sp>
        <p:nvSpPr>
          <p:cNvPr id="13" name="Rôle Secrétaire"/>
          <p:cNvSpPr/>
          <p:nvPr/>
        </p:nvSpPr>
        <p:spPr>
          <a:xfrm>
            <a:off x="5066873" y="1463040"/>
            <a:ext cx="2057949" cy="3383280"/>
          </a:xfrm>
          <a:prstGeom prst="roundRect">
            <a:avLst>
              <a:gd name="adj" fmla="val 444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Pastille FiEdit3"/>
          <p:cNvSpPr/>
          <p:nvPr/>
        </p:nvSpPr>
        <p:spPr>
          <a:xfrm>
            <a:off x="5295473" y="1737360"/>
            <a:ext cx="640080" cy="640080"/>
          </a:xfrm>
          <a:prstGeom prst="ellipse">
            <a:avLst/>
          </a:prstGeom>
          <a:solidFill>
            <a:srgbClr val="1C7ED6"/>
          </a:solidFill>
          <a:ln w="12700">
            <a:solidFill>
              <a:srgbClr val="1C7ED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894" y="19037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95473" y="2560320"/>
            <a:ext cx="16007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295473" y="3200400"/>
            <a:ext cx="1600749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Admissions, élèves, cartes scolaires, appel, communication, bibliothèque.</a:t>
            </a:r>
            <a:endParaRPr lang="en-US" sz="1400" dirty="0"/>
          </a:p>
        </p:txBody>
      </p:sp>
      <p:sp>
        <p:nvSpPr>
          <p:cNvPr id="18" name="Rôle Comptable"/>
          <p:cNvSpPr/>
          <p:nvPr/>
        </p:nvSpPr>
        <p:spPr>
          <a:xfrm>
            <a:off x="7325990" y="1463040"/>
            <a:ext cx="2057949" cy="3383280"/>
          </a:xfrm>
          <a:prstGeom prst="roundRect">
            <a:avLst>
              <a:gd name="adj" fmla="val 444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Pastille FiDollarSign"/>
          <p:cNvSpPr/>
          <p:nvPr/>
        </p:nvSpPr>
        <p:spPr>
          <a:xfrm>
            <a:off x="7554590" y="1737360"/>
            <a:ext cx="640080" cy="640080"/>
          </a:xfrm>
          <a:prstGeom prst="ellipse">
            <a:avLst/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011" y="190378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554590" y="2560320"/>
            <a:ext cx="16007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554590" y="3200400"/>
            <a:ext cx="1600749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Facturation, encaissements, bilan, paie, communication.</a:t>
            </a:r>
            <a:endParaRPr lang="en-US" sz="1400" dirty="0"/>
          </a:p>
        </p:txBody>
      </p:sp>
      <p:sp>
        <p:nvSpPr>
          <p:cNvPr id="23" name="Rôle Enseignant"/>
          <p:cNvSpPr/>
          <p:nvPr/>
        </p:nvSpPr>
        <p:spPr>
          <a:xfrm>
            <a:off x="9585107" y="1463040"/>
            <a:ext cx="2057949" cy="3383280"/>
          </a:xfrm>
          <a:prstGeom prst="roundRect">
            <a:avLst>
              <a:gd name="adj" fmla="val 444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Pastille FiBookOpen"/>
          <p:cNvSpPr/>
          <p:nvPr/>
        </p:nvSpPr>
        <p:spPr>
          <a:xfrm>
            <a:off x="9813707" y="1737360"/>
            <a:ext cx="640080" cy="640080"/>
          </a:xfrm>
          <a:prstGeom prst="ellipse">
            <a:avLst/>
          </a:prstGeom>
          <a:solidFill>
            <a:srgbClr val="B97800"/>
          </a:solidFill>
          <a:ln w="12700">
            <a:solidFill>
              <a:srgbClr val="B9780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0127" y="190378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813707" y="2560320"/>
            <a:ext cx="16007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9813707" y="3200400"/>
            <a:ext cx="1600749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 à ses classes et à leurs élèves : appel, notes, bulletins, emploi du temps.</a:t>
            </a:r>
            <a:endParaRPr lang="en-US" sz="1400" dirty="0"/>
          </a:p>
        </p:txBody>
      </p:sp>
      <p:sp>
        <p:nvSpPr>
          <p:cNvPr id="28" name="Encadré"/>
          <p:cNvSpPr/>
          <p:nvPr/>
        </p:nvSpPr>
        <p:spPr>
          <a:xfrm>
            <a:off x="548640" y="5166360"/>
            <a:ext cx="11094415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</p:spPr>
      </p:sp>
      <p:sp>
        <p:nvSpPr>
          <p:cNvPr id="29" name="Pastille FiLock"/>
          <p:cNvSpPr/>
          <p:nvPr/>
        </p:nvSpPr>
        <p:spPr>
          <a:xfrm>
            <a:off x="822960" y="5303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719" y="5434279"/>
            <a:ext cx="241402" cy="2414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554480" y="5166360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menu n'affiche que les pages autorisées pour votre rôle. Le tableau complet des droits figure en annexe.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neau 1"/>
          <p:cNvSpPr/>
          <p:nvPr/>
        </p:nvSpPr>
        <p:spPr>
          <a:xfrm>
            <a:off x="7498080" y="1234440"/>
            <a:ext cx="4389120" cy="43891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Anneau 2"/>
          <p:cNvSpPr/>
          <p:nvPr/>
        </p:nvSpPr>
        <p:spPr>
          <a:xfrm>
            <a:off x="8090611" y="1826971"/>
            <a:ext cx="3204058" cy="3204058"/>
          </a:xfrm>
          <a:prstGeom prst="ellipse">
            <a:avLst/>
          </a:prstGeom>
          <a:solidFill>
            <a:schemeClr val="accent1">
              <a:alpha val="2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nneau 3"/>
          <p:cNvSpPr/>
          <p:nvPr/>
        </p:nvSpPr>
        <p:spPr>
          <a:xfrm>
            <a:off x="8683142" y="2419502"/>
            <a:ext cx="2018995" cy="2018995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entre de la cible"/>
          <p:cNvSpPr/>
          <p:nvPr/>
        </p:nvSpPr>
        <p:spPr>
          <a:xfrm>
            <a:off x="9275674" y="3012034"/>
            <a:ext cx="833933" cy="83393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Numéro de chapitre"/>
          <p:cNvSpPr txBox="1"/>
          <p:nvPr/>
        </p:nvSpPr>
        <p:spPr>
          <a:xfrm>
            <a:off x="82296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1</a:t>
            </a:r>
            <a:endParaRPr lang="en-US" sz="18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22960" y="16916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Démarrer</a:t>
            </a:r>
            <a:endParaRPr lang="en-US" sz="4400" dirty="0"/>
          </a:p>
        </p:txBody>
      </p:sp>
      <p:sp>
        <p:nvSpPr>
          <p:cNvPr id="8" name="Contenu du chapitre"/>
          <p:cNvSpPr txBox="1"/>
          <p:nvPr/>
        </p:nvSpPr>
        <p:spPr>
          <a:xfrm>
            <a:off x="822960" y="338328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repérer dans le menu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Téléphone, tablette et mode hors connexion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connecter</a:t>
            </a:r>
            <a:endParaRPr lang="en-US" sz="3000" dirty="0"/>
          </a:p>
        </p:txBody>
      </p:sp>
      <p:sp>
        <p:nvSpPr>
          <p:cNvPr id="3" name="Rôle Tous"/>
          <p:cNvSpPr txBox="1"/>
          <p:nvPr/>
        </p:nvSpPr>
        <p:spPr>
          <a:xfrm>
            <a:off x="10051999" y="566928"/>
            <a:ext cx="1591056" cy="329184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rôles</a:t>
            </a:r>
            <a:endParaRPr lang="en-US" sz="1200" dirty="0"/>
          </a:p>
        </p:txBody>
      </p:sp>
      <p:sp>
        <p:nvSpPr>
          <p:cNvPr id="4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Étape 1"/>
          <p:cNvSpPr txBox="1"/>
          <p:nvPr/>
        </p:nvSpPr>
        <p:spPr>
          <a:xfrm>
            <a:off x="1005840" y="1335024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l'adresse de la plateforme fournie par votre établissement dans votre navigateur.</a:t>
            </a:r>
            <a:endParaRPr lang="en-US" sz="1400" dirty="0"/>
          </a:p>
        </p:txBody>
      </p:sp>
      <p:sp>
        <p:nvSpPr>
          <p:cNvPr id="6" name="Numéro 2"/>
          <p:cNvSpPr txBox="1"/>
          <p:nvPr/>
        </p:nvSpPr>
        <p:spPr>
          <a:xfrm>
            <a:off x="548640" y="215341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Étape 2"/>
          <p:cNvSpPr txBox="1"/>
          <p:nvPr/>
        </p:nvSpPr>
        <p:spPr>
          <a:xfrm>
            <a:off x="1005840" y="216255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votre adresse email professionnelle.</a:t>
            </a:r>
            <a:endParaRPr lang="en-US" sz="1400" dirty="0"/>
          </a:p>
        </p:txBody>
      </p:sp>
      <p:sp>
        <p:nvSpPr>
          <p:cNvPr id="8" name="Numéro 3"/>
          <p:cNvSpPr txBox="1"/>
          <p:nvPr/>
        </p:nvSpPr>
        <p:spPr>
          <a:xfrm>
            <a:off x="548640" y="276606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Étape 3"/>
          <p:cNvSpPr txBox="1"/>
          <p:nvPr/>
        </p:nvSpPr>
        <p:spPr>
          <a:xfrm>
            <a:off x="1005840" y="277520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votre mot de passe. L'icône en forme d'œil permet de l'afficher.</a:t>
            </a:r>
            <a:endParaRPr lang="en-US" sz="1400" dirty="0"/>
          </a:p>
        </p:txBody>
      </p:sp>
      <p:sp>
        <p:nvSpPr>
          <p:cNvPr id="10" name="Numéro 4"/>
          <p:cNvSpPr txBox="1"/>
          <p:nvPr/>
        </p:nvSpPr>
        <p:spPr>
          <a:xfrm>
            <a:off x="548640" y="337870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Étape 4"/>
          <p:cNvSpPr txBox="1"/>
          <p:nvPr/>
        </p:nvSpPr>
        <p:spPr>
          <a:xfrm>
            <a:off x="1005840" y="338785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Se connecter » : le Tableau de bord s'ouvre.</a:t>
            </a:r>
            <a:endParaRPr lang="en-US" sz="1400" dirty="0"/>
          </a:p>
        </p:txBody>
      </p:sp>
      <p:sp>
        <p:nvSpPr>
          <p:cNvPr id="12" name="À savoir"/>
          <p:cNvSpPr/>
          <p:nvPr/>
        </p:nvSpPr>
        <p:spPr>
          <a:xfrm>
            <a:off x="548640" y="533095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3" name="Texte à savoir"/>
          <p:cNvSpPr txBox="1"/>
          <p:nvPr/>
        </p:nvSpPr>
        <p:spPr>
          <a:xfrm>
            <a:off x="777240" y="5422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oublié ? La direction le réinitialise dans Établissement › Utilisateurs. Un compte désactivé ne peut plus se connecter.</a:t>
            </a:r>
            <a:endParaRPr lang="en-US" sz="1400" dirty="0"/>
          </a:p>
        </p:txBody>
      </p:sp>
      <p:sp>
        <p:nvSpPr>
          <p:cNvPr id="14" name="Cadre de la capture"/>
          <p:cNvSpPr/>
          <p:nvPr/>
        </p:nvSpPr>
        <p:spPr>
          <a:xfrm>
            <a:off x="5340096" y="1271016"/>
            <a:ext cx="6357823" cy="3309972"/>
          </a:xfrm>
          <a:prstGeom prst="roundRect">
            <a:avLst>
              <a:gd name="adj" fmla="val 1658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0" descr="Capture d'écran : Se connec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6248095" cy="3200244"/>
          </a:xfrm>
          <a:prstGeom prst="rect">
            <a:avLst/>
          </a:prstGeom>
        </p:spPr>
      </p:pic>
      <p:sp>
        <p:nvSpPr>
          <p:cNvPr id="16" name="Repère 2"/>
          <p:cNvSpPr/>
          <p:nvPr/>
        </p:nvSpPr>
        <p:spPr>
          <a:xfrm>
            <a:off x="7810382" y="2230711"/>
            <a:ext cx="2392563" cy="46325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17" name="Numéro 2"/>
          <p:cNvSpPr txBox="1"/>
          <p:nvPr/>
        </p:nvSpPr>
        <p:spPr>
          <a:xfrm>
            <a:off x="7673222" y="2093551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Repère 3"/>
          <p:cNvSpPr/>
          <p:nvPr/>
        </p:nvSpPr>
        <p:spPr>
          <a:xfrm>
            <a:off x="7810382" y="2815875"/>
            <a:ext cx="2392563" cy="46325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19" name="Numéro 3"/>
          <p:cNvSpPr txBox="1"/>
          <p:nvPr/>
        </p:nvSpPr>
        <p:spPr>
          <a:xfrm>
            <a:off x="7673222" y="2678715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Repère 4"/>
          <p:cNvSpPr/>
          <p:nvPr/>
        </p:nvSpPr>
        <p:spPr>
          <a:xfrm>
            <a:off x="7810382" y="3401038"/>
            <a:ext cx="2392563" cy="27430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4"/>
          <p:cNvSpPr txBox="1"/>
          <p:nvPr/>
        </p:nvSpPr>
        <p:spPr>
          <a:xfrm>
            <a:off x="7673222" y="326387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repérer dans le menu</a:t>
            </a:r>
            <a:endParaRPr lang="en-US" sz="3000" dirty="0"/>
          </a:p>
        </p:txBody>
      </p:sp>
      <p:sp>
        <p:nvSpPr>
          <p:cNvPr id="3" name="Famille Tableau de bord"/>
          <p:cNvSpPr/>
          <p:nvPr/>
        </p:nvSpPr>
        <p:spPr>
          <a:xfrm>
            <a:off x="548640" y="1371600"/>
            <a:ext cx="2057949" cy="3977640"/>
          </a:xfrm>
          <a:prstGeom prst="roundRect">
            <a:avLst>
              <a:gd name="adj" fmla="val 444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En-tête Tableau de bord"/>
          <p:cNvSpPr/>
          <p:nvPr/>
        </p:nvSpPr>
        <p:spPr>
          <a:xfrm>
            <a:off x="548640" y="1371600"/>
            <a:ext cx="2057949" cy="777240"/>
          </a:xfrm>
          <a:prstGeom prst="roundRect">
            <a:avLst>
              <a:gd name="adj" fmla="val 11765"/>
            </a:avLst>
          </a:prstGeom>
          <a:solidFill>
            <a:srgbClr val="0B3B35"/>
          </a:solidFill>
          <a:ln w="12700">
            <a:solidFill>
              <a:srgbClr val="0B3B3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72768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71600"/>
            <a:ext cx="132642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31720"/>
            <a:ext cx="173790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clés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de paiements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</a:t>
            </a:r>
            <a:endParaRPr lang="en-US" sz="1400" dirty="0"/>
          </a:p>
        </p:txBody>
      </p:sp>
      <p:sp>
        <p:nvSpPr>
          <p:cNvPr id="8" name="Famille Élèves"/>
          <p:cNvSpPr/>
          <p:nvPr/>
        </p:nvSpPr>
        <p:spPr>
          <a:xfrm>
            <a:off x="2807757" y="1371600"/>
            <a:ext cx="2057949" cy="3977640"/>
          </a:xfrm>
          <a:prstGeom prst="roundRect">
            <a:avLst>
              <a:gd name="adj" fmla="val 444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En-tête Élèves"/>
          <p:cNvSpPr/>
          <p:nvPr/>
        </p:nvSpPr>
        <p:spPr>
          <a:xfrm>
            <a:off x="2807757" y="1371600"/>
            <a:ext cx="2057949" cy="777240"/>
          </a:xfrm>
          <a:prstGeom prst="roundRect">
            <a:avLst>
              <a:gd name="adj" fmla="val 11765"/>
            </a:avLst>
          </a:prstGeom>
          <a:solidFill>
            <a:srgbClr val="17AE89"/>
          </a:solidFill>
          <a:ln w="12700">
            <a:solidFill>
              <a:srgbClr val="17AE8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637" y="15727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47837" y="1371600"/>
            <a:ext cx="132642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990637" y="2331720"/>
            <a:ext cx="173790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scolaires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parcours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Emplois du temps</a:t>
            </a:r>
            <a:endParaRPr lang="en-US" sz="1400" dirty="0"/>
          </a:p>
        </p:txBody>
      </p:sp>
      <p:sp>
        <p:nvSpPr>
          <p:cNvPr id="13" name="Famille Vie scolaire"/>
          <p:cNvSpPr/>
          <p:nvPr/>
        </p:nvSpPr>
        <p:spPr>
          <a:xfrm>
            <a:off x="5066873" y="1371600"/>
            <a:ext cx="2057949" cy="3977640"/>
          </a:xfrm>
          <a:prstGeom prst="roundRect">
            <a:avLst>
              <a:gd name="adj" fmla="val 444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En-tête Vie scolaire"/>
          <p:cNvSpPr/>
          <p:nvPr/>
        </p:nvSpPr>
        <p:spPr>
          <a:xfrm>
            <a:off x="5066873" y="1371600"/>
            <a:ext cx="2057949" cy="777240"/>
          </a:xfrm>
          <a:prstGeom prst="roundRect">
            <a:avLst>
              <a:gd name="adj" fmla="val 11765"/>
            </a:avLst>
          </a:prstGeom>
          <a:solidFill>
            <a:srgbClr val="1C7ED6"/>
          </a:solidFill>
          <a:ln w="12700">
            <a:solidFill>
              <a:srgbClr val="1C7ED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753" y="157276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706953" y="1371600"/>
            <a:ext cx="132642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scolaire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249753" y="2331720"/>
            <a:ext cx="173790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du jour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d'absences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18" name="Famille Finances"/>
          <p:cNvSpPr/>
          <p:nvPr/>
        </p:nvSpPr>
        <p:spPr>
          <a:xfrm>
            <a:off x="7325990" y="1371600"/>
            <a:ext cx="2057949" cy="3977640"/>
          </a:xfrm>
          <a:prstGeom prst="roundRect">
            <a:avLst>
              <a:gd name="adj" fmla="val 444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En-tête Finances"/>
          <p:cNvSpPr/>
          <p:nvPr/>
        </p:nvSpPr>
        <p:spPr>
          <a:xfrm>
            <a:off x="7325990" y="1371600"/>
            <a:ext cx="2057949" cy="777240"/>
          </a:xfrm>
          <a:prstGeom prst="roundRect">
            <a:avLst>
              <a:gd name="adj" fmla="val 11765"/>
            </a:avLst>
          </a:prstGeom>
          <a:solidFill>
            <a:srgbClr val="7048E8"/>
          </a:solidFill>
          <a:ln w="12700">
            <a:solidFill>
              <a:srgbClr val="7048E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870" y="1572768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966070" y="1371600"/>
            <a:ext cx="132642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508870" y="2331720"/>
            <a:ext cx="173790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financier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inscription / réinscription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Bordereau journalier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</a:t>
            </a:r>
            <a:endParaRPr lang="en-US" sz="1400" dirty="0"/>
          </a:p>
        </p:txBody>
      </p:sp>
      <p:sp>
        <p:nvSpPr>
          <p:cNvPr id="23" name="Famille Établissement"/>
          <p:cNvSpPr/>
          <p:nvPr/>
        </p:nvSpPr>
        <p:spPr>
          <a:xfrm>
            <a:off x="9585107" y="1371600"/>
            <a:ext cx="2057949" cy="3977640"/>
          </a:xfrm>
          <a:prstGeom prst="roundRect">
            <a:avLst>
              <a:gd name="adj" fmla="val 444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En-tête Établissement"/>
          <p:cNvSpPr/>
          <p:nvPr/>
        </p:nvSpPr>
        <p:spPr>
          <a:xfrm>
            <a:off x="9585107" y="1371600"/>
            <a:ext cx="2057949" cy="777240"/>
          </a:xfrm>
          <a:prstGeom prst="roundRect">
            <a:avLst>
              <a:gd name="adj" fmla="val 11765"/>
            </a:avLst>
          </a:prstGeom>
          <a:solidFill>
            <a:srgbClr val="B97800"/>
          </a:solidFill>
          <a:ln w="12700">
            <a:solidFill>
              <a:srgbClr val="B9780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7987" y="1572768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225187" y="1371600"/>
            <a:ext cx="132642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9767987" y="2331720"/>
            <a:ext cx="173790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</a:t>
            </a:r>
            <a:endParaRPr lang="en-US" sz="1400" dirty="0"/>
          </a:p>
        </p:txBody>
      </p:sp>
      <p:sp>
        <p:nvSpPr>
          <p:cNvPr id="28" name="Encadré"/>
          <p:cNvSpPr/>
          <p:nvPr/>
        </p:nvSpPr>
        <p:spPr>
          <a:xfrm>
            <a:off x="548640" y="5532120"/>
            <a:ext cx="11094415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</p:spPr>
      </p:sp>
      <p:sp>
        <p:nvSpPr>
          <p:cNvPr id="29" name="Pastille FiInfo"/>
          <p:cNvSpPr/>
          <p:nvPr/>
        </p:nvSpPr>
        <p:spPr>
          <a:xfrm>
            <a:off x="822960" y="564184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719" y="5772607"/>
            <a:ext cx="241402" cy="2414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554480" y="5532120"/>
            <a:ext cx="9814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une famille pour la déplier. En haut à droite : votre nom, votre rôle et le bouton Déconnexion.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tableau de bord</a:t>
            </a:r>
            <a:endParaRPr lang="en-US" sz="3000" dirty="0"/>
          </a:p>
        </p:txBody>
      </p:sp>
      <p:sp>
        <p:nvSpPr>
          <p:cNvPr id="3" name="Rôle Tous"/>
          <p:cNvSpPr txBox="1"/>
          <p:nvPr/>
        </p:nvSpPr>
        <p:spPr>
          <a:xfrm>
            <a:off x="10051999" y="566928"/>
            <a:ext cx="1591056" cy="329184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rôles</a:t>
            </a:r>
            <a:endParaRPr lang="en-US" sz="1200" dirty="0"/>
          </a:p>
        </p:txBody>
      </p:sp>
      <p:sp>
        <p:nvSpPr>
          <p:cNvPr id="4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Étape 1"/>
          <p:cNvSpPr txBox="1"/>
          <p:nvPr/>
        </p:nvSpPr>
        <p:spPr>
          <a:xfrm>
            <a:off x="1005840" y="1335024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Lisez les chiffres clés : élèves, personnel, frais d'inscription, impayés, absences du jour.</a:t>
            </a:r>
            <a:endParaRPr lang="en-US" sz="1400" dirty="0"/>
          </a:p>
        </p:txBody>
      </p:sp>
      <p:sp>
        <p:nvSpPr>
          <p:cNvPr id="6" name="Numéro 2"/>
          <p:cNvSpPr txBox="1"/>
          <p:nvPr/>
        </p:nvSpPr>
        <p:spPr>
          <a:xfrm>
            <a:off x="548640" y="215341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Étape 2"/>
          <p:cNvSpPr txBox="1"/>
          <p:nvPr/>
        </p:nvSpPr>
        <p:spPr>
          <a:xfrm>
            <a:off x="1005840" y="216255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Filtrez les paiements des garçons et des filles par niveau et par classe.</a:t>
            </a:r>
            <a:endParaRPr lang="en-US" sz="1400" dirty="0"/>
          </a:p>
        </p:txBody>
      </p:sp>
      <p:sp>
        <p:nvSpPr>
          <p:cNvPr id="8" name="Numéro 3"/>
          <p:cNvSpPr txBox="1"/>
          <p:nvPr/>
        </p:nvSpPr>
        <p:spPr>
          <a:xfrm>
            <a:off x="548640" y="276606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Étape 3"/>
          <p:cNvSpPr txBox="1"/>
          <p:nvPr/>
        </p:nvSpPr>
        <p:spPr>
          <a:xfrm>
            <a:off x="1005840" y="277520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Suivez la trésorerie de l'année et ouvrez le tableau complet.</a:t>
            </a:r>
            <a:endParaRPr lang="en-US" sz="1400" dirty="0"/>
          </a:p>
        </p:txBody>
      </p:sp>
      <p:sp>
        <p:nvSpPr>
          <p:cNvPr id="10" name="Numéro 4"/>
          <p:cNvSpPr txBox="1"/>
          <p:nvPr/>
        </p:nvSpPr>
        <p:spPr>
          <a:xfrm>
            <a:off x="548640" y="337870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Étape 4"/>
          <p:cNvSpPr txBox="1"/>
          <p:nvPr/>
        </p:nvSpPr>
        <p:spPr>
          <a:xfrm>
            <a:off x="1005840" y="338785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Téléchargez la liste des élèves ou celle des impayés au format Excel.</a:t>
            </a:r>
            <a:endParaRPr lang="en-US" sz="1400" dirty="0"/>
          </a:p>
        </p:txBody>
      </p:sp>
      <p:sp>
        <p:nvSpPr>
          <p:cNvPr id="12" name="À savoir"/>
          <p:cNvSpPr/>
          <p:nvPr/>
        </p:nvSpPr>
        <p:spPr>
          <a:xfrm>
            <a:off x="548640" y="533095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3" name="Texte à savoir"/>
          <p:cNvSpPr txBox="1"/>
          <p:nvPr/>
        </p:nvSpPr>
        <p:spPr>
          <a:xfrm>
            <a:off x="777240" y="5422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 et enseignant voient les effectifs et les absences, mais pas les montants (réservés à la direction et au comptable). Pour l'enseignant, les chiffres se limitent à ses classes.</a:t>
            </a:r>
            <a:endParaRPr lang="en-US" sz="1400" dirty="0"/>
          </a:p>
        </p:txBody>
      </p:sp>
      <p:sp>
        <p:nvSpPr>
          <p:cNvPr id="14" name="Cadre de la capture"/>
          <p:cNvSpPr/>
          <p:nvPr/>
        </p:nvSpPr>
        <p:spPr>
          <a:xfrm>
            <a:off x="5767993" y="1271016"/>
            <a:ext cx="5502030" cy="3950208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0" descr="Capture d'écran : Le tableau de b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2857" y="1325880"/>
            <a:ext cx="5392302" cy="3840480"/>
          </a:xfrm>
          <a:prstGeom prst="rect">
            <a:avLst/>
          </a:prstGeom>
        </p:spPr>
      </p:pic>
      <p:sp>
        <p:nvSpPr>
          <p:cNvPr id="16" name="Repère 1"/>
          <p:cNvSpPr/>
          <p:nvPr/>
        </p:nvSpPr>
        <p:spPr>
          <a:xfrm>
            <a:off x="10006025" y="2243524"/>
            <a:ext cx="1009225" cy="113299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17" name="Numéro 1"/>
          <p:cNvSpPr txBox="1"/>
          <p:nvPr/>
        </p:nvSpPr>
        <p:spPr>
          <a:xfrm>
            <a:off x="9868865" y="2106364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Repère 2"/>
          <p:cNvSpPr/>
          <p:nvPr/>
        </p:nvSpPr>
        <p:spPr>
          <a:xfrm>
            <a:off x="6141036" y="2900554"/>
            <a:ext cx="1322869" cy="145658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19" name="Numéro 2"/>
          <p:cNvSpPr txBox="1"/>
          <p:nvPr/>
        </p:nvSpPr>
        <p:spPr>
          <a:xfrm>
            <a:off x="6003876" y="2763394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Repère 3"/>
          <p:cNvSpPr/>
          <p:nvPr/>
        </p:nvSpPr>
        <p:spPr>
          <a:xfrm>
            <a:off x="6141036" y="4784946"/>
            <a:ext cx="1073157" cy="145658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3"/>
          <p:cNvSpPr txBox="1"/>
          <p:nvPr/>
        </p:nvSpPr>
        <p:spPr>
          <a:xfrm>
            <a:off x="6003876" y="464778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Repère 4"/>
          <p:cNvSpPr/>
          <p:nvPr/>
        </p:nvSpPr>
        <p:spPr>
          <a:xfrm>
            <a:off x="9510876" y="1804196"/>
            <a:ext cx="1362554" cy="20095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4"/>
          <p:cNvSpPr txBox="1"/>
          <p:nvPr/>
        </p:nvSpPr>
        <p:spPr>
          <a:xfrm>
            <a:off x="9373716" y="166703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Téléphone et tablette</a:t>
            </a:r>
            <a:endParaRPr lang="en-US" sz="3000" dirty="0"/>
          </a:p>
        </p:txBody>
      </p:sp>
      <p:sp>
        <p:nvSpPr>
          <p:cNvPr id="3" name="Téléphone 1"/>
          <p:cNvSpPr/>
          <p:nvPr/>
        </p:nvSpPr>
        <p:spPr>
          <a:xfrm>
            <a:off x="548640" y="1325880"/>
            <a:ext cx="2358914" cy="4892040"/>
          </a:xfrm>
          <a:prstGeom prst="roundRect">
            <a:avLst>
              <a:gd name="adj" fmla="val 8528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Tableau de bord sur télé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2176034" cy="4709160"/>
          </a:xfrm>
          <a:prstGeom prst="rect">
            <a:avLst/>
          </a:prstGeom>
        </p:spPr>
      </p:pic>
      <p:sp>
        <p:nvSpPr>
          <p:cNvPr id="5" name="Téléphone 2"/>
          <p:cNvSpPr/>
          <p:nvPr/>
        </p:nvSpPr>
        <p:spPr>
          <a:xfrm>
            <a:off x="3181874" y="1325880"/>
            <a:ext cx="2358914" cy="4892040"/>
          </a:xfrm>
          <a:prstGeom prst="roundRect">
            <a:avLst>
              <a:gd name="adj" fmla="val 8528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1" descr="Menu ouvert sur télé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314" y="1417320"/>
            <a:ext cx="2176034" cy="4709160"/>
          </a:xfrm>
          <a:prstGeom prst="rect">
            <a:avLst/>
          </a:prstGeom>
        </p:spPr>
      </p:pic>
      <p:sp>
        <p:nvSpPr>
          <p:cNvPr id="7" name="Pastille FiSmartphone"/>
          <p:cNvSpPr/>
          <p:nvPr/>
        </p:nvSpPr>
        <p:spPr>
          <a:xfrm>
            <a:off x="6318027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448" y="1720901"/>
            <a:ext cx="307238" cy="30723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186707" y="1536192"/>
            <a:ext cx="44563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mise en page s'adapte à l'écran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7186707" y="1920240"/>
            <a:ext cx="44563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Tablette ou téléphone : les tableaux défilent et les boutons s'agrandissent pour le tactile.</a:t>
            </a:r>
            <a:endParaRPr lang="en-US" sz="1400" dirty="0"/>
          </a:p>
        </p:txBody>
      </p:sp>
      <p:sp>
        <p:nvSpPr>
          <p:cNvPr id="11" name="Pastille FiMenu"/>
          <p:cNvSpPr/>
          <p:nvPr/>
        </p:nvSpPr>
        <p:spPr>
          <a:xfrm>
            <a:off x="6318027" y="30632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448" y="3229661"/>
            <a:ext cx="307238" cy="30723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186707" y="3044952"/>
            <a:ext cx="44563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menu se replie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7186707" y="3429000"/>
            <a:ext cx="44563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téléphone, le bouton en haut à gauche ouvre et ferme le menu.</a:t>
            </a:r>
            <a:endParaRPr lang="en-US" sz="1400" dirty="0"/>
          </a:p>
        </p:txBody>
      </p:sp>
      <p:sp>
        <p:nvSpPr>
          <p:cNvPr id="15" name="Pastille FiDownload"/>
          <p:cNvSpPr/>
          <p:nvPr/>
        </p:nvSpPr>
        <p:spPr>
          <a:xfrm>
            <a:off x="6318027" y="45720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448" y="4738421"/>
            <a:ext cx="307238" cy="30723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186707" y="4553712"/>
            <a:ext cx="44563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Installez-la comme une application</a:t>
            </a:r>
            <a:endParaRPr lang="en-US" sz="1800" dirty="0"/>
          </a:p>
        </p:txBody>
      </p:sp>
      <p:sp>
        <p:nvSpPr>
          <p:cNvPr id="18" name="Text 11"/>
          <p:cNvSpPr txBox="1"/>
          <p:nvPr/>
        </p:nvSpPr>
        <p:spPr>
          <a:xfrm>
            <a:off x="7186707" y="4937760"/>
            <a:ext cx="44563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navigateur, choisissez « Installer l'application » ou « Ajouter à l'écran d'accueil 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Travailler sans connexion</a:t>
            </a:r>
            <a:endParaRPr lang="en-US" sz="3000" dirty="0"/>
          </a:p>
        </p:txBody>
      </p:sp>
      <p:sp>
        <p:nvSpPr>
          <p:cNvPr id="3" name="Étape 1"/>
          <p:cNvSpPr/>
          <p:nvPr/>
        </p:nvSpPr>
        <p:spPr>
          <a:xfrm>
            <a:off x="548640" y="1371600"/>
            <a:ext cx="2464994" cy="187452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uméro 1"/>
          <p:cNvSpPr txBox="1"/>
          <p:nvPr/>
        </p:nvSpPr>
        <p:spPr>
          <a:xfrm>
            <a:off x="777240" y="157276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21408"/>
            <a:ext cx="2007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coupé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0077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continuez à travailler normalement.</a:t>
            </a:r>
            <a:endParaRPr lang="en-US" sz="1400" dirty="0"/>
          </a:p>
        </p:txBody>
      </p:sp>
      <p:sp>
        <p:nvSpPr>
          <p:cNvPr id="7" name="Flèche"/>
          <p:cNvSpPr/>
          <p:nvPr/>
        </p:nvSpPr>
        <p:spPr>
          <a:xfrm>
            <a:off x="3086786" y="2125980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Étape 2"/>
          <p:cNvSpPr/>
          <p:nvPr/>
        </p:nvSpPr>
        <p:spPr>
          <a:xfrm>
            <a:off x="3425114" y="1371600"/>
            <a:ext cx="2464994" cy="187452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uméro 2"/>
          <p:cNvSpPr txBox="1"/>
          <p:nvPr/>
        </p:nvSpPr>
        <p:spPr>
          <a:xfrm>
            <a:off x="3653714" y="157276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53714" y="2121408"/>
            <a:ext cx="2007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mise en file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53714" y="2468880"/>
            <a:ext cx="20077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 enregistrée sur l'appareil, avec la mention « en attente ».</a:t>
            </a:r>
            <a:endParaRPr lang="en-US" sz="1400" dirty="0"/>
          </a:p>
        </p:txBody>
      </p:sp>
      <p:sp>
        <p:nvSpPr>
          <p:cNvPr id="12" name="Flèche"/>
          <p:cNvSpPr/>
          <p:nvPr/>
        </p:nvSpPr>
        <p:spPr>
          <a:xfrm>
            <a:off x="5963260" y="2125980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Étape 3"/>
          <p:cNvSpPr/>
          <p:nvPr/>
        </p:nvSpPr>
        <p:spPr>
          <a:xfrm>
            <a:off x="6301588" y="1371600"/>
            <a:ext cx="2464994" cy="187452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Numéro 3"/>
          <p:cNvSpPr txBox="1"/>
          <p:nvPr/>
        </p:nvSpPr>
        <p:spPr>
          <a:xfrm>
            <a:off x="6530188" y="157276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30188" y="2121408"/>
            <a:ext cx="2007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rétabli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30188" y="2468880"/>
            <a:ext cx="20077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synchronisation démarre automatiquement.</a:t>
            </a:r>
            <a:endParaRPr lang="en-US" sz="1400" dirty="0"/>
          </a:p>
        </p:txBody>
      </p:sp>
      <p:sp>
        <p:nvSpPr>
          <p:cNvPr id="17" name="Flèche"/>
          <p:cNvSpPr/>
          <p:nvPr/>
        </p:nvSpPr>
        <p:spPr>
          <a:xfrm>
            <a:off x="8839733" y="2125980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Étape 4"/>
          <p:cNvSpPr/>
          <p:nvPr/>
        </p:nvSpPr>
        <p:spPr>
          <a:xfrm>
            <a:off x="9178061" y="1371600"/>
            <a:ext cx="2464994" cy="1874520"/>
          </a:xfrm>
          <a:prstGeom prst="roundRect">
            <a:avLst>
              <a:gd name="adj" fmla="val 4878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Numéro 4"/>
          <p:cNvSpPr txBox="1"/>
          <p:nvPr/>
        </p:nvSpPr>
        <p:spPr>
          <a:xfrm>
            <a:off x="9406661" y="157276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406661" y="2121408"/>
            <a:ext cx="2007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envoyée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406661" y="2468880"/>
            <a:ext cx="20077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écrans se mettent à jour, sans ressaisie.</a:t>
            </a:r>
            <a:endParaRPr lang="en-US" sz="1400" dirty="0"/>
          </a:p>
        </p:txBody>
      </p:sp>
      <p:sp>
        <p:nvSpPr>
          <p:cNvPr id="22" name="Disponible hors connexion"/>
          <p:cNvSpPr/>
          <p:nvPr/>
        </p:nvSpPr>
        <p:spPr>
          <a:xfrm>
            <a:off x="548640" y="3520440"/>
            <a:ext cx="5364328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370332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hors connexion</a:t>
            </a:r>
            <a:endParaRPr lang="en-US" sz="1800" dirty="0"/>
          </a:p>
        </p:txBody>
      </p:sp>
      <p:sp>
        <p:nvSpPr>
          <p:cNvPr id="24" name="Disponible Appel du jour"/>
          <p:cNvSpPr txBox="1"/>
          <p:nvPr/>
        </p:nvSpPr>
        <p:spPr>
          <a:xfrm>
            <a:off x="822960" y="4297680"/>
            <a:ext cx="2270684" cy="457200"/>
          </a:xfrm>
          <a:prstGeom prst="roundRect">
            <a:avLst>
              <a:gd name="adj" fmla="val 50000"/>
            </a:avLst>
          </a:prstGeom>
          <a:solidFill>
            <a:srgbClr val="D3F2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du jour</a:t>
            </a:r>
            <a:endParaRPr lang="en-US" sz="1400" dirty="0"/>
          </a:p>
        </p:txBody>
      </p:sp>
      <p:sp>
        <p:nvSpPr>
          <p:cNvPr id="25" name="Disponible Paiements"/>
          <p:cNvSpPr txBox="1"/>
          <p:nvPr/>
        </p:nvSpPr>
        <p:spPr>
          <a:xfrm>
            <a:off x="3367964" y="4297680"/>
            <a:ext cx="2270684" cy="457200"/>
          </a:xfrm>
          <a:prstGeom prst="roundRect">
            <a:avLst>
              <a:gd name="adj" fmla="val 50000"/>
            </a:avLst>
          </a:prstGeom>
          <a:solidFill>
            <a:srgbClr val="D3F2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</a:t>
            </a:r>
            <a:endParaRPr lang="en-US" sz="1400" dirty="0"/>
          </a:p>
        </p:txBody>
      </p:sp>
      <p:sp>
        <p:nvSpPr>
          <p:cNvPr id="26" name="Disponible Saisie des notes"/>
          <p:cNvSpPr txBox="1"/>
          <p:nvPr/>
        </p:nvSpPr>
        <p:spPr>
          <a:xfrm>
            <a:off x="822960" y="4892040"/>
            <a:ext cx="2270684" cy="457200"/>
          </a:xfrm>
          <a:prstGeom prst="roundRect">
            <a:avLst>
              <a:gd name="adj" fmla="val 50000"/>
            </a:avLst>
          </a:prstGeom>
          <a:solidFill>
            <a:srgbClr val="D3F2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des notes</a:t>
            </a:r>
            <a:endParaRPr lang="en-US" sz="1400" dirty="0"/>
          </a:p>
        </p:txBody>
      </p:sp>
      <p:sp>
        <p:nvSpPr>
          <p:cNvPr id="27" name="Disponible Matières"/>
          <p:cNvSpPr txBox="1"/>
          <p:nvPr/>
        </p:nvSpPr>
        <p:spPr>
          <a:xfrm>
            <a:off x="3367964" y="4892040"/>
            <a:ext cx="2270684" cy="457200"/>
          </a:xfrm>
          <a:prstGeom prst="roundRect">
            <a:avLst>
              <a:gd name="adj" fmla="val 50000"/>
            </a:avLst>
          </a:prstGeom>
          <a:solidFill>
            <a:srgbClr val="D3F2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Matières</a:t>
            </a:r>
            <a:endParaRPr lang="en-US" sz="1400" dirty="0"/>
          </a:p>
        </p:txBody>
      </p:sp>
      <p:sp>
        <p:nvSpPr>
          <p:cNvPr id="28" name="Bandeaux affichés"/>
          <p:cNvSpPr/>
          <p:nvPr/>
        </p:nvSpPr>
        <p:spPr>
          <a:xfrm>
            <a:off x="6278728" y="3520440"/>
            <a:ext cx="5364328" cy="201168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553048" y="370332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voyez à l’écran</a:t>
            </a:r>
            <a:endParaRPr lang="en-US" sz="1800" dirty="0"/>
          </a:p>
        </p:txBody>
      </p:sp>
      <p:sp>
        <p:nvSpPr>
          <p:cNvPr id="30" name="Bandeau 1"/>
          <p:cNvSpPr txBox="1"/>
          <p:nvPr/>
        </p:nvSpPr>
        <p:spPr>
          <a:xfrm>
            <a:off x="6553048" y="4297680"/>
            <a:ext cx="4815688" cy="457200"/>
          </a:xfrm>
          <a:prstGeom prst="roundRect">
            <a:avLst>
              <a:gd name="adj" fmla="val 20000"/>
            </a:avLst>
          </a:prstGeom>
          <a:solidFill>
            <a:srgbClr val="FFF4E6"/>
          </a:solidFill>
          <a:ln w="9525">
            <a:solidFill>
              <a:srgbClr val="F8D9B4"/>
            </a:solidFill>
          </a:ln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ligne · 2 action(s) en attente</a:t>
            </a:r>
            <a:endParaRPr lang="en-US" sz="1400" dirty="0"/>
          </a:p>
        </p:txBody>
      </p:sp>
      <p:sp>
        <p:nvSpPr>
          <p:cNvPr id="31" name="Bandeau 2"/>
          <p:cNvSpPr txBox="1"/>
          <p:nvPr/>
        </p:nvSpPr>
        <p:spPr>
          <a:xfrm>
            <a:off x="6553048" y="4892040"/>
            <a:ext cx="4815688" cy="457200"/>
          </a:xfrm>
          <a:prstGeom prst="roundRect">
            <a:avLst>
              <a:gd name="adj" fmla="val 20000"/>
            </a:avLst>
          </a:prstGeom>
          <a:solidFill>
            <a:srgbClr val="FFE8E8"/>
          </a:solidFill>
          <a:ln w="9525">
            <a:solidFill>
              <a:srgbClr val="F5B8B8"/>
            </a:solidFill>
          </a:ln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erreur(s) de synchronisation</a:t>
            </a:r>
            <a:endParaRPr lang="en-US" sz="1400" dirty="0"/>
          </a:p>
        </p:txBody>
      </p:sp>
      <p:sp>
        <p:nvSpPr>
          <p:cNvPr id="32" name="Remarque"/>
          <p:cNvSpPr txBox="1"/>
          <p:nvPr/>
        </p:nvSpPr>
        <p:spPr>
          <a:xfrm>
            <a:off x="548640" y="56692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déjà consultées restent lisibles. Les autres actions (génération de PDF, envoi de SMS, import Excel) demandent une connexion.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neau 1"/>
          <p:cNvSpPr/>
          <p:nvPr/>
        </p:nvSpPr>
        <p:spPr>
          <a:xfrm>
            <a:off x="7498080" y="1234440"/>
            <a:ext cx="4389120" cy="43891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Anneau 2"/>
          <p:cNvSpPr/>
          <p:nvPr/>
        </p:nvSpPr>
        <p:spPr>
          <a:xfrm>
            <a:off x="8090611" y="1826971"/>
            <a:ext cx="3204058" cy="3204058"/>
          </a:xfrm>
          <a:prstGeom prst="ellipse">
            <a:avLst/>
          </a:prstGeom>
          <a:solidFill>
            <a:schemeClr val="accent1">
              <a:alpha val="2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nneau 3"/>
          <p:cNvSpPr/>
          <p:nvPr/>
        </p:nvSpPr>
        <p:spPr>
          <a:xfrm>
            <a:off x="8683142" y="2419502"/>
            <a:ext cx="2018995" cy="2018995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entre de la cible"/>
          <p:cNvSpPr/>
          <p:nvPr/>
        </p:nvSpPr>
        <p:spPr>
          <a:xfrm>
            <a:off x="9275674" y="3012034"/>
            <a:ext cx="833933" cy="83393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Numéro de chapitre"/>
          <p:cNvSpPr txBox="1"/>
          <p:nvPr/>
        </p:nvSpPr>
        <p:spPr>
          <a:xfrm>
            <a:off x="82296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2</a:t>
            </a:r>
            <a:endParaRPr lang="en-US" sz="18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22960" y="16916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Préparer l'année scolaire</a:t>
            </a:r>
            <a:endParaRPr lang="en-US" sz="4400" dirty="0"/>
          </a:p>
        </p:txBody>
      </p:sp>
      <p:sp>
        <p:nvSpPr>
          <p:cNvPr id="8" name="Contenu du chapitre"/>
          <p:cNvSpPr txBox="1"/>
          <p:nvPr/>
        </p:nvSpPr>
        <p:spPr>
          <a:xfrm>
            <a:off x="822960" y="338328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scolaire et classes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 et frais d'inscription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Personnel, comptes et accès des enseignants</a:t>
            </a:r>
            <a:endParaRPr lang="en-US" sz="1800" dirty="0"/>
          </a:p>
        </p:txBody>
      </p:sp>
      <p:sp>
        <p:nvSpPr>
          <p:cNvPr id="9" name="Rôles concernés"/>
          <p:cNvSpPr txBox="1"/>
          <p:nvPr/>
        </p:nvSpPr>
        <p:spPr>
          <a:xfrm>
            <a:off x="822960" y="5715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: Fondateur, Chef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L'ordre à respecter</a:t>
            </a:r>
            <a:endParaRPr lang="en-US" sz="3000" dirty="0"/>
          </a:p>
        </p:txBody>
      </p:sp>
      <p:sp>
        <p:nvSpPr>
          <p:cNvPr id="3" name="Sous-titre"/>
          <p:cNvSpPr txBox="1"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élément dépend du précédent : suivez cette séquence une seule fois par année</a:t>
            </a:r>
            <a:endParaRPr lang="en-US" sz="1600" dirty="0"/>
          </a:p>
        </p:txBody>
      </p:sp>
      <p:sp>
        <p:nvSpPr>
          <p:cNvPr id="4" name="Étape 1"/>
          <p:cNvSpPr/>
          <p:nvPr/>
        </p:nvSpPr>
        <p:spPr>
          <a:xfrm>
            <a:off x="548640" y="1645920"/>
            <a:ext cx="2464994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Numéro 1"/>
          <p:cNvSpPr txBox="1"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50592"/>
            <a:ext cx="2007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16352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CP1, CM2, 6eme...</a:t>
            </a:r>
            <a:endParaRPr lang="en-US" sz="1400" dirty="0"/>
          </a:p>
        </p:txBody>
      </p:sp>
      <p:sp>
        <p:nvSpPr>
          <p:cNvPr id="8" name="Flèche"/>
          <p:cNvSpPr/>
          <p:nvPr/>
        </p:nvSpPr>
        <p:spPr>
          <a:xfrm>
            <a:off x="3086786" y="2308860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Étape 2"/>
          <p:cNvSpPr/>
          <p:nvPr/>
        </p:nvSpPr>
        <p:spPr>
          <a:xfrm>
            <a:off x="3425114" y="1645920"/>
            <a:ext cx="2464994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Numéro 2"/>
          <p:cNvSpPr txBox="1"/>
          <p:nvPr/>
        </p:nvSpPr>
        <p:spPr>
          <a:xfrm>
            <a:off x="3653714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53714" y="2450592"/>
            <a:ext cx="2007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3714" y="2816352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rendre courante</a:t>
            </a:r>
            <a:endParaRPr lang="en-US" sz="1400" dirty="0"/>
          </a:p>
        </p:txBody>
      </p:sp>
      <p:sp>
        <p:nvSpPr>
          <p:cNvPr id="13" name="Flèche"/>
          <p:cNvSpPr/>
          <p:nvPr/>
        </p:nvSpPr>
        <p:spPr>
          <a:xfrm>
            <a:off x="5963260" y="2308860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Étape 3"/>
          <p:cNvSpPr/>
          <p:nvPr/>
        </p:nvSpPr>
        <p:spPr>
          <a:xfrm>
            <a:off x="6301588" y="1645920"/>
            <a:ext cx="2464994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Numéro 3"/>
          <p:cNvSpPr txBox="1"/>
          <p:nvPr/>
        </p:nvSpPr>
        <p:spPr>
          <a:xfrm>
            <a:off x="6530188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30188" y="2450592"/>
            <a:ext cx="2007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30188" y="2816352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Rattachées à un niveau</a:t>
            </a:r>
            <a:endParaRPr lang="en-US" sz="1400" dirty="0"/>
          </a:p>
        </p:txBody>
      </p:sp>
      <p:sp>
        <p:nvSpPr>
          <p:cNvPr id="18" name="Flèche"/>
          <p:cNvSpPr/>
          <p:nvPr/>
        </p:nvSpPr>
        <p:spPr>
          <a:xfrm>
            <a:off x="8839733" y="2308860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Étape 4"/>
          <p:cNvSpPr/>
          <p:nvPr/>
        </p:nvSpPr>
        <p:spPr>
          <a:xfrm>
            <a:off x="9178061" y="1645920"/>
            <a:ext cx="2464994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Numéro 4"/>
          <p:cNvSpPr txBox="1"/>
          <p:nvPr/>
        </p:nvSpPr>
        <p:spPr>
          <a:xfrm>
            <a:off x="9406661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406661" y="2450592"/>
            <a:ext cx="2007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406661" y="2816352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Écolage par niveau</a:t>
            </a:r>
            <a:endParaRPr lang="en-US" sz="1400" dirty="0"/>
          </a:p>
        </p:txBody>
      </p:sp>
      <p:sp>
        <p:nvSpPr>
          <p:cNvPr id="23" name="Étape 5"/>
          <p:cNvSpPr/>
          <p:nvPr/>
        </p:nvSpPr>
        <p:spPr>
          <a:xfrm>
            <a:off x="548640" y="3630168"/>
            <a:ext cx="2464994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Numéro 5"/>
          <p:cNvSpPr txBox="1"/>
          <p:nvPr/>
        </p:nvSpPr>
        <p:spPr>
          <a:xfrm>
            <a:off x="777240" y="3858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434840"/>
            <a:ext cx="2007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d'inscription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800600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et réinscriptions</a:t>
            </a:r>
            <a:endParaRPr lang="en-US" sz="1400" dirty="0"/>
          </a:p>
        </p:txBody>
      </p:sp>
      <p:sp>
        <p:nvSpPr>
          <p:cNvPr id="27" name="Flèche"/>
          <p:cNvSpPr/>
          <p:nvPr/>
        </p:nvSpPr>
        <p:spPr>
          <a:xfrm>
            <a:off x="3086786" y="4293108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Étape 6"/>
          <p:cNvSpPr/>
          <p:nvPr/>
        </p:nvSpPr>
        <p:spPr>
          <a:xfrm>
            <a:off x="3425114" y="3630168"/>
            <a:ext cx="2464994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Numéro 6"/>
          <p:cNvSpPr txBox="1"/>
          <p:nvPr/>
        </p:nvSpPr>
        <p:spPr>
          <a:xfrm>
            <a:off x="3653714" y="3858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3653714" y="4434840"/>
            <a:ext cx="2007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Matières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3653714" y="4800600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coefficients</a:t>
            </a:r>
            <a:endParaRPr lang="en-US" sz="1400" dirty="0"/>
          </a:p>
        </p:txBody>
      </p:sp>
      <p:sp>
        <p:nvSpPr>
          <p:cNvPr id="32" name="Flèche"/>
          <p:cNvSpPr/>
          <p:nvPr/>
        </p:nvSpPr>
        <p:spPr>
          <a:xfrm>
            <a:off x="5963260" y="4293108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Étape 7"/>
          <p:cNvSpPr/>
          <p:nvPr/>
        </p:nvSpPr>
        <p:spPr>
          <a:xfrm>
            <a:off x="6301588" y="3630168"/>
            <a:ext cx="2464994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Numéro 7"/>
          <p:cNvSpPr txBox="1"/>
          <p:nvPr/>
        </p:nvSpPr>
        <p:spPr>
          <a:xfrm>
            <a:off x="6530188" y="3858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530188" y="4434840"/>
            <a:ext cx="2007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530188" y="4800600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Enseignants et administratifs</a:t>
            </a:r>
            <a:endParaRPr lang="en-US" sz="1400" dirty="0"/>
          </a:p>
        </p:txBody>
      </p:sp>
      <p:sp>
        <p:nvSpPr>
          <p:cNvPr id="37" name="Flèche"/>
          <p:cNvSpPr/>
          <p:nvPr/>
        </p:nvSpPr>
        <p:spPr>
          <a:xfrm>
            <a:off x="8839733" y="4293108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Étape 8"/>
          <p:cNvSpPr/>
          <p:nvPr/>
        </p:nvSpPr>
        <p:spPr>
          <a:xfrm>
            <a:off x="9178061" y="3630168"/>
            <a:ext cx="2464994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Numéro 8"/>
          <p:cNvSpPr txBox="1"/>
          <p:nvPr/>
        </p:nvSpPr>
        <p:spPr>
          <a:xfrm>
            <a:off x="9406661" y="3858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9406661" y="4434840"/>
            <a:ext cx="20077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9406661" y="4800600"/>
            <a:ext cx="2007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Enseignants liés à leur fiche</a:t>
            </a:r>
            <a:endParaRPr lang="en-US" sz="1400" dirty="0"/>
          </a:p>
        </p:txBody>
      </p:sp>
      <p:sp>
        <p:nvSpPr>
          <p:cNvPr id="42" name="Encadré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2960" y="56235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tarif ni frais d'inscription, aucune facture ne peut être générée à l'admission des élèves.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Les niveaux</a:t>
            </a:r>
            <a:endParaRPr lang="en-US" sz="3000" dirty="0"/>
          </a:p>
        </p:txBody>
      </p:sp>
      <p:sp>
        <p:nvSpPr>
          <p:cNvPr id="3" name="Rôle Chef"/>
          <p:cNvSpPr txBox="1"/>
          <p:nvPr/>
        </p:nvSpPr>
        <p:spPr>
          <a:xfrm>
            <a:off x="10966399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4" name="Rôle Fondateur"/>
          <p:cNvSpPr txBox="1"/>
          <p:nvPr/>
        </p:nvSpPr>
        <p:spPr>
          <a:xfrm>
            <a:off x="9722815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5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Étape 1"/>
          <p:cNvSpPr txBox="1"/>
          <p:nvPr/>
        </p:nvSpPr>
        <p:spPr>
          <a:xfrm>
            <a:off x="1005840" y="1335024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Établissement › Niveaux.</a:t>
            </a:r>
            <a:endParaRPr lang="en-US" sz="1400" dirty="0"/>
          </a:p>
        </p:txBody>
      </p:sp>
      <p:sp>
        <p:nvSpPr>
          <p:cNvPr id="7" name="Numéro 2"/>
          <p:cNvSpPr txBox="1"/>
          <p:nvPr/>
        </p:nvSpPr>
        <p:spPr>
          <a:xfrm>
            <a:off x="548640" y="17465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Étape 2"/>
          <p:cNvSpPr txBox="1"/>
          <p:nvPr/>
        </p:nvSpPr>
        <p:spPr>
          <a:xfrm>
            <a:off x="1005840" y="175564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« Nouveau niveau », saisissez le nom (ex : 6eme) et le cycle (ex : Collège).</a:t>
            </a:r>
            <a:endParaRPr lang="en-US" sz="1400" dirty="0"/>
          </a:p>
        </p:txBody>
      </p:sp>
      <p:sp>
        <p:nvSpPr>
          <p:cNvPr id="9" name="Numéro 3"/>
          <p:cNvSpPr txBox="1"/>
          <p:nvPr/>
        </p:nvSpPr>
        <p:spPr>
          <a:xfrm>
            <a:off x="548640" y="235915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Étape 3"/>
          <p:cNvSpPr txBox="1"/>
          <p:nvPr/>
        </p:nvSpPr>
        <p:spPr>
          <a:xfrm>
            <a:off x="1005840" y="236829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Indiquez l'ordre d'affichage : les petits nombres passent en premier.</a:t>
            </a:r>
            <a:endParaRPr lang="en-US" sz="1400" dirty="0"/>
          </a:p>
        </p:txBody>
      </p:sp>
      <p:sp>
        <p:nvSpPr>
          <p:cNvPr id="11" name="Numéro 4"/>
          <p:cNvSpPr txBox="1"/>
          <p:nvPr/>
        </p:nvSpPr>
        <p:spPr>
          <a:xfrm>
            <a:off x="548640" y="29718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Étape 4"/>
          <p:cNvSpPr txBox="1"/>
          <p:nvPr/>
        </p:nvSpPr>
        <p:spPr>
          <a:xfrm>
            <a:off x="1005840" y="2980944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Créer ».</a:t>
            </a:r>
            <a:endParaRPr lang="en-US" sz="1400" dirty="0"/>
          </a:p>
        </p:txBody>
      </p:sp>
      <p:sp>
        <p:nvSpPr>
          <p:cNvPr id="13" name="Numéro 5"/>
          <p:cNvSpPr txBox="1"/>
          <p:nvPr/>
        </p:nvSpPr>
        <p:spPr>
          <a:xfrm>
            <a:off x="548640" y="339242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Étape 5"/>
          <p:cNvSpPr txBox="1"/>
          <p:nvPr/>
        </p:nvSpPr>
        <p:spPr>
          <a:xfrm>
            <a:off x="1005840" y="340156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Utilisez « Modifier » ou « Supprimer » sur une ligne pour corriger.</a:t>
            </a:r>
            <a:endParaRPr lang="en-US" sz="1400" dirty="0"/>
          </a:p>
        </p:txBody>
      </p:sp>
      <p:sp>
        <p:nvSpPr>
          <p:cNvPr id="15" name="À savoir"/>
          <p:cNvSpPr/>
          <p:nvPr/>
        </p:nvSpPr>
        <p:spPr>
          <a:xfrm>
            <a:off x="548640" y="5545836"/>
            <a:ext cx="11094415" cy="745236"/>
          </a:xfrm>
          <a:prstGeom prst="roundRect">
            <a:avLst>
              <a:gd name="adj" fmla="val 12270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6" name="Texte à savoir"/>
          <p:cNvSpPr txBox="1"/>
          <p:nvPr/>
        </p:nvSpPr>
        <p:spPr>
          <a:xfrm>
            <a:off x="777240" y="5637276"/>
            <a:ext cx="106372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niveaux structurent les classes, les tarifs d'écolage et les frais d'inscription.</a:t>
            </a:r>
            <a:endParaRPr lang="en-US" sz="1400" dirty="0"/>
          </a:p>
        </p:txBody>
      </p:sp>
      <p:sp>
        <p:nvSpPr>
          <p:cNvPr id="17" name="Cadre de la capture"/>
          <p:cNvSpPr/>
          <p:nvPr/>
        </p:nvSpPr>
        <p:spPr>
          <a:xfrm>
            <a:off x="5340096" y="1738527"/>
            <a:ext cx="6357823" cy="3230070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0" descr="Capture d'écran : 1. Les niveau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793391"/>
            <a:ext cx="6248095" cy="3120342"/>
          </a:xfrm>
          <a:prstGeom prst="rect">
            <a:avLst/>
          </a:prstGeom>
        </p:spPr>
      </p:pic>
      <p:sp>
        <p:nvSpPr>
          <p:cNvPr id="19" name="Repère 2"/>
          <p:cNvSpPr/>
          <p:nvPr/>
        </p:nvSpPr>
        <p:spPr>
          <a:xfrm>
            <a:off x="5817429" y="2604166"/>
            <a:ext cx="5825626" cy="19340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0" name="Numéro 2"/>
          <p:cNvSpPr txBox="1"/>
          <p:nvPr/>
        </p:nvSpPr>
        <p:spPr>
          <a:xfrm>
            <a:off x="5680269" y="246700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Repère 3"/>
          <p:cNvSpPr/>
          <p:nvPr/>
        </p:nvSpPr>
        <p:spPr>
          <a:xfrm>
            <a:off x="5691430" y="3397917"/>
            <a:ext cx="1218652" cy="268212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2" name="Numéro 3"/>
          <p:cNvSpPr txBox="1"/>
          <p:nvPr/>
        </p:nvSpPr>
        <p:spPr>
          <a:xfrm>
            <a:off x="5554270" y="3260757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Repère 4"/>
          <p:cNvSpPr/>
          <p:nvPr/>
        </p:nvSpPr>
        <p:spPr>
          <a:xfrm>
            <a:off x="10375648" y="2886507"/>
            <a:ext cx="532255" cy="266823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4" name="Numéro 4"/>
          <p:cNvSpPr txBox="1"/>
          <p:nvPr/>
        </p:nvSpPr>
        <p:spPr>
          <a:xfrm>
            <a:off x="10238488" y="2749347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Repère 5"/>
          <p:cNvSpPr/>
          <p:nvPr/>
        </p:nvSpPr>
        <p:spPr>
          <a:xfrm>
            <a:off x="10986190" y="3726812"/>
            <a:ext cx="388190" cy="15043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6" name="Numéro 5"/>
          <p:cNvSpPr txBox="1"/>
          <p:nvPr/>
        </p:nvSpPr>
        <p:spPr>
          <a:xfrm>
            <a:off x="10849030" y="358965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et 3. Année et classes</a:t>
            </a:r>
            <a:endParaRPr lang="en-US" sz="3000" dirty="0"/>
          </a:p>
        </p:txBody>
      </p:sp>
      <p:sp>
        <p:nvSpPr>
          <p:cNvPr id="3" name="Rôle Chef"/>
          <p:cNvSpPr txBox="1"/>
          <p:nvPr/>
        </p:nvSpPr>
        <p:spPr>
          <a:xfrm>
            <a:off x="10966399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4" name="Rôle Fondateur"/>
          <p:cNvSpPr txBox="1"/>
          <p:nvPr/>
        </p:nvSpPr>
        <p:spPr>
          <a:xfrm>
            <a:off x="9722815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5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Étape 1"/>
          <p:cNvSpPr txBox="1"/>
          <p:nvPr/>
        </p:nvSpPr>
        <p:spPr>
          <a:xfrm>
            <a:off x="1005840" y="1335024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Élèves › Classes. À droite, « Nouvelle année scolaire » : libellé (ex : 2026-2027), début et fin.</a:t>
            </a:r>
            <a:endParaRPr lang="en-US" sz="1400" dirty="0"/>
          </a:p>
        </p:txBody>
      </p:sp>
      <p:sp>
        <p:nvSpPr>
          <p:cNvPr id="7" name="Numéro 2"/>
          <p:cNvSpPr txBox="1"/>
          <p:nvPr/>
        </p:nvSpPr>
        <p:spPr>
          <a:xfrm>
            <a:off x="548640" y="215341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Étape 2"/>
          <p:cNvSpPr txBox="1"/>
          <p:nvPr/>
        </p:nvSpPr>
        <p:spPr>
          <a:xfrm>
            <a:off x="1005840" y="216255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Définir comme courante » pour l'année en cours.</a:t>
            </a:r>
            <a:endParaRPr lang="en-US" sz="1400" dirty="0"/>
          </a:p>
        </p:txBody>
      </p:sp>
      <p:sp>
        <p:nvSpPr>
          <p:cNvPr id="9" name="Numéro 3"/>
          <p:cNvSpPr txBox="1"/>
          <p:nvPr/>
        </p:nvSpPr>
        <p:spPr>
          <a:xfrm>
            <a:off x="548640" y="276606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Étape 3"/>
          <p:cNvSpPr txBox="1"/>
          <p:nvPr/>
        </p:nvSpPr>
        <p:spPr>
          <a:xfrm>
            <a:off x="1005840" y="2775204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gauche, « Nouvelle classe » : nom (ex : CM1 A), niveau, année, capacité maximale facultative.</a:t>
            </a:r>
            <a:endParaRPr lang="en-US" sz="1400" dirty="0"/>
          </a:p>
        </p:txBody>
      </p:sp>
      <p:sp>
        <p:nvSpPr>
          <p:cNvPr id="11" name="Numéro 4"/>
          <p:cNvSpPr txBox="1"/>
          <p:nvPr/>
        </p:nvSpPr>
        <p:spPr>
          <a:xfrm>
            <a:off x="548640" y="359359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Étape 4"/>
          <p:cNvSpPr txBox="1"/>
          <p:nvPr/>
        </p:nvSpPr>
        <p:spPr>
          <a:xfrm>
            <a:off x="1005840" y="3602736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Créer la classe ».</a:t>
            </a:r>
            <a:endParaRPr lang="en-US" sz="1400" dirty="0"/>
          </a:p>
        </p:txBody>
      </p:sp>
      <p:sp>
        <p:nvSpPr>
          <p:cNvPr id="13" name="À savoir"/>
          <p:cNvSpPr/>
          <p:nvPr/>
        </p:nvSpPr>
        <p:spPr>
          <a:xfrm>
            <a:off x="548640" y="533095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4" name="Texte à savoir"/>
          <p:cNvSpPr txBox="1"/>
          <p:nvPr/>
        </p:nvSpPr>
        <p:spPr>
          <a:xfrm>
            <a:off x="777240" y="5422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année est courante : appel, notes et finances travaillent dessus. Une classe qui contient des élèves ne peut pas être supprimée.</a:t>
            </a:r>
            <a:endParaRPr lang="en-US" sz="1400" dirty="0"/>
          </a:p>
        </p:txBody>
      </p:sp>
      <p:sp>
        <p:nvSpPr>
          <p:cNvPr id="15" name="Cadre de la capture"/>
          <p:cNvSpPr/>
          <p:nvPr/>
        </p:nvSpPr>
        <p:spPr>
          <a:xfrm>
            <a:off x="5340096" y="1271016"/>
            <a:ext cx="6357823" cy="3233776"/>
          </a:xfrm>
          <a:prstGeom prst="roundRect">
            <a:avLst>
              <a:gd name="adj" fmla="val 1697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0" descr="Capture d'écran : 2 et 3. Année et clas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6248095" cy="3124048"/>
          </a:xfrm>
          <a:prstGeom prst="rect">
            <a:avLst/>
          </a:prstGeom>
        </p:spPr>
      </p:pic>
      <p:sp>
        <p:nvSpPr>
          <p:cNvPr id="17" name="Repère 1"/>
          <p:cNvSpPr/>
          <p:nvPr/>
        </p:nvSpPr>
        <p:spPr>
          <a:xfrm>
            <a:off x="8712625" y="1745003"/>
            <a:ext cx="2757744" cy="136546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18" name="Numéro 1"/>
          <p:cNvSpPr txBox="1"/>
          <p:nvPr/>
        </p:nvSpPr>
        <p:spPr>
          <a:xfrm>
            <a:off x="8575465" y="1607843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Repère 2"/>
          <p:cNvSpPr/>
          <p:nvPr/>
        </p:nvSpPr>
        <p:spPr>
          <a:xfrm>
            <a:off x="10688294" y="3030664"/>
            <a:ext cx="782075" cy="106212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0" name="Numéro 2"/>
          <p:cNvSpPr txBox="1"/>
          <p:nvPr/>
        </p:nvSpPr>
        <p:spPr>
          <a:xfrm>
            <a:off x="10551134" y="2893504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Repère 3"/>
          <p:cNvSpPr/>
          <p:nvPr/>
        </p:nvSpPr>
        <p:spPr>
          <a:xfrm>
            <a:off x="5693236" y="1745003"/>
            <a:ext cx="2757744" cy="136546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2" name="Numéro 3"/>
          <p:cNvSpPr txBox="1"/>
          <p:nvPr/>
        </p:nvSpPr>
        <p:spPr>
          <a:xfrm>
            <a:off x="5556076" y="1607843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Repère 4"/>
          <p:cNvSpPr/>
          <p:nvPr/>
        </p:nvSpPr>
        <p:spPr>
          <a:xfrm>
            <a:off x="6928203" y="2323158"/>
            <a:ext cx="667360" cy="18838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4" name="Numéro 4"/>
          <p:cNvSpPr txBox="1"/>
          <p:nvPr/>
        </p:nvSpPr>
        <p:spPr>
          <a:xfrm>
            <a:off x="6791043" y="218599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Tarifs d'écolage</a:t>
            </a:r>
            <a:endParaRPr lang="en-US" sz="3000" dirty="0"/>
          </a:p>
        </p:txBody>
      </p:sp>
      <p:sp>
        <p:nvSpPr>
          <p:cNvPr id="3" name="Rôle Comptable"/>
          <p:cNvSpPr txBox="1"/>
          <p:nvPr/>
        </p:nvSpPr>
        <p:spPr>
          <a:xfrm>
            <a:off x="10509199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</a:t>
            </a:r>
            <a:endParaRPr lang="en-US" sz="1200" dirty="0"/>
          </a:p>
        </p:txBody>
      </p:sp>
      <p:sp>
        <p:nvSpPr>
          <p:cNvPr id="4" name="Rôle Chef"/>
          <p:cNvSpPr txBox="1"/>
          <p:nvPr/>
        </p:nvSpPr>
        <p:spPr>
          <a:xfrm>
            <a:off x="9722815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5" name="Rôle Fondateur"/>
          <p:cNvSpPr txBox="1"/>
          <p:nvPr/>
        </p:nvSpPr>
        <p:spPr>
          <a:xfrm>
            <a:off x="8479231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6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Étape 1"/>
          <p:cNvSpPr txBox="1"/>
          <p:nvPr/>
        </p:nvSpPr>
        <p:spPr>
          <a:xfrm>
            <a:off x="1005840" y="1335024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Finances › Tarifs.</a:t>
            </a:r>
            <a:endParaRPr lang="en-US" sz="1400" dirty="0"/>
          </a:p>
        </p:txBody>
      </p:sp>
      <p:sp>
        <p:nvSpPr>
          <p:cNvPr id="8" name="Numéro 2"/>
          <p:cNvSpPr txBox="1"/>
          <p:nvPr/>
        </p:nvSpPr>
        <p:spPr>
          <a:xfrm>
            <a:off x="548640" y="17465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Étape 2"/>
          <p:cNvSpPr txBox="1"/>
          <p:nvPr/>
        </p:nvSpPr>
        <p:spPr>
          <a:xfrm>
            <a:off x="1005840" y="1755648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« Nouveau tarif », saisissez le libellé (ex : Écolage annuel), le niveau et l'année.</a:t>
            </a:r>
            <a:endParaRPr lang="en-US" sz="1400" dirty="0"/>
          </a:p>
        </p:txBody>
      </p:sp>
      <p:sp>
        <p:nvSpPr>
          <p:cNvPr id="10" name="Numéro 3"/>
          <p:cNvSpPr txBox="1"/>
          <p:nvPr/>
        </p:nvSpPr>
        <p:spPr>
          <a:xfrm>
            <a:off x="548640" y="257403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Étape 3"/>
          <p:cNvSpPr txBox="1"/>
          <p:nvPr/>
        </p:nvSpPr>
        <p:spPr>
          <a:xfrm>
            <a:off x="1005840" y="258318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le montant en GNF, puis cliquez sur « Créer ».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318668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Étape 4"/>
          <p:cNvSpPr txBox="1"/>
          <p:nvPr/>
        </p:nvSpPr>
        <p:spPr>
          <a:xfrm>
            <a:off x="1005840" y="3195828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Ajoutez plusieurs tarifs sur un même niveau (ex : un par trimestre) : chacun génère sa facture.</a:t>
            </a:r>
            <a:endParaRPr lang="en-US" sz="1400" dirty="0"/>
          </a:p>
        </p:txBody>
      </p:sp>
      <p:sp>
        <p:nvSpPr>
          <p:cNvPr id="14" name="Numéro 5"/>
          <p:cNvSpPr txBox="1"/>
          <p:nvPr/>
        </p:nvSpPr>
        <p:spPr>
          <a:xfrm>
            <a:off x="548640" y="401421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Étape 5"/>
          <p:cNvSpPr txBox="1"/>
          <p:nvPr/>
        </p:nvSpPr>
        <p:spPr>
          <a:xfrm>
            <a:off x="1005840" y="4023360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Corrigez un montant avec « Modifier ».</a:t>
            </a:r>
            <a:endParaRPr lang="en-US" sz="1400" dirty="0"/>
          </a:p>
        </p:txBody>
      </p:sp>
      <p:sp>
        <p:nvSpPr>
          <p:cNvPr id="16" name="À savoir"/>
          <p:cNvSpPr/>
          <p:nvPr/>
        </p:nvSpPr>
        <p:spPr>
          <a:xfrm>
            <a:off x="548640" y="5545836"/>
            <a:ext cx="11094415" cy="745236"/>
          </a:xfrm>
          <a:prstGeom prst="roundRect">
            <a:avLst>
              <a:gd name="adj" fmla="val 12270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7" name="Texte à savoir"/>
          <p:cNvSpPr txBox="1"/>
          <p:nvPr/>
        </p:nvSpPr>
        <p:spPr>
          <a:xfrm>
            <a:off x="777240" y="5637276"/>
            <a:ext cx="106372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tarif est facturé automatiquement à tout élève inscrit dans une classe de ce niveau, pour l'année concernée.</a:t>
            </a:r>
            <a:endParaRPr lang="en-US" sz="1400" dirty="0"/>
          </a:p>
        </p:txBody>
      </p:sp>
      <p:sp>
        <p:nvSpPr>
          <p:cNvPr id="18" name="Cadre de la capture"/>
          <p:cNvSpPr/>
          <p:nvPr/>
        </p:nvSpPr>
        <p:spPr>
          <a:xfrm>
            <a:off x="5340096" y="1736674"/>
            <a:ext cx="6357823" cy="3233776"/>
          </a:xfrm>
          <a:prstGeom prst="roundRect">
            <a:avLst>
              <a:gd name="adj" fmla="val 1697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Capture d'écran : 4. Tarifs d'éco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791538"/>
            <a:ext cx="6248095" cy="3124048"/>
          </a:xfrm>
          <a:prstGeom prst="rect">
            <a:avLst/>
          </a:prstGeom>
        </p:spPr>
      </p:pic>
      <p:sp>
        <p:nvSpPr>
          <p:cNvPr id="20" name="Repère 2"/>
          <p:cNvSpPr/>
          <p:nvPr/>
        </p:nvSpPr>
        <p:spPr>
          <a:xfrm>
            <a:off x="5693236" y="2506812"/>
            <a:ext cx="5777133" cy="136546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2"/>
          <p:cNvSpPr txBox="1"/>
          <p:nvPr/>
        </p:nvSpPr>
        <p:spPr>
          <a:xfrm>
            <a:off x="5556076" y="236965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Repère 3"/>
          <p:cNvSpPr/>
          <p:nvPr/>
        </p:nvSpPr>
        <p:spPr>
          <a:xfrm>
            <a:off x="10052250" y="2706153"/>
            <a:ext cx="375788" cy="18838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3"/>
          <p:cNvSpPr txBox="1"/>
          <p:nvPr/>
        </p:nvSpPr>
        <p:spPr>
          <a:xfrm>
            <a:off x="9915090" y="2568993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Repère 5"/>
          <p:cNvSpPr/>
          <p:nvPr/>
        </p:nvSpPr>
        <p:spPr>
          <a:xfrm>
            <a:off x="10707672" y="3301069"/>
            <a:ext cx="274074" cy="106212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5" name="Numéro 5"/>
          <p:cNvSpPr txBox="1"/>
          <p:nvPr/>
        </p:nvSpPr>
        <p:spPr>
          <a:xfrm>
            <a:off x="10570512" y="3163909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Frais d'inscription</a:t>
            </a:r>
            <a:endParaRPr lang="en-US" sz="3000" dirty="0"/>
          </a:p>
        </p:txBody>
      </p:sp>
      <p:sp>
        <p:nvSpPr>
          <p:cNvPr id="3" name="Rôle Comptable"/>
          <p:cNvSpPr txBox="1"/>
          <p:nvPr/>
        </p:nvSpPr>
        <p:spPr>
          <a:xfrm>
            <a:off x="10509199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</a:t>
            </a:r>
            <a:endParaRPr lang="en-US" sz="1200" dirty="0"/>
          </a:p>
        </p:txBody>
      </p:sp>
      <p:sp>
        <p:nvSpPr>
          <p:cNvPr id="4" name="Rôle Chef"/>
          <p:cNvSpPr txBox="1"/>
          <p:nvPr/>
        </p:nvSpPr>
        <p:spPr>
          <a:xfrm>
            <a:off x="9722815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5" name="Rôle Fondateur"/>
          <p:cNvSpPr txBox="1"/>
          <p:nvPr/>
        </p:nvSpPr>
        <p:spPr>
          <a:xfrm>
            <a:off x="8479231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6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Étape 1"/>
          <p:cNvSpPr txBox="1"/>
          <p:nvPr/>
        </p:nvSpPr>
        <p:spPr>
          <a:xfrm>
            <a:off x="1005840" y="1335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même page, descendez à « Frais d'inscription par niveau ».</a:t>
            </a:r>
            <a:endParaRPr lang="en-US" sz="1400" dirty="0"/>
          </a:p>
        </p:txBody>
      </p:sp>
      <p:sp>
        <p:nvSpPr>
          <p:cNvPr id="8" name="Numéro 2"/>
          <p:cNvSpPr txBox="1"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Étape 2"/>
          <p:cNvSpPr txBox="1"/>
          <p:nvPr/>
        </p:nvSpPr>
        <p:spPr>
          <a:xfrm>
            <a:off x="1005840" y="194767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dans « Nouveau montant » et choisissez le niveau et l'année.</a:t>
            </a:r>
            <a:endParaRPr lang="en-US" sz="1400" dirty="0"/>
          </a:p>
        </p:txBody>
      </p:sp>
      <p:sp>
        <p:nvSpPr>
          <p:cNvPr id="10" name="Numéro 3"/>
          <p:cNvSpPr txBox="1"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Étape 3"/>
          <p:cNvSpPr txBox="1"/>
          <p:nvPr/>
        </p:nvSpPr>
        <p:spPr>
          <a:xfrm>
            <a:off x="1005840" y="256032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le montant « Nouveaux ». Le montant « Réinscription » est facultatif.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316382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Étape 4"/>
          <p:cNvSpPr txBox="1"/>
          <p:nvPr/>
        </p:nvSpPr>
        <p:spPr>
          <a:xfrm>
            <a:off x="1005840" y="3172968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Enregistrer ».</a:t>
            </a:r>
            <a:endParaRPr lang="en-US" sz="1400" dirty="0"/>
          </a:p>
        </p:txBody>
      </p:sp>
      <p:sp>
        <p:nvSpPr>
          <p:cNvPr id="14" name="À savoir"/>
          <p:cNvSpPr/>
          <p:nvPr/>
        </p:nvSpPr>
        <p:spPr>
          <a:xfrm>
            <a:off x="548640" y="533095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5" name="Texte à savoir"/>
          <p:cNvSpPr txBox="1"/>
          <p:nvPr/>
        </p:nvSpPr>
        <p:spPr>
          <a:xfrm>
            <a:off x="777240" y="5422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montant de réinscription, le montant « Nouveaux » s'applique à tous. L'admission n'encaisse rien : le paiement se fait ensuite (chapitre 4).</a:t>
            </a:r>
            <a:endParaRPr lang="en-US" sz="1400" dirty="0"/>
          </a:p>
        </p:txBody>
      </p:sp>
      <p:sp>
        <p:nvSpPr>
          <p:cNvPr id="16" name="Cadre de la capture"/>
          <p:cNvSpPr/>
          <p:nvPr/>
        </p:nvSpPr>
        <p:spPr>
          <a:xfrm>
            <a:off x="5340096" y="1271016"/>
            <a:ext cx="6357823" cy="3233776"/>
          </a:xfrm>
          <a:prstGeom prst="roundRect">
            <a:avLst>
              <a:gd name="adj" fmla="val 1697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0" descr="Capture d'écran : 5. Frais d'inscrip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6248095" cy="3124048"/>
          </a:xfrm>
          <a:prstGeom prst="rect">
            <a:avLst/>
          </a:prstGeom>
        </p:spPr>
      </p:pic>
      <p:sp>
        <p:nvSpPr>
          <p:cNvPr id="18" name="Repère 1"/>
          <p:cNvSpPr/>
          <p:nvPr/>
        </p:nvSpPr>
        <p:spPr>
          <a:xfrm>
            <a:off x="5604276" y="2066827"/>
            <a:ext cx="5955052" cy="183642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19" name="Numéro 1"/>
          <p:cNvSpPr txBox="1"/>
          <p:nvPr/>
        </p:nvSpPr>
        <p:spPr>
          <a:xfrm>
            <a:off x="5467116" y="1929667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Repère 2"/>
          <p:cNvSpPr/>
          <p:nvPr/>
        </p:nvSpPr>
        <p:spPr>
          <a:xfrm>
            <a:off x="5693236" y="2825518"/>
            <a:ext cx="5777133" cy="136546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2"/>
          <p:cNvSpPr txBox="1"/>
          <p:nvPr/>
        </p:nvSpPr>
        <p:spPr>
          <a:xfrm>
            <a:off x="5556076" y="268835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Repère 3"/>
          <p:cNvSpPr/>
          <p:nvPr/>
        </p:nvSpPr>
        <p:spPr>
          <a:xfrm>
            <a:off x="9237552" y="3385930"/>
            <a:ext cx="1381897" cy="189366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3"/>
          <p:cNvSpPr txBox="1"/>
          <p:nvPr/>
        </p:nvSpPr>
        <p:spPr>
          <a:xfrm>
            <a:off x="9100392" y="324877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Repère 4"/>
          <p:cNvSpPr/>
          <p:nvPr/>
        </p:nvSpPr>
        <p:spPr>
          <a:xfrm>
            <a:off x="10115045" y="3024859"/>
            <a:ext cx="558777" cy="18838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5" name="Numéro 4"/>
          <p:cNvSpPr txBox="1"/>
          <p:nvPr/>
        </p:nvSpPr>
        <p:spPr>
          <a:xfrm>
            <a:off x="9977885" y="2887699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Les matières</a:t>
            </a:r>
            <a:endParaRPr lang="en-US" sz="3000" dirty="0"/>
          </a:p>
        </p:txBody>
      </p:sp>
      <p:sp>
        <p:nvSpPr>
          <p:cNvPr id="3" name="Rôle Chef"/>
          <p:cNvSpPr txBox="1"/>
          <p:nvPr/>
        </p:nvSpPr>
        <p:spPr>
          <a:xfrm>
            <a:off x="10966399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4" name="Rôle Fondateur"/>
          <p:cNvSpPr txBox="1"/>
          <p:nvPr/>
        </p:nvSpPr>
        <p:spPr>
          <a:xfrm>
            <a:off x="9722815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5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Étape 1"/>
          <p:cNvSpPr txBox="1"/>
          <p:nvPr/>
        </p:nvSpPr>
        <p:spPr>
          <a:xfrm>
            <a:off x="1005840" y="1335024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Élèves › Matières.</a:t>
            </a:r>
            <a:endParaRPr lang="en-US" sz="1400" dirty="0"/>
          </a:p>
        </p:txBody>
      </p:sp>
      <p:sp>
        <p:nvSpPr>
          <p:cNvPr id="7" name="Numéro 2"/>
          <p:cNvSpPr txBox="1"/>
          <p:nvPr/>
        </p:nvSpPr>
        <p:spPr>
          <a:xfrm>
            <a:off x="548640" y="17465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Étape 2"/>
          <p:cNvSpPr txBox="1"/>
          <p:nvPr/>
        </p:nvSpPr>
        <p:spPr>
          <a:xfrm>
            <a:off x="1005840" y="175564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« Nouvelle matière », choisissez le niveau, saisissez le nom et le coefficient.</a:t>
            </a:r>
            <a:endParaRPr lang="en-US" sz="1400" dirty="0"/>
          </a:p>
        </p:txBody>
      </p:sp>
      <p:sp>
        <p:nvSpPr>
          <p:cNvPr id="9" name="Numéro 3"/>
          <p:cNvSpPr txBox="1"/>
          <p:nvPr/>
        </p:nvSpPr>
        <p:spPr>
          <a:xfrm>
            <a:off x="548640" y="235915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Étape 3"/>
          <p:cNvSpPr txBox="1"/>
          <p:nvPr/>
        </p:nvSpPr>
        <p:spPr>
          <a:xfrm>
            <a:off x="1005840" y="2368296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Créer ».</a:t>
            </a:r>
            <a:endParaRPr lang="en-US" sz="1400" dirty="0"/>
          </a:p>
        </p:txBody>
      </p:sp>
      <p:sp>
        <p:nvSpPr>
          <p:cNvPr id="11" name="Numéro 4"/>
          <p:cNvSpPr txBox="1"/>
          <p:nvPr/>
        </p:nvSpPr>
        <p:spPr>
          <a:xfrm>
            <a:off x="548640" y="27797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Étape 4"/>
          <p:cNvSpPr txBox="1"/>
          <p:nvPr/>
        </p:nvSpPr>
        <p:spPr>
          <a:xfrm>
            <a:off x="1005840" y="278892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Filtrez la liste par niveau pour contrôler ou corriger.</a:t>
            </a:r>
            <a:endParaRPr lang="en-US" sz="1400" dirty="0"/>
          </a:p>
        </p:txBody>
      </p:sp>
      <p:sp>
        <p:nvSpPr>
          <p:cNvPr id="13" name="À savoir"/>
          <p:cNvSpPr/>
          <p:nvPr/>
        </p:nvSpPr>
        <p:spPr>
          <a:xfrm>
            <a:off x="548640" y="533095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4" name="Texte à savoir"/>
          <p:cNvSpPr txBox="1"/>
          <p:nvPr/>
        </p:nvSpPr>
        <p:spPr>
          <a:xfrm>
            <a:off x="777240" y="5422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coefficient fixe le poids de la matière dans la moyenne. Les matières servent aux notes, aux bulletins et à l'emploi du temps.</a:t>
            </a:r>
            <a:endParaRPr lang="en-US" sz="1400" dirty="0"/>
          </a:p>
        </p:txBody>
      </p:sp>
      <p:sp>
        <p:nvSpPr>
          <p:cNvPr id="15" name="Cadre de la capture"/>
          <p:cNvSpPr/>
          <p:nvPr/>
        </p:nvSpPr>
        <p:spPr>
          <a:xfrm>
            <a:off x="5340096" y="1271016"/>
            <a:ext cx="6357823" cy="3309972"/>
          </a:xfrm>
          <a:prstGeom prst="roundRect">
            <a:avLst>
              <a:gd name="adj" fmla="val 1658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0" descr="Capture d'écran : 6. Les matiè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6248095" cy="3200244"/>
          </a:xfrm>
          <a:prstGeom prst="rect">
            <a:avLst/>
          </a:prstGeom>
        </p:spPr>
      </p:pic>
      <p:sp>
        <p:nvSpPr>
          <p:cNvPr id="17" name="Repère 2"/>
          <p:cNvSpPr/>
          <p:nvPr/>
        </p:nvSpPr>
        <p:spPr>
          <a:xfrm>
            <a:off x="5829279" y="2169278"/>
            <a:ext cx="5813776" cy="19882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18" name="Numéro 2"/>
          <p:cNvSpPr txBox="1"/>
          <p:nvPr/>
        </p:nvSpPr>
        <p:spPr>
          <a:xfrm>
            <a:off x="5692119" y="203211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Repère 3"/>
          <p:cNvSpPr/>
          <p:nvPr/>
        </p:nvSpPr>
        <p:spPr>
          <a:xfrm>
            <a:off x="10248663" y="2459538"/>
            <a:ext cx="547185" cy="27430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0" name="Numéro 3"/>
          <p:cNvSpPr txBox="1"/>
          <p:nvPr/>
        </p:nvSpPr>
        <p:spPr>
          <a:xfrm>
            <a:off x="10111503" y="232237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Repère 4"/>
          <p:cNvSpPr/>
          <p:nvPr/>
        </p:nvSpPr>
        <p:spPr>
          <a:xfrm>
            <a:off x="5699745" y="2985292"/>
            <a:ext cx="1981103" cy="46325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2" name="Numéro 4"/>
          <p:cNvSpPr txBox="1"/>
          <p:nvPr/>
        </p:nvSpPr>
        <p:spPr>
          <a:xfrm>
            <a:off x="5562585" y="28481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Le personnel</a:t>
            </a:r>
            <a:endParaRPr lang="en-US" sz="3000" dirty="0"/>
          </a:p>
        </p:txBody>
      </p:sp>
      <p:sp>
        <p:nvSpPr>
          <p:cNvPr id="3" name="Rôle Chef"/>
          <p:cNvSpPr txBox="1"/>
          <p:nvPr/>
        </p:nvSpPr>
        <p:spPr>
          <a:xfrm>
            <a:off x="10966399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4" name="Rôle Fondateur"/>
          <p:cNvSpPr txBox="1"/>
          <p:nvPr/>
        </p:nvSpPr>
        <p:spPr>
          <a:xfrm>
            <a:off x="9722815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5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Étape 1"/>
          <p:cNvSpPr txBox="1"/>
          <p:nvPr/>
        </p:nvSpPr>
        <p:spPr>
          <a:xfrm>
            <a:off x="1005840" y="1335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Établissement › Personnel, puis « Nouveau membre du personnel ».</a:t>
            </a:r>
            <a:endParaRPr lang="en-US" sz="1400" dirty="0"/>
          </a:p>
        </p:txBody>
      </p:sp>
      <p:sp>
        <p:nvSpPr>
          <p:cNvPr id="7" name="Numéro 2"/>
          <p:cNvSpPr txBox="1"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Étape 2"/>
          <p:cNvSpPr txBox="1"/>
          <p:nvPr/>
        </p:nvSpPr>
        <p:spPr>
          <a:xfrm>
            <a:off x="1005840" y="194767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le type : Enseignant ou Administratif.</a:t>
            </a:r>
            <a:endParaRPr lang="en-US" sz="1400" dirty="0"/>
          </a:p>
        </p:txBody>
      </p:sp>
      <p:sp>
        <p:nvSpPr>
          <p:cNvPr id="9" name="Numéro 3"/>
          <p:cNvSpPr txBox="1"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Étape 3"/>
          <p:cNvSpPr txBox="1"/>
          <p:nvPr/>
        </p:nvSpPr>
        <p:spPr>
          <a:xfrm>
            <a:off x="1005840" y="256032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Renseignez nom, prénom et fonction. Téléphone et email sont facultatifs.</a:t>
            </a:r>
            <a:endParaRPr lang="en-US" sz="1400" dirty="0"/>
          </a:p>
        </p:txBody>
      </p:sp>
      <p:sp>
        <p:nvSpPr>
          <p:cNvPr id="11" name="Numéro 4"/>
          <p:cNvSpPr txBox="1"/>
          <p:nvPr/>
        </p:nvSpPr>
        <p:spPr>
          <a:xfrm>
            <a:off x="548640" y="316382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Étape 4"/>
          <p:cNvSpPr txBox="1"/>
          <p:nvPr/>
        </p:nvSpPr>
        <p:spPr>
          <a:xfrm>
            <a:off x="1005840" y="317296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administratif, saisissez le salaire de base mensuel.</a:t>
            </a:r>
            <a:endParaRPr lang="en-US" sz="1400" dirty="0"/>
          </a:p>
        </p:txBody>
      </p:sp>
      <p:sp>
        <p:nvSpPr>
          <p:cNvPr id="13" name="Numéro 5"/>
          <p:cNvSpPr txBox="1"/>
          <p:nvPr/>
        </p:nvSpPr>
        <p:spPr>
          <a:xfrm>
            <a:off x="548640" y="377647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Étape 5"/>
          <p:cNvSpPr txBox="1"/>
          <p:nvPr/>
        </p:nvSpPr>
        <p:spPr>
          <a:xfrm>
            <a:off x="1005840" y="378561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Créer le membre du personnel ».</a:t>
            </a:r>
            <a:endParaRPr lang="en-US" sz="1400" dirty="0"/>
          </a:p>
        </p:txBody>
      </p:sp>
      <p:sp>
        <p:nvSpPr>
          <p:cNvPr id="15" name="À savoir"/>
          <p:cNvSpPr/>
          <p:nvPr/>
        </p:nvSpPr>
        <p:spPr>
          <a:xfrm>
            <a:off x="548640" y="5545836"/>
            <a:ext cx="11094415" cy="745236"/>
          </a:xfrm>
          <a:prstGeom prst="roundRect">
            <a:avLst>
              <a:gd name="adj" fmla="val 12270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6" name="Texte à savoir"/>
          <p:cNvSpPr txBox="1"/>
          <p:nvPr/>
        </p:nvSpPr>
        <p:spPr>
          <a:xfrm>
            <a:off x="777240" y="5637276"/>
            <a:ext cx="106372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salaire d'un enseignant se calcule à partir des heures et des taux horaires de l'emploi du temps (voir chapitre 6).</a:t>
            </a:r>
            <a:endParaRPr lang="en-US" sz="1400" dirty="0"/>
          </a:p>
        </p:txBody>
      </p:sp>
      <p:sp>
        <p:nvSpPr>
          <p:cNvPr id="17" name="Cadre de la capture"/>
          <p:cNvSpPr/>
          <p:nvPr/>
        </p:nvSpPr>
        <p:spPr>
          <a:xfrm>
            <a:off x="6085461" y="1271016"/>
            <a:ext cx="4867093" cy="4165092"/>
          </a:xfrm>
          <a:prstGeom prst="roundRect">
            <a:avLst>
              <a:gd name="adj" fmla="val 1317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0" descr="Capture d'écran : 7. Le person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325" y="1325880"/>
            <a:ext cx="4757365" cy="4055364"/>
          </a:xfrm>
          <a:prstGeom prst="rect">
            <a:avLst/>
          </a:prstGeom>
        </p:spPr>
      </p:pic>
      <p:sp>
        <p:nvSpPr>
          <p:cNvPr id="19" name="Repère 2"/>
          <p:cNvSpPr/>
          <p:nvPr/>
        </p:nvSpPr>
        <p:spPr>
          <a:xfrm>
            <a:off x="6494226" y="1813764"/>
            <a:ext cx="2773196" cy="117756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0" name="Numéro 2"/>
          <p:cNvSpPr txBox="1"/>
          <p:nvPr/>
        </p:nvSpPr>
        <p:spPr>
          <a:xfrm>
            <a:off x="6357066" y="1676604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Repère 4"/>
          <p:cNvSpPr/>
          <p:nvPr/>
        </p:nvSpPr>
        <p:spPr>
          <a:xfrm>
            <a:off x="6494226" y="4482348"/>
            <a:ext cx="2773196" cy="352723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2" name="Numéro 4"/>
          <p:cNvSpPr txBox="1"/>
          <p:nvPr/>
        </p:nvSpPr>
        <p:spPr>
          <a:xfrm>
            <a:off x="6357066" y="434518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Repère 5"/>
          <p:cNvSpPr/>
          <p:nvPr/>
        </p:nvSpPr>
        <p:spPr>
          <a:xfrm>
            <a:off x="6494226" y="4927898"/>
            <a:ext cx="2773196" cy="20886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4" name="Numéro 5"/>
          <p:cNvSpPr txBox="1"/>
          <p:nvPr/>
        </p:nvSpPr>
        <p:spPr>
          <a:xfrm>
            <a:off x="6357066" y="479073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Les comptes utilisateurs</a:t>
            </a:r>
            <a:endParaRPr lang="en-US" sz="3000" dirty="0"/>
          </a:p>
        </p:txBody>
      </p:sp>
      <p:sp>
        <p:nvSpPr>
          <p:cNvPr id="3" name="Rôle Chef"/>
          <p:cNvSpPr txBox="1"/>
          <p:nvPr/>
        </p:nvSpPr>
        <p:spPr>
          <a:xfrm>
            <a:off x="10966399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4" name="Rôle Fondateur"/>
          <p:cNvSpPr txBox="1"/>
          <p:nvPr/>
        </p:nvSpPr>
        <p:spPr>
          <a:xfrm>
            <a:off x="9722815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5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Étape 1"/>
          <p:cNvSpPr txBox="1"/>
          <p:nvPr/>
        </p:nvSpPr>
        <p:spPr>
          <a:xfrm>
            <a:off x="1005840" y="1335024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Établissement › Utilisateurs.</a:t>
            </a:r>
            <a:endParaRPr lang="en-US" sz="1400" dirty="0"/>
          </a:p>
        </p:txBody>
      </p:sp>
      <p:sp>
        <p:nvSpPr>
          <p:cNvPr id="7" name="Numéro 2"/>
          <p:cNvSpPr txBox="1"/>
          <p:nvPr/>
        </p:nvSpPr>
        <p:spPr>
          <a:xfrm>
            <a:off x="548640" y="17465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Étape 2"/>
          <p:cNvSpPr txBox="1"/>
          <p:nvPr/>
        </p:nvSpPr>
        <p:spPr>
          <a:xfrm>
            <a:off x="1005840" y="175564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« Nouveau compte » : nom, prénom, email et mot de passe (6 caractères minimum).</a:t>
            </a:r>
            <a:endParaRPr lang="en-US" sz="1400" dirty="0"/>
          </a:p>
        </p:txBody>
      </p:sp>
      <p:sp>
        <p:nvSpPr>
          <p:cNvPr id="9" name="Numéro 3"/>
          <p:cNvSpPr txBox="1"/>
          <p:nvPr/>
        </p:nvSpPr>
        <p:spPr>
          <a:xfrm>
            <a:off x="548640" y="235915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Étape 3"/>
          <p:cNvSpPr txBox="1"/>
          <p:nvPr/>
        </p:nvSpPr>
        <p:spPr>
          <a:xfrm>
            <a:off x="1005840" y="236829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le rôle, puis cliquez sur « Créer ».</a:t>
            </a:r>
            <a:endParaRPr lang="en-US" sz="1400" dirty="0"/>
          </a:p>
        </p:txBody>
      </p:sp>
      <p:sp>
        <p:nvSpPr>
          <p:cNvPr id="11" name="Numéro 4"/>
          <p:cNvSpPr txBox="1"/>
          <p:nvPr/>
        </p:nvSpPr>
        <p:spPr>
          <a:xfrm>
            <a:off x="548640" y="29718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Étape 4"/>
          <p:cNvSpPr txBox="1"/>
          <p:nvPr/>
        </p:nvSpPr>
        <p:spPr>
          <a:xfrm>
            <a:off x="1005840" y="298094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Modifiez un compte pour changer son rôle, son email ou son mot de passe.</a:t>
            </a:r>
            <a:endParaRPr lang="en-US" sz="1400" dirty="0"/>
          </a:p>
        </p:txBody>
      </p:sp>
      <p:sp>
        <p:nvSpPr>
          <p:cNvPr id="13" name="Numéro 5"/>
          <p:cNvSpPr txBox="1"/>
          <p:nvPr/>
        </p:nvSpPr>
        <p:spPr>
          <a:xfrm>
            <a:off x="548640" y="35844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Étape 5"/>
          <p:cNvSpPr txBox="1"/>
          <p:nvPr/>
        </p:nvSpPr>
        <p:spPr>
          <a:xfrm>
            <a:off x="1005840" y="359359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Désactivez un compte pour bloquer la connexion, réactivez-le au besoin.</a:t>
            </a:r>
            <a:endParaRPr lang="en-US" sz="1400" dirty="0"/>
          </a:p>
        </p:txBody>
      </p:sp>
      <p:sp>
        <p:nvSpPr>
          <p:cNvPr id="15" name="À savoir"/>
          <p:cNvSpPr/>
          <p:nvPr/>
        </p:nvSpPr>
        <p:spPr>
          <a:xfrm>
            <a:off x="548640" y="533095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6" name="Texte à savoir"/>
          <p:cNvSpPr txBox="1"/>
          <p:nvPr/>
        </p:nvSpPr>
        <p:spPr>
          <a:xfrm>
            <a:off x="777240" y="5422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Attribuez le rôle le plus restreint qui suffit à la personne. Désactiver un compte ne supprime aucune donnée. Un compte Enseignant doit être relié à sa fiche du personnel (page suivante).</a:t>
            </a:r>
            <a:endParaRPr lang="en-US" sz="1400" dirty="0"/>
          </a:p>
        </p:txBody>
      </p:sp>
      <p:sp>
        <p:nvSpPr>
          <p:cNvPr id="17" name="Cadre de la capture"/>
          <p:cNvSpPr/>
          <p:nvPr/>
        </p:nvSpPr>
        <p:spPr>
          <a:xfrm>
            <a:off x="5340096" y="1271016"/>
            <a:ext cx="6357823" cy="3233776"/>
          </a:xfrm>
          <a:prstGeom prst="roundRect">
            <a:avLst>
              <a:gd name="adj" fmla="val 1697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0" descr="Capture d'écran : 8. Les comptes utilisat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6248095" cy="3124048"/>
          </a:xfrm>
          <a:prstGeom prst="rect">
            <a:avLst/>
          </a:prstGeom>
        </p:spPr>
      </p:pic>
      <p:sp>
        <p:nvSpPr>
          <p:cNvPr id="19" name="Repère 2"/>
          <p:cNvSpPr/>
          <p:nvPr/>
        </p:nvSpPr>
        <p:spPr>
          <a:xfrm>
            <a:off x="5693236" y="1934942"/>
            <a:ext cx="5777133" cy="136546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0" name="Numéro 2"/>
          <p:cNvSpPr txBox="1"/>
          <p:nvPr/>
        </p:nvSpPr>
        <p:spPr>
          <a:xfrm>
            <a:off x="5556076" y="179778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Repère 3"/>
          <p:cNvSpPr/>
          <p:nvPr/>
        </p:nvSpPr>
        <p:spPr>
          <a:xfrm>
            <a:off x="9377368" y="2134283"/>
            <a:ext cx="1083212" cy="31814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2" name="Numéro 3"/>
          <p:cNvSpPr txBox="1"/>
          <p:nvPr/>
        </p:nvSpPr>
        <p:spPr>
          <a:xfrm>
            <a:off x="9240208" y="1997123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Repère 4"/>
          <p:cNvSpPr/>
          <p:nvPr/>
        </p:nvSpPr>
        <p:spPr>
          <a:xfrm>
            <a:off x="10543735" y="2858142"/>
            <a:ext cx="274074" cy="106212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4" name="Numéro 4"/>
          <p:cNvSpPr txBox="1"/>
          <p:nvPr/>
        </p:nvSpPr>
        <p:spPr>
          <a:xfrm>
            <a:off x="10406575" y="272098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Repère 5"/>
          <p:cNvSpPr/>
          <p:nvPr/>
        </p:nvSpPr>
        <p:spPr>
          <a:xfrm>
            <a:off x="10901535" y="2858142"/>
            <a:ext cx="333353" cy="106212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6" name="Numéro 5"/>
          <p:cNvSpPr txBox="1"/>
          <p:nvPr/>
        </p:nvSpPr>
        <p:spPr>
          <a:xfrm>
            <a:off x="10764375" y="272098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Compte enseignant et fiche du personnel</a:t>
            </a:r>
            <a:endParaRPr lang="en-US" sz="3000" dirty="0"/>
          </a:p>
        </p:txBody>
      </p:sp>
      <p:sp>
        <p:nvSpPr>
          <p:cNvPr id="3" name="Rôle Chef"/>
          <p:cNvSpPr txBox="1"/>
          <p:nvPr/>
        </p:nvSpPr>
        <p:spPr>
          <a:xfrm>
            <a:off x="10966399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4" name="Rôle Fondateur"/>
          <p:cNvSpPr txBox="1"/>
          <p:nvPr/>
        </p:nvSpPr>
        <p:spPr>
          <a:xfrm>
            <a:off x="9722815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5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Étape 1"/>
          <p:cNvSpPr txBox="1"/>
          <p:nvPr/>
        </p:nvSpPr>
        <p:spPr>
          <a:xfrm>
            <a:off x="1005840" y="1335024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d'abord la fiche de l'enseignant dans Établissement › Personnel (type Enseignant).</a:t>
            </a:r>
            <a:endParaRPr lang="en-US" sz="1400" dirty="0"/>
          </a:p>
        </p:txBody>
      </p:sp>
      <p:sp>
        <p:nvSpPr>
          <p:cNvPr id="7" name="Numéro 2"/>
          <p:cNvSpPr txBox="1"/>
          <p:nvPr/>
        </p:nvSpPr>
        <p:spPr>
          <a:xfrm>
            <a:off x="548640" y="215341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Étape 2"/>
          <p:cNvSpPr txBox="1"/>
          <p:nvPr/>
        </p:nvSpPr>
        <p:spPr>
          <a:xfrm>
            <a:off x="1005840" y="216255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Établissement › Utilisateurs, « Nouveau compte » : choisissez le rôle Enseignant.</a:t>
            </a:r>
            <a:endParaRPr lang="en-US" sz="1400" dirty="0"/>
          </a:p>
        </p:txBody>
      </p:sp>
      <p:sp>
        <p:nvSpPr>
          <p:cNvPr id="9" name="Numéro 3"/>
          <p:cNvSpPr txBox="1"/>
          <p:nvPr/>
        </p:nvSpPr>
        <p:spPr>
          <a:xfrm>
            <a:off x="548640" y="276606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Étape 3"/>
          <p:cNvSpPr txBox="1"/>
          <p:nvPr/>
        </p:nvSpPr>
        <p:spPr>
          <a:xfrm>
            <a:off x="1005840" y="277520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champ « Fiche de l'enseignant » apparaît : choisissez la fiche correspondante.</a:t>
            </a:r>
            <a:endParaRPr lang="en-US" sz="1400" dirty="0"/>
          </a:p>
        </p:txBody>
      </p:sp>
      <p:sp>
        <p:nvSpPr>
          <p:cNvPr id="11" name="Numéro 4"/>
          <p:cNvSpPr txBox="1"/>
          <p:nvPr/>
        </p:nvSpPr>
        <p:spPr>
          <a:xfrm>
            <a:off x="548640" y="337870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Étape 4"/>
          <p:cNvSpPr txBox="1"/>
          <p:nvPr/>
        </p:nvSpPr>
        <p:spPr>
          <a:xfrm>
            <a:off x="1005840" y="3387852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Créer ». Pour un compte existant, « Modifier » permet de choisir ou de changer la fiche.</a:t>
            </a:r>
            <a:endParaRPr lang="en-US" sz="1400" dirty="0"/>
          </a:p>
        </p:txBody>
      </p:sp>
      <p:sp>
        <p:nvSpPr>
          <p:cNvPr id="13" name="À savoir"/>
          <p:cNvSpPr/>
          <p:nvPr/>
        </p:nvSpPr>
        <p:spPr>
          <a:xfrm>
            <a:off x="548640" y="533095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4" name="Texte à savoir"/>
          <p:cNvSpPr txBox="1"/>
          <p:nvPr/>
        </p:nvSpPr>
        <p:spPr>
          <a:xfrm>
            <a:off x="777240" y="5422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fiche ne sert qu'à un seul compte. Sans fiche, l'enseignant se connecte mais ne voit aucune classe : la colonne « Fiche du personnel » de la liste signale ces comptes.</a:t>
            </a:r>
            <a:endParaRPr lang="en-US" sz="1400" dirty="0"/>
          </a:p>
        </p:txBody>
      </p:sp>
      <p:sp>
        <p:nvSpPr>
          <p:cNvPr id="15" name="Cadre de la capture"/>
          <p:cNvSpPr/>
          <p:nvPr/>
        </p:nvSpPr>
        <p:spPr>
          <a:xfrm>
            <a:off x="5340096" y="1271016"/>
            <a:ext cx="6357823" cy="3847905"/>
          </a:xfrm>
          <a:prstGeom prst="roundRect">
            <a:avLst>
              <a:gd name="adj" fmla="val 1426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0" descr="Capture d'écran : Compte enseignant et fiche du person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6248095" cy="3738177"/>
          </a:xfrm>
          <a:prstGeom prst="rect">
            <a:avLst/>
          </a:prstGeom>
        </p:spPr>
      </p:pic>
      <p:sp>
        <p:nvSpPr>
          <p:cNvPr id="17" name="Repère 2"/>
          <p:cNvSpPr/>
          <p:nvPr/>
        </p:nvSpPr>
        <p:spPr>
          <a:xfrm>
            <a:off x="9330893" y="2172227"/>
            <a:ext cx="1105432" cy="324671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18" name="Numéro 2"/>
          <p:cNvSpPr txBox="1"/>
          <p:nvPr/>
        </p:nvSpPr>
        <p:spPr>
          <a:xfrm>
            <a:off x="9193733" y="2035067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Repère 3"/>
          <p:cNvSpPr/>
          <p:nvPr/>
        </p:nvSpPr>
        <p:spPr>
          <a:xfrm>
            <a:off x="5571188" y="2582341"/>
            <a:ext cx="1105432" cy="428221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0" name="Numéro 3"/>
          <p:cNvSpPr txBox="1"/>
          <p:nvPr/>
        </p:nvSpPr>
        <p:spPr>
          <a:xfrm>
            <a:off x="5434028" y="2445181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Repère 4"/>
          <p:cNvSpPr/>
          <p:nvPr/>
        </p:nvSpPr>
        <p:spPr>
          <a:xfrm>
            <a:off x="6762065" y="2818314"/>
            <a:ext cx="383497" cy="192249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2" name="Numéro 4"/>
          <p:cNvSpPr txBox="1"/>
          <p:nvPr/>
        </p:nvSpPr>
        <p:spPr>
          <a:xfrm>
            <a:off x="6624905" y="2681154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classes d'un enseignant</a:t>
            </a:r>
            <a:endParaRPr lang="en-US" sz="3000" dirty="0"/>
          </a:p>
        </p:txBody>
      </p:sp>
      <p:sp>
        <p:nvSpPr>
          <p:cNvPr id="3" name="Rôle Chef"/>
          <p:cNvSpPr txBox="1"/>
          <p:nvPr/>
        </p:nvSpPr>
        <p:spPr>
          <a:xfrm>
            <a:off x="10966399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4" name="Rôle Fondateur"/>
          <p:cNvSpPr txBox="1"/>
          <p:nvPr/>
        </p:nvSpPr>
        <p:spPr>
          <a:xfrm>
            <a:off x="9722815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5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Étape 1"/>
          <p:cNvSpPr txBox="1"/>
          <p:nvPr/>
        </p:nvSpPr>
        <p:spPr>
          <a:xfrm>
            <a:off x="1005840" y="1335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Établissement › Personnel, puis la fiche de l'enseignant.</a:t>
            </a:r>
            <a:endParaRPr lang="en-US" sz="1400" dirty="0"/>
          </a:p>
        </p:txBody>
      </p:sp>
      <p:sp>
        <p:nvSpPr>
          <p:cNvPr id="7" name="Numéro 2"/>
          <p:cNvSpPr txBox="1"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Étape 2"/>
          <p:cNvSpPr txBox="1"/>
          <p:nvPr/>
        </p:nvSpPr>
        <p:spPr>
          <a:xfrm>
            <a:off x="1005840" y="194767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bloc « Classes accessibles » liste ses classes de l'année courante.</a:t>
            </a:r>
            <a:endParaRPr lang="en-US" sz="1400" dirty="0"/>
          </a:p>
        </p:txBody>
      </p:sp>
      <p:sp>
        <p:nvSpPr>
          <p:cNvPr id="9" name="Numéro 3"/>
          <p:cNvSpPr txBox="1"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Étape 3"/>
          <p:cNvSpPr txBox="1"/>
          <p:nvPr/>
        </p:nvSpPr>
        <p:spPr>
          <a:xfrm>
            <a:off x="1005840" y="2560320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L'étiquette « emploi du temps » marque les classes qu'il tient d'après ses créneaux : elles sont ajoutées automatiquement.</a:t>
            </a:r>
            <a:endParaRPr lang="en-US" sz="1400" dirty="0"/>
          </a:p>
        </p:txBody>
      </p:sp>
      <p:sp>
        <p:nvSpPr>
          <p:cNvPr id="11" name="Numéro 4"/>
          <p:cNvSpPr txBox="1"/>
          <p:nvPr/>
        </p:nvSpPr>
        <p:spPr>
          <a:xfrm>
            <a:off x="548640" y="337870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Étape 4"/>
          <p:cNvSpPr txBox="1"/>
          <p:nvPr/>
        </p:nvSpPr>
        <p:spPr>
          <a:xfrm>
            <a:off x="1005840" y="3387852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en donner une de plus, choisissez-la dans « Classes affectées en plus de l'emploi du temps ».</a:t>
            </a:r>
            <a:endParaRPr lang="en-US" sz="1400" dirty="0"/>
          </a:p>
        </p:txBody>
      </p:sp>
      <p:sp>
        <p:nvSpPr>
          <p:cNvPr id="13" name="Numéro 5"/>
          <p:cNvSpPr txBox="1"/>
          <p:nvPr/>
        </p:nvSpPr>
        <p:spPr>
          <a:xfrm>
            <a:off x="548640" y="420624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Étape 5"/>
          <p:cNvSpPr txBox="1"/>
          <p:nvPr/>
        </p:nvSpPr>
        <p:spPr>
          <a:xfrm>
            <a:off x="1005840" y="4215384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Enregistrer les classes ». Les classes ajoutées portent l’étiquette « affectée ».</a:t>
            </a:r>
            <a:endParaRPr lang="en-US" sz="1400" dirty="0"/>
          </a:p>
        </p:txBody>
      </p:sp>
      <p:sp>
        <p:nvSpPr>
          <p:cNvPr id="15" name="À savoir"/>
          <p:cNvSpPr/>
          <p:nvPr/>
        </p:nvSpPr>
        <p:spPr>
          <a:xfrm>
            <a:off x="548640" y="5545836"/>
            <a:ext cx="11094415" cy="745236"/>
          </a:xfrm>
          <a:prstGeom prst="roundRect">
            <a:avLst>
              <a:gd name="adj" fmla="val 12270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6" name="Texte à savoir"/>
          <p:cNvSpPr txBox="1"/>
          <p:nvPr/>
        </p:nvSpPr>
        <p:spPr>
          <a:xfrm>
            <a:off x="777240" y="5637276"/>
            <a:ext cx="106372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L'enseignant ne voit que ces classes et leurs élèves. Retirer une classe de la liste lui en ferme aussitôt l'accès.</a:t>
            </a:r>
            <a:endParaRPr lang="en-US" sz="1400" dirty="0"/>
          </a:p>
        </p:txBody>
      </p:sp>
      <p:sp>
        <p:nvSpPr>
          <p:cNvPr id="17" name="Cadre de la capture"/>
          <p:cNvSpPr/>
          <p:nvPr/>
        </p:nvSpPr>
        <p:spPr>
          <a:xfrm>
            <a:off x="5340096" y="1923583"/>
            <a:ext cx="6357823" cy="2859958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0" descr="Capture d'écran : Les classes d'un enseign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978447"/>
            <a:ext cx="6248095" cy="2750230"/>
          </a:xfrm>
          <a:prstGeom prst="rect">
            <a:avLst/>
          </a:prstGeom>
        </p:spPr>
      </p:pic>
      <p:sp>
        <p:nvSpPr>
          <p:cNvPr id="19" name="Repère 2"/>
          <p:cNvSpPr/>
          <p:nvPr/>
        </p:nvSpPr>
        <p:spPr>
          <a:xfrm>
            <a:off x="5571188" y="3374506"/>
            <a:ext cx="5895639" cy="13934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0" name="Numéro 2"/>
          <p:cNvSpPr txBox="1"/>
          <p:nvPr/>
        </p:nvSpPr>
        <p:spPr>
          <a:xfrm>
            <a:off x="5434028" y="323734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Repère 4"/>
          <p:cNvSpPr/>
          <p:nvPr/>
        </p:nvSpPr>
        <p:spPr>
          <a:xfrm>
            <a:off x="5571188" y="4002987"/>
            <a:ext cx="2776931" cy="324671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2" name="Numéro 4"/>
          <p:cNvSpPr txBox="1"/>
          <p:nvPr/>
        </p:nvSpPr>
        <p:spPr>
          <a:xfrm>
            <a:off x="5434028" y="3865827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Repère 5"/>
          <p:cNvSpPr/>
          <p:nvPr/>
        </p:nvSpPr>
        <p:spPr>
          <a:xfrm>
            <a:off x="5571188" y="4381060"/>
            <a:ext cx="932959" cy="192249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4" name="Numéro 5"/>
          <p:cNvSpPr txBox="1"/>
          <p:nvPr/>
        </p:nvSpPr>
        <p:spPr>
          <a:xfrm>
            <a:off x="5434028" y="424390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voit un enseignant</a:t>
            </a:r>
            <a:endParaRPr lang="en-US" sz="3000" dirty="0"/>
          </a:p>
        </p:txBody>
      </p:sp>
      <p:sp>
        <p:nvSpPr>
          <p:cNvPr id="3" name="Rôle Enseignant"/>
          <p:cNvSpPr txBox="1"/>
          <p:nvPr/>
        </p:nvSpPr>
        <p:spPr>
          <a:xfrm>
            <a:off x="10417759" y="566928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B978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</a:t>
            </a:r>
            <a:endParaRPr lang="en-US" sz="1200" dirty="0"/>
          </a:p>
        </p:txBody>
      </p:sp>
      <p:sp>
        <p:nvSpPr>
          <p:cNvPr id="4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Étape 1"/>
          <p:cNvSpPr txBox="1"/>
          <p:nvPr/>
        </p:nvSpPr>
        <p:spPr>
          <a:xfrm>
            <a:off x="1005840" y="1335024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menu se limite aux pages utiles : tableau de bord, élèves, classes, notes, emplois du temps, appel et absences.</a:t>
            </a:r>
            <a:endParaRPr lang="en-US" sz="1400" dirty="0"/>
          </a:p>
        </p:txBody>
      </p:sp>
      <p:sp>
        <p:nvSpPr>
          <p:cNvPr id="6" name="Numéro 2"/>
          <p:cNvSpPr txBox="1"/>
          <p:nvPr/>
        </p:nvSpPr>
        <p:spPr>
          <a:xfrm>
            <a:off x="548640" y="215341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Étape 2"/>
          <p:cNvSpPr txBox="1"/>
          <p:nvPr/>
        </p:nvSpPr>
        <p:spPr>
          <a:xfrm>
            <a:off x="1005840" y="216255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n'affiche que les élèves de ses classes.</a:t>
            </a:r>
            <a:endParaRPr lang="en-US" sz="1400" dirty="0"/>
          </a:p>
        </p:txBody>
      </p:sp>
      <p:sp>
        <p:nvSpPr>
          <p:cNvPr id="8" name="Numéro 3"/>
          <p:cNvSpPr txBox="1"/>
          <p:nvPr/>
        </p:nvSpPr>
        <p:spPr>
          <a:xfrm>
            <a:off x="548640" y="276606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Étape 3"/>
          <p:cNvSpPr txBox="1"/>
          <p:nvPr/>
        </p:nvSpPr>
        <p:spPr>
          <a:xfrm>
            <a:off x="1005840" y="277520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fiche d'un de ses élèves montre l'identité, la classe, les absences et le bulletin.</a:t>
            </a:r>
            <a:endParaRPr lang="en-US" sz="1400" dirty="0"/>
          </a:p>
        </p:txBody>
      </p:sp>
      <p:sp>
        <p:nvSpPr>
          <p:cNvPr id="10" name="Numéro 4"/>
          <p:cNvSpPr txBox="1"/>
          <p:nvPr/>
        </p:nvSpPr>
        <p:spPr>
          <a:xfrm>
            <a:off x="548640" y="337870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Étape 4"/>
          <p:cNvSpPr txBox="1"/>
          <p:nvPr/>
        </p:nvSpPr>
        <p:spPr>
          <a:xfrm>
            <a:off x="1005840" y="3387852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finances, ni parents, ni adresse : ces informations restent réservées au personnel concerné.</a:t>
            </a:r>
            <a:endParaRPr lang="en-US" sz="1400" dirty="0"/>
          </a:p>
        </p:txBody>
      </p:sp>
      <p:sp>
        <p:nvSpPr>
          <p:cNvPr id="12" name="Numéro 5"/>
          <p:cNvSpPr txBox="1"/>
          <p:nvPr/>
        </p:nvSpPr>
        <p:spPr>
          <a:xfrm>
            <a:off x="548640" y="420624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Étape 5"/>
          <p:cNvSpPr txBox="1"/>
          <p:nvPr/>
        </p:nvSpPr>
        <p:spPr>
          <a:xfrm>
            <a:off x="1005840" y="421538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classe ou un élève hors de son périmètre est refusé, même avec un lien direct.</a:t>
            </a:r>
            <a:endParaRPr lang="en-US" sz="1400" dirty="0"/>
          </a:p>
        </p:txBody>
      </p:sp>
      <p:sp>
        <p:nvSpPr>
          <p:cNvPr id="14" name="À savoir"/>
          <p:cNvSpPr/>
          <p:nvPr/>
        </p:nvSpPr>
        <p:spPr>
          <a:xfrm>
            <a:off x="548640" y="533095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5" name="Texte à savoir"/>
          <p:cNvSpPr txBox="1"/>
          <p:nvPr/>
        </p:nvSpPr>
        <p:spPr>
          <a:xfrm>
            <a:off x="777240" y="5422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fermées à l'enseignant : admissions, cartes scolaires, finances, paie, tarifs, personnel, utilisateurs, communication et bibliothèque.</a:t>
            </a:r>
            <a:endParaRPr lang="en-US" sz="1400" dirty="0"/>
          </a:p>
        </p:txBody>
      </p:sp>
      <p:sp>
        <p:nvSpPr>
          <p:cNvPr id="16" name="Cadre de la capture"/>
          <p:cNvSpPr/>
          <p:nvPr/>
        </p:nvSpPr>
        <p:spPr>
          <a:xfrm>
            <a:off x="5340096" y="1271016"/>
            <a:ext cx="6357823" cy="3517780"/>
          </a:xfrm>
          <a:prstGeom prst="roundRect">
            <a:avLst>
              <a:gd name="adj" fmla="val 1560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0" descr="Capture d'écran : Ce que voit un enseign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6248095" cy="34080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neau 1"/>
          <p:cNvSpPr/>
          <p:nvPr/>
        </p:nvSpPr>
        <p:spPr>
          <a:xfrm>
            <a:off x="7498080" y="1234440"/>
            <a:ext cx="4389120" cy="43891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Anneau 2"/>
          <p:cNvSpPr/>
          <p:nvPr/>
        </p:nvSpPr>
        <p:spPr>
          <a:xfrm>
            <a:off x="8090611" y="1826971"/>
            <a:ext cx="3204058" cy="3204058"/>
          </a:xfrm>
          <a:prstGeom prst="ellipse">
            <a:avLst/>
          </a:prstGeom>
          <a:solidFill>
            <a:schemeClr val="accent1">
              <a:alpha val="2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nneau 3"/>
          <p:cNvSpPr/>
          <p:nvPr/>
        </p:nvSpPr>
        <p:spPr>
          <a:xfrm>
            <a:off x="8683142" y="2419502"/>
            <a:ext cx="2018995" cy="2018995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entre de la cible"/>
          <p:cNvSpPr/>
          <p:nvPr/>
        </p:nvSpPr>
        <p:spPr>
          <a:xfrm>
            <a:off x="9275674" y="3012034"/>
            <a:ext cx="833933" cy="83393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Numéro de chapitre"/>
          <p:cNvSpPr txBox="1"/>
          <p:nvPr/>
        </p:nvSpPr>
        <p:spPr>
          <a:xfrm>
            <a:off x="82296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3</a:t>
            </a:r>
            <a:endParaRPr lang="en-US" sz="18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22960" y="16916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Admettre les élèves</a:t>
            </a:r>
            <a:endParaRPr lang="en-US" sz="4400" dirty="0"/>
          </a:p>
        </p:txBody>
      </p:sp>
      <p:sp>
        <p:nvSpPr>
          <p:cNvPr id="8" name="Contenu du chapitre"/>
          <p:cNvSpPr txBox="1"/>
          <p:nvPr/>
        </p:nvSpPr>
        <p:spPr>
          <a:xfrm>
            <a:off x="822960" y="338328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circuit d'une admission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formulaire public pour les familles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Traiter, accepter, refuser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sur place</a:t>
            </a:r>
            <a:endParaRPr lang="en-US" sz="1800" dirty="0"/>
          </a:p>
        </p:txBody>
      </p:sp>
      <p:sp>
        <p:nvSpPr>
          <p:cNvPr id="9" name="Rôles concernés"/>
          <p:cNvSpPr txBox="1"/>
          <p:nvPr/>
        </p:nvSpPr>
        <p:spPr>
          <a:xfrm>
            <a:off x="822960" y="5715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: Fondateur, Chef, Secrétaire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circuit d'une admission</a:t>
            </a:r>
            <a:endParaRPr lang="en-US" sz="3000" dirty="0"/>
          </a:p>
        </p:txBody>
      </p:sp>
      <p:sp>
        <p:nvSpPr>
          <p:cNvPr id="3" name="Sous-titre"/>
          <p:cNvSpPr txBox="1"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demande de la famille à l'élève inscrit</a:t>
            </a:r>
            <a:endParaRPr lang="en-US" sz="1600" dirty="0"/>
          </a:p>
        </p:txBody>
      </p:sp>
      <p:sp>
        <p:nvSpPr>
          <p:cNvPr id="4" name="Étape 1"/>
          <p:cNvSpPr/>
          <p:nvPr/>
        </p:nvSpPr>
        <p:spPr>
          <a:xfrm>
            <a:off x="548640" y="2011680"/>
            <a:ext cx="1889699" cy="2651760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Numéro 1"/>
          <p:cNvSpPr txBox="1"/>
          <p:nvPr/>
        </p:nvSpPr>
        <p:spPr>
          <a:xfrm>
            <a:off x="777240" y="2240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16352"/>
            <a:ext cx="14324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143249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public ou saisie au secrétariat</a:t>
            </a:r>
            <a:endParaRPr lang="en-US" sz="1400" dirty="0"/>
          </a:p>
        </p:txBody>
      </p:sp>
      <p:sp>
        <p:nvSpPr>
          <p:cNvPr id="8" name="Flèche"/>
          <p:cNvSpPr/>
          <p:nvPr/>
        </p:nvSpPr>
        <p:spPr>
          <a:xfrm>
            <a:off x="2511491" y="3154680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Étape 2"/>
          <p:cNvSpPr/>
          <p:nvPr/>
        </p:nvSpPr>
        <p:spPr>
          <a:xfrm>
            <a:off x="2849819" y="2011680"/>
            <a:ext cx="1889699" cy="2651760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Numéro 2"/>
          <p:cNvSpPr txBox="1"/>
          <p:nvPr/>
        </p:nvSpPr>
        <p:spPr>
          <a:xfrm>
            <a:off x="3078419" y="2240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78419" y="2816352"/>
            <a:ext cx="14324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078419" y="3429000"/>
            <a:ext cx="143249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demande arrive dans Admissions</a:t>
            </a:r>
            <a:endParaRPr lang="en-US" sz="1400" dirty="0"/>
          </a:p>
        </p:txBody>
      </p:sp>
      <p:sp>
        <p:nvSpPr>
          <p:cNvPr id="13" name="Flèche"/>
          <p:cNvSpPr/>
          <p:nvPr/>
        </p:nvSpPr>
        <p:spPr>
          <a:xfrm>
            <a:off x="4812670" y="3154680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Étape 3"/>
          <p:cNvSpPr/>
          <p:nvPr/>
        </p:nvSpPr>
        <p:spPr>
          <a:xfrm>
            <a:off x="5150998" y="2011680"/>
            <a:ext cx="1889699" cy="2651760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Numéro 3"/>
          <p:cNvSpPr txBox="1"/>
          <p:nvPr/>
        </p:nvSpPr>
        <p:spPr>
          <a:xfrm>
            <a:off x="5379598" y="2240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379598" y="2816352"/>
            <a:ext cx="14324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379598" y="3429000"/>
            <a:ext cx="143249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joints consultés</a:t>
            </a:r>
            <a:endParaRPr lang="en-US" sz="1400" dirty="0"/>
          </a:p>
        </p:txBody>
      </p:sp>
      <p:sp>
        <p:nvSpPr>
          <p:cNvPr id="18" name="Flèche"/>
          <p:cNvSpPr/>
          <p:nvPr/>
        </p:nvSpPr>
        <p:spPr>
          <a:xfrm>
            <a:off x="7113849" y="3154680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Étape 4"/>
          <p:cNvSpPr/>
          <p:nvPr/>
        </p:nvSpPr>
        <p:spPr>
          <a:xfrm>
            <a:off x="7452177" y="2011680"/>
            <a:ext cx="1889699" cy="2651760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Numéro 4"/>
          <p:cNvSpPr txBox="1"/>
          <p:nvPr/>
        </p:nvSpPr>
        <p:spPr>
          <a:xfrm>
            <a:off x="7680777" y="2240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680777" y="2816352"/>
            <a:ext cx="14324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680777" y="3429000"/>
            <a:ext cx="143249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Accepter dans une classe, ou refuser</a:t>
            </a:r>
            <a:endParaRPr lang="en-US" sz="1400" dirty="0"/>
          </a:p>
        </p:txBody>
      </p:sp>
      <p:sp>
        <p:nvSpPr>
          <p:cNvPr id="23" name="Flèche"/>
          <p:cNvSpPr/>
          <p:nvPr/>
        </p:nvSpPr>
        <p:spPr>
          <a:xfrm>
            <a:off x="9415028" y="3154680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Étape 5"/>
          <p:cNvSpPr/>
          <p:nvPr/>
        </p:nvSpPr>
        <p:spPr>
          <a:xfrm>
            <a:off x="9753356" y="2011680"/>
            <a:ext cx="1889699" cy="2651760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Numéro 5"/>
          <p:cNvSpPr txBox="1"/>
          <p:nvPr/>
        </p:nvSpPr>
        <p:spPr>
          <a:xfrm>
            <a:off x="9981956" y="2240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981956" y="2816352"/>
            <a:ext cx="14324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Élève créé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981956" y="3429000"/>
            <a:ext cx="143249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Fiche, parent, inscription, factures</a:t>
            </a:r>
            <a:endParaRPr lang="en-US" sz="1400" dirty="0"/>
          </a:p>
        </p:txBody>
      </p:sp>
      <p:sp>
        <p:nvSpPr>
          <p:cNvPr id="28" name="Encadré"/>
          <p:cNvSpPr/>
          <p:nvPr/>
        </p:nvSpPr>
        <p:spPr>
          <a:xfrm>
            <a:off x="548640" y="5074920"/>
            <a:ext cx="11094415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50749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l'acceptation, la plateforme crée l'élève, son parent, son inscription dans la classe et ses factures. L'inscription n'est pas encaissée à ce moment.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formulaire public</a:t>
            </a:r>
            <a:endParaRPr lang="en-US" sz="3000" dirty="0"/>
          </a:p>
        </p:txBody>
      </p:sp>
      <p:sp>
        <p:nvSpPr>
          <p:cNvPr id="3" name="Rôle Familles"/>
          <p:cNvSpPr txBox="1"/>
          <p:nvPr/>
        </p:nvSpPr>
        <p:spPr>
          <a:xfrm>
            <a:off x="10600639" y="566928"/>
            <a:ext cx="1042416" cy="329184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Familles</a:t>
            </a:r>
            <a:endParaRPr lang="en-US" sz="1200" dirty="0"/>
          </a:p>
        </p:txBody>
      </p:sp>
      <p:sp>
        <p:nvSpPr>
          <p:cNvPr id="4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Étape 1"/>
          <p:cNvSpPr txBox="1"/>
          <p:nvPr/>
        </p:nvSpPr>
        <p:spPr>
          <a:xfrm>
            <a:off x="1005840" y="1335024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Donnez aux familles le lien du formulaire : adresse de la plateforme, puis /inscription/ et l'identifiant de l'école.</a:t>
            </a:r>
            <a:endParaRPr lang="en-US" sz="1400" dirty="0"/>
          </a:p>
        </p:txBody>
      </p:sp>
      <p:sp>
        <p:nvSpPr>
          <p:cNvPr id="6" name="Numéro 2"/>
          <p:cNvSpPr txBox="1"/>
          <p:nvPr/>
        </p:nvSpPr>
        <p:spPr>
          <a:xfrm>
            <a:off x="548640" y="215341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Étape 2"/>
          <p:cNvSpPr txBox="1"/>
          <p:nvPr/>
        </p:nvSpPr>
        <p:spPr>
          <a:xfrm>
            <a:off x="1005840" y="216255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famille renseigne l'élève : nom, prénom, genre, naissance, niveau souhaité.</a:t>
            </a:r>
            <a:endParaRPr lang="en-US" sz="1400" dirty="0"/>
          </a:p>
        </p:txBody>
      </p:sp>
      <p:sp>
        <p:nvSpPr>
          <p:cNvPr id="8" name="Numéro 3"/>
          <p:cNvSpPr txBox="1"/>
          <p:nvPr/>
        </p:nvSpPr>
        <p:spPr>
          <a:xfrm>
            <a:off x="548640" y="276606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Étape 3"/>
          <p:cNvSpPr txBox="1"/>
          <p:nvPr/>
        </p:nvSpPr>
        <p:spPr>
          <a:xfrm>
            <a:off x="1005840" y="277520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renseigne le parent ou tuteur : nom, prénom, téléphone, email facultatif.</a:t>
            </a:r>
            <a:endParaRPr lang="en-US" sz="1400" dirty="0"/>
          </a:p>
        </p:txBody>
      </p:sp>
      <p:sp>
        <p:nvSpPr>
          <p:cNvPr id="10" name="Numéro 4"/>
          <p:cNvSpPr txBox="1"/>
          <p:nvPr/>
        </p:nvSpPr>
        <p:spPr>
          <a:xfrm>
            <a:off x="548640" y="337870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Étape 4"/>
          <p:cNvSpPr txBox="1"/>
          <p:nvPr/>
        </p:nvSpPr>
        <p:spPr>
          <a:xfrm>
            <a:off x="1005840" y="3387852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joint ses documents : photo, relevé de notes, extrait de naissance (10 Mo maximum par fichier).</a:t>
            </a:r>
            <a:endParaRPr lang="en-US" sz="1400" dirty="0"/>
          </a:p>
        </p:txBody>
      </p:sp>
      <p:sp>
        <p:nvSpPr>
          <p:cNvPr id="12" name="Numéro 5"/>
          <p:cNvSpPr txBox="1"/>
          <p:nvPr/>
        </p:nvSpPr>
        <p:spPr>
          <a:xfrm>
            <a:off x="548640" y="420624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Étape 5"/>
          <p:cNvSpPr txBox="1"/>
          <p:nvPr/>
        </p:nvSpPr>
        <p:spPr>
          <a:xfrm>
            <a:off x="1005840" y="421538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envoie : un message « Demande envoyée » confirme la réception.</a:t>
            </a:r>
            <a:endParaRPr lang="en-US" sz="1400" dirty="0"/>
          </a:p>
        </p:txBody>
      </p:sp>
      <p:sp>
        <p:nvSpPr>
          <p:cNvPr id="14" name="À savoir"/>
          <p:cNvSpPr/>
          <p:nvPr/>
        </p:nvSpPr>
        <p:spPr>
          <a:xfrm>
            <a:off x="548640" y="5545836"/>
            <a:ext cx="11094415" cy="745236"/>
          </a:xfrm>
          <a:prstGeom prst="roundRect">
            <a:avLst>
              <a:gd name="adj" fmla="val 12270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5" name="Texte à savoir"/>
          <p:cNvSpPr txBox="1"/>
          <p:nvPr/>
        </p:nvSpPr>
        <p:spPr>
          <a:xfrm>
            <a:off x="777240" y="5637276"/>
            <a:ext cx="106372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compte n'est nécessaire côté famille. La demande apparaît aussitôt dans Admissions, onglet « En attente ».</a:t>
            </a:r>
            <a:endParaRPr lang="en-US" sz="1400" dirty="0"/>
          </a:p>
        </p:txBody>
      </p:sp>
      <p:sp>
        <p:nvSpPr>
          <p:cNvPr id="16" name="Cadre de la capture"/>
          <p:cNvSpPr/>
          <p:nvPr/>
        </p:nvSpPr>
        <p:spPr>
          <a:xfrm>
            <a:off x="5889358" y="1271016"/>
            <a:ext cx="5259298" cy="4165092"/>
          </a:xfrm>
          <a:prstGeom prst="roundRect">
            <a:avLst>
              <a:gd name="adj" fmla="val 1317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0" descr="Capture d'écran : Le formulaire publ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4222" y="1325880"/>
            <a:ext cx="5149570" cy="4055364"/>
          </a:xfrm>
          <a:prstGeom prst="rect">
            <a:avLst/>
          </a:prstGeom>
        </p:spPr>
      </p:pic>
      <p:sp>
        <p:nvSpPr>
          <p:cNvPr id="18" name="Repère 2"/>
          <p:cNvSpPr/>
          <p:nvPr/>
        </p:nvSpPr>
        <p:spPr>
          <a:xfrm>
            <a:off x="6877698" y="1751759"/>
            <a:ext cx="3993544" cy="16131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19" name="Numéro 2"/>
          <p:cNvSpPr txBox="1"/>
          <p:nvPr/>
        </p:nvSpPr>
        <p:spPr>
          <a:xfrm>
            <a:off x="6740538" y="1614599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Repère 3"/>
          <p:cNvSpPr/>
          <p:nvPr/>
        </p:nvSpPr>
        <p:spPr>
          <a:xfrm>
            <a:off x="6877698" y="4959422"/>
            <a:ext cx="3993544" cy="16131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3"/>
          <p:cNvSpPr txBox="1"/>
          <p:nvPr/>
        </p:nvSpPr>
        <p:spPr>
          <a:xfrm>
            <a:off x="6740538" y="482226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Traiter les demandes</a:t>
            </a:r>
            <a:endParaRPr lang="en-US" sz="3000" dirty="0"/>
          </a:p>
        </p:txBody>
      </p:sp>
      <p:sp>
        <p:nvSpPr>
          <p:cNvPr id="3" name="Rôle Secrétaire"/>
          <p:cNvSpPr txBox="1"/>
          <p:nvPr/>
        </p:nvSpPr>
        <p:spPr>
          <a:xfrm>
            <a:off x="10417759" y="566928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1C7E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200" dirty="0"/>
          </a:p>
        </p:txBody>
      </p:sp>
      <p:sp>
        <p:nvSpPr>
          <p:cNvPr id="4" name="Rôle Chef"/>
          <p:cNvSpPr txBox="1"/>
          <p:nvPr/>
        </p:nvSpPr>
        <p:spPr>
          <a:xfrm>
            <a:off x="9631375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5" name="Rôle Fondateur"/>
          <p:cNvSpPr txBox="1"/>
          <p:nvPr/>
        </p:nvSpPr>
        <p:spPr>
          <a:xfrm>
            <a:off x="8387791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6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Étape 1"/>
          <p:cNvSpPr txBox="1"/>
          <p:nvPr/>
        </p:nvSpPr>
        <p:spPr>
          <a:xfrm>
            <a:off x="1005840" y="1335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Élèves › Admissions et restez sur l’onglet « En attente ».</a:t>
            </a:r>
            <a:endParaRPr lang="en-US" sz="1400" dirty="0"/>
          </a:p>
        </p:txBody>
      </p:sp>
      <p:sp>
        <p:nvSpPr>
          <p:cNvPr id="8" name="Numéro 2"/>
          <p:cNvSpPr txBox="1"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Étape 2"/>
          <p:cNvSpPr txBox="1"/>
          <p:nvPr/>
        </p:nvSpPr>
        <p:spPr>
          <a:xfrm>
            <a:off x="1005840" y="194767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Documents » pour consulter (Aperçu) ou télécharger les pièces jointes.</a:t>
            </a:r>
            <a:endParaRPr lang="en-US" sz="1400" dirty="0"/>
          </a:p>
        </p:txBody>
      </p:sp>
      <p:sp>
        <p:nvSpPr>
          <p:cNvPr id="10" name="Numéro 3"/>
          <p:cNvSpPr txBox="1"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Étape 3"/>
          <p:cNvSpPr txBox="1"/>
          <p:nvPr/>
        </p:nvSpPr>
        <p:spPr>
          <a:xfrm>
            <a:off x="1005840" y="256032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Accepter » pour inscrire l’élève dans une classe.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316382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Étape 4"/>
          <p:cNvSpPr txBox="1"/>
          <p:nvPr/>
        </p:nvSpPr>
        <p:spPr>
          <a:xfrm>
            <a:off x="1005840" y="317296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sur « Refuser » en indiquant éventuellement un motif.</a:t>
            </a:r>
            <a:endParaRPr lang="en-US" sz="1400" dirty="0"/>
          </a:p>
        </p:txBody>
      </p:sp>
      <p:sp>
        <p:nvSpPr>
          <p:cNvPr id="14" name="Numéro 5"/>
          <p:cNvSpPr txBox="1"/>
          <p:nvPr/>
        </p:nvSpPr>
        <p:spPr>
          <a:xfrm>
            <a:off x="548640" y="377647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Étape 5"/>
          <p:cNvSpPr txBox="1"/>
          <p:nvPr/>
        </p:nvSpPr>
        <p:spPr>
          <a:xfrm>
            <a:off x="1005840" y="378561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une famille reçue au secrétariat, utilisez « Inscription sur place ».</a:t>
            </a:r>
            <a:endParaRPr lang="en-US" sz="1400" dirty="0"/>
          </a:p>
        </p:txBody>
      </p:sp>
      <p:sp>
        <p:nvSpPr>
          <p:cNvPr id="16" name="À savoir"/>
          <p:cNvSpPr/>
          <p:nvPr/>
        </p:nvSpPr>
        <p:spPr>
          <a:xfrm>
            <a:off x="548640" y="5545836"/>
            <a:ext cx="11094415" cy="745236"/>
          </a:xfrm>
          <a:prstGeom prst="roundRect">
            <a:avLst>
              <a:gd name="adj" fmla="val 12270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7" name="Texte à savoir"/>
          <p:cNvSpPr txBox="1"/>
          <p:nvPr/>
        </p:nvSpPr>
        <p:spPr>
          <a:xfrm>
            <a:off x="777240" y="5637276"/>
            <a:ext cx="106372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onglets : En attente, Acceptées, Refusées et Historique des annulations.</a:t>
            </a:r>
            <a:endParaRPr lang="en-US" sz="1400" dirty="0"/>
          </a:p>
        </p:txBody>
      </p:sp>
      <p:sp>
        <p:nvSpPr>
          <p:cNvPr id="18" name="Cadre de la capture"/>
          <p:cNvSpPr/>
          <p:nvPr/>
        </p:nvSpPr>
        <p:spPr>
          <a:xfrm>
            <a:off x="5340096" y="1736674"/>
            <a:ext cx="6357823" cy="3233776"/>
          </a:xfrm>
          <a:prstGeom prst="roundRect">
            <a:avLst>
              <a:gd name="adj" fmla="val 1697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Capture d'écran : Traiter les demand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791538"/>
            <a:ext cx="6248095" cy="3124048"/>
          </a:xfrm>
          <a:prstGeom prst="rect">
            <a:avLst/>
          </a:prstGeom>
        </p:spPr>
      </p:pic>
      <p:sp>
        <p:nvSpPr>
          <p:cNvPr id="20" name="Repère 1"/>
          <p:cNvSpPr/>
          <p:nvPr/>
        </p:nvSpPr>
        <p:spPr>
          <a:xfrm>
            <a:off x="6195186" y="2503214"/>
            <a:ext cx="338259" cy="9942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1"/>
          <p:cNvSpPr txBox="1"/>
          <p:nvPr/>
        </p:nvSpPr>
        <p:spPr>
          <a:xfrm>
            <a:off x="6058026" y="2366054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Repère 2"/>
          <p:cNvSpPr/>
          <p:nvPr/>
        </p:nvSpPr>
        <p:spPr>
          <a:xfrm>
            <a:off x="9529941" y="2960440"/>
            <a:ext cx="574966" cy="15698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2"/>
          <p:cNvSpPr txBox="1"/>
          <p:nvPr/>
        </p:nvSpPr>
        <p:spPr>
          <a:xfrm>
            <a:off x="9392781" y="282328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Repère 3"/>
          <p:cNvSpPr/>
          <p:nvPr/>
        </p:nvSpPr>
        <p:spPr>
          <a:xfrm>
            <a:off x="10157236" y="2960440"/>
            <a:ext cx="408331" cy="15698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5" name="Numéro 3"/>
          <p:cNvSpPr txBox="1"/>
          <p:nvPr/>
        </p:nvSpPr>
        <p:spPr>
          <a:xfrm>
            <a:off x="10020076" y="282328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Repère 4"/>
          <p:cNvSpPr/>
          <p:nvPr/>
        </p:nvSpPr>
        <p:spPr>
          <a:xfrm>
            <a:off x="10617895" y="2960440"/>
            <a:ext cx="369820" cy="15698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7" name="Numéro 4"/>
          <p:cNvSpPr txBox="1"/>
          <p:nvPr/>
        </p:nvSpPr>
        <p:spPr>
          <a:xfrm>
            <a:off x="10480735" y="282328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Repère 5"/>
          <p:cNvSpPr/>
          <p:nvPr/>
        </p:nvSpPr>
        <p:spPr>
          <a:xfrm>
            <a:off x="10691156" y="2189239"/>
            <a:ext cx="868173" cy="18838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9" name="Numéro 5"/>
          <p:cNvSpPr txBox="1"/>
          <p:nvPr/>
        </p:nvSpPr>
        <p:spPr>
          <a:xfrm>
            <a:off x="10553996" y="2052079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Accepter une demande</a:t>
            </a:r>
            <a:endParaRPr lang="en-US" sz="3000" dirty="0"/>
          </a:p>
        </p:txBody>
      </p:sp>
      <p:sp>
        <p:nvSpPr>
          <p:cNvPr id="3" name="Rôle Secrétaire"/>
          <p:cNvSpPr txBox="1"/>
          <p:nvPr/>
        </p:nvSpPr>
        <p:spPr>
          <a:xfrm>
            <a:off x="10417759" y="566928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1C7E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200" dirty="0"/>
          </a:p>
        </p:txBody>
      </p:sp>
      <p:sp>
        <p:nvSpPr>
          <p:cNvPr id="4" name="Rôle Chef"/>
          <p:cNvSpPr txBox="1"/>
          <p:nvPr/>
        </p:nvSpPr>
        <p:spPr>
          <a:xfrm>
            <a:off x="9631375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5" name="Rôle Fondateur"/>
          <p:cNvSpPr txBox="1"/>
          <p:nvPr/>
        </p:nvSpPr>
        <p:spPr>
          <a:xfrm>
            <a:off x="8387791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6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Étape 1"/>
          <p:cNvSpPr txBox="1"/>
          <p:nvPr/>
        </p:nvSpPr>
        <p:spPr>
          <a:xfrm>
            <a:off x="1005840" y="1335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Accepter » sur la ligne de l'élève.</a:t>
            </a:r>
            <a:endParaRPr lang="en-US" sz="1400" dirty="0"/>
          </a:p>
        </p:txBody>
      </p:sp>
      <p:sp>
        <p:nvSpPr>
          <p:cNvPr id="8" name="Numéro 2"/>
          <p:cNvSpPr txBox="1"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Étape 2"/>
          <p:cNvSpPr txBox="1"/>
          <p:nvPr/>
        </p:nvSpPr>
        <p:spPr>
          <a:xfrm>
            <a:off x="1005840" y="194767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la classe. Seules les classes de l'année courante sont proposées.</a:t>
            </a:r>
            <a:endParaRPr lang="en-US" sz="1400" dirty="0"/>
          </a:p>
        </p:txBody>
      </p:sp>
      <p:sp>
        <p:nvSpPr>
          <p:cNvPr id="10" name="Numéro 3"/>
          <p:cNvSpPr txBox="1"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Étape 3"/>
          <p:cNvSpPr txBox="1"/>
          <p:nvPr/>
        </p:nvSpPr>
        <p:spPr>
          <a:xfrm>
            <a:off x="1005840" y="256032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un matricule si vous en attribuez un (facultatif).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316382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Étape 4"/>
          <p:cNvSpPr txBox="1"/>
          <p:nvPr/>
        </p:nvSpPr>
        <p:spPr>
          <a:xfrm>
            <a:off x="1005840" y="3172968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Confirmer l’acceptation ».</a:t>
            </a:r>
            <a:endParaRPr lang="en-US" sz="1400" dirty="0"/>
          </a:p>
        </p:txBody>
      </p:sp>
      <p:sp>
        <p:nvSpPr>
          <p:cNvPr id="14" name="À savoir"/>
          <p:cNvSpPr/>
          <p:nvPr/>
        </p:nvSpPr>
        <p:spPr>
          <a:xfrm>
            <a:off x="548640" y="533095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5" name="Texte à savoir"/>
          <p:cNvSpPr txBox="1"/>
          <p:nvPr/>
        </p:nvSpPr>
        <p:spPr>
          <a:xfrm>
            <a:off x="777240" y="5422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Créés automatiquement : l'élève, son parent, son inscription, les factures d'écolage du niveau et la facture d'inscription (impayée). Le matricule sert à la carte scolaire et au bordereau.</a:t>
            </a:r>
            <a:endParaRPr lang="en-US" sz="1400" dirty="0"/>
          </a:p>
        </p:txBody>
      </p:sp>
      <p:sp>
        <p:nvSpPr>
          <p:cNvPr id="16" name="Cadre de la capture"/>
          <p:cNvSpPr/>
          <p:nvPr/>
        </p:nvSpPr>
        <p:spPr>
          <a:xfrm>
            <a:off x="6063844" y="1271016"/>
            <a:ext cx="4910328" cy="3950208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0" descr="Capture d'écran : Accepter une deman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8708" y="1325880"/>
            <a:ext cx="4800600" cy="3840480"/>
          </a:xfrm>
          <a:prstGeom prst="rect">
            <a:avLst/>
          </a:prstGeom>
        </p:spPr>
      </p:pic>
      <p:sp>
        <p:nvSpPr>
          <p:cNvPr id="18" name="Repère 2"/>
          <p:cNvSpPr/>
          <p:nvPr/>
        </p:nvSpPr>
        <p:spPr>
          <a:xfrm>
            <a:off x="6560363" y="2589338"/>
            <a:ext cx="3917290" cy="769896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19" name="Numéro 2"/>
          <p:cNvSpPr txBox="1"/>
          <p:nvPr/>
        </p:nvSpPr>
        <p:spPr>
          <a:xfrm>
            <a:off x="6423203" y="245217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Repère 3"/>
          <p:cNvSpPr/>
          <p:nvPr/>
        </p:nvSpPr>
        <p:spPr>
          <a:xfrm>
            <a:off x="6560363" y="3512853"/>
            <a:ext cx="3917290" cy="583723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3"/>
          <p:cNvSpPr txBox="1"/>
          <p:nvPr/>
        </p:nvSpPr>
        <p:spPr>
          <a:xfrm>
            <a:off x="6423203" y="3375693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Repère 4"/>
          <p:cNvSpPr/>
          <p:nvPr/>
        </p:nvSpPr>
        <p:spPr>
          <a:xfrm>
            <a:off x="6560363" y="4250195"/>
            <a:ext cx="3917290" cy="345643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4"/>
          <p:cNvSpPr txBox="1"/>
          <p:nvPr/>
        </p:nvSpPr>
        <p:spPr>
          <a:xfrm>
            <a:off x="6423203" y="4113035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Inscription sur place</a:t>
            </a:r>
            <a:endParaRPr lang="en-US" sz="3000" dirty="0"/>
          </a:p>
        </p:txBody>
      </p:sp>
      <p:sp>
        <p:nvSpPr>
          <p:cNvPr id="3" name="Rôle Secrétaire"/>
          <p:cNvSpPr txBox="1"/>
          <p:nvPr/>
        </p:nvSpPr>
        <p:spPr>
          <a:xfrm>
            <a:off x="10417759" y="566928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1C7E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200" dirty="0"/>
          </a:p>
        </p:txBody>
      </p:sp>
      <p:sp>
        <p:nvSpPr>
          <p:cNvPr id="4" name="Rôle Chef"/>
          <p:cNvSpPr txBox="1"/>
          <p:nvPr/>
        </p:nvSpPr>
        <p:spPr>
          <a:xfrm>
            <a:off x="9631375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5" name="Rôle Fondateur"/>
          <p:cNvSpPr txBox="1"/>
          <p:nvPr/>
        </p:nvSpPr>
        <p:spPr>
          <a:xfrm>
            <a:off x="8387791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6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Étape 1"/>
          <p:cNvSpPr txBox="1"/>
          <p:nvPr/>
        </p:nvSpPr>
        <p:spPr>
          <a:xfrm>
            <a:off x="1005840" y="1335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Inscription sur place », en haut à droite de la page Admissions.</a:t>
            </a:r>
            <a:endParaRPr lang="en-US" sz="1400" dirty="0"/>
          </a:p>
        </p:txBody>
      </p:sp>
      <p:sp>
        <p:nvSpPr>
          <p:cNvPr id="8" name="Numéro 2"/>
          <p:cNvSpPr txBox="1"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Étape 2"/>
          <p:cNvSpPr txBox="1"/>
          <p:nvPr/>
        </p:nvSpPr>
        <p:spPr>
          <a:xfrm>
            <a:off x="1005840" y="194767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Renseignez l'élève : nom, prénom, genre, naissance et niveau souhaité.</a:t>
            </a:r>
            <a:endParaRPr lang="en-US" sz="1400" dirty="0"/>
          </a:p>
        </p:txBody>
      </p:sp>
      <p:sp>
        <p:nvSpPr>
          <p:cNvPr id="10" name="Numéro 3"/>
          <p:cNvSpPr txBox="1"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Étape 3"/>
          <p:cNvSpPr txBox="1"/>
          <p:nvPr/>
        </p:nvSpPr>
        <p:spPr>
          <a:xfrm>
            <a:off x="1005840" y="256032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Renseignez le parent : nom, prénom, téléphone obligatoire.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316382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Étape 4"/>
          <p:cNvSpPr txBox="1"/>
          <p:nvPr/>
        </p:nvSpPr>
        <p:spPr>
          <a:xfrm>
            <a:off x="1005840" y="317296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Ajoutez les documents : choisissez le type, le fichier, puis « Ajouter le document ».</a:t>
            </a:r>
            <a:endParaRPr lang="en-US" sz="1400" dirty="0"/>
          </a:p>
        </p:txBody>
      </p:sp>
      <p:sp>
        <p:nvSpPr>
          <p:cNvPr id="14" name="Numéro 5"/>
          <p:cNvSpPr txBox="1"/>
          <p:nvPr/>
        </p:nvSpPr>
        <p:spPr>
          <a:xfrm>
            <a:off x="548640" y="377647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Étape 5"/>
          <p:cNvSpPr txBox="1"/>
          <p:nvPr/>
        </p:nvSpPr>
        <p:spPr>
          <a:xfrm>
            <a:off x="1005840" y="3785616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Placer en attente ».</a:t>
            </a:r>
            <a:endParaRPr lang="en-US" sz="1400" dirty="0"/>
          </a:p>
        </p:txBody>
      </p:sp>
      <p:sp>
        <p:nvSpPr>
          <p:cNvPr id="16" name="À savoir"/>
          <p:cNvSpPr/>
          <p:nvPr/>
        </p:nvSpPr>
        <p:spPr>
          <a:xfrm>
            <a:off x="548640" y="533095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7" name="Texte à savoir"/>
          <p:cNvSpPr txBox="1"/>
          <p:nvPr/>
        </p:nvSpPr>
        <p:spPr>
          <a:xfrm>
            <a:off x="777240" y="5422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demande rejoint l'onglet « En attente », exactement comme celles du formulaire public. Il reste à l'accepter pour créer l'élève.</a:t>
            </a:r>
            <a:endParaRPr lang="en-US" sz="1400" dirty="0"/>
          </a:p>
        </p:txBody>
      </p:sp>
      <p:sp>
        <p:nvSpPr>
          <p:cNvPr id="18" name="Cadre de la capture"/>
          <p:cNvSpPr/>
          <p:nvPr/>
        </p:nvSpPr>
        <p:spPr>
          <a:xfrm>
            <a:off x="6983477" y="1271016"/>
            <a:ext cx="3071062" cy="3950208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Capture d'écran : Inscription sur pl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8341" y="1325880"/>
            <a:ext cx="2961334" cy="3840480"/>
          </a:xfrm>
          <a:prstGeom prst="rect">
            <a:avLst/>
          </a:prstGeom>
        </p:spPr>
      </p:pic>
      <p:sp>
        <p:nvSpPr>
          <p:cNvPr id="20" name="Repère 2"/>
          <p:cNvSpPr/>
          <p:nvPr/>
        </p:nvSpPr>
        <p:spPr>
          <a:xfrm>
            <a:off x="7158645" y="2028691"/>
            <a:ext cx="1323346" cy="281312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2"/>
          <p:cNvSpPr txBox="1"/>
          <p:nvPr/>
        </p:nvSpPr>
        <p:spPr>
          <a:xfrm>
            <a:off x="7056629" y="1891531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Repère 3"/>
          <p:cNvSpPr/>
          <p:nvPr/>
        </p:nvSpPr>
        <p:spPr>
          <a:xfrm>
            <a:off x="7158645" y="3094728"/>
            <a:ext cx="1323346" cy="281312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3"/>
          <p:cNvSpPr txBox="1"/>
          <p:nvPr/>
        </p:nvSpPr>
        <p:spPr>
          <a:xfrm>
            <a:off x="7056629" y="295756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Repère 4"/>
          <p:cNvSpPr/>
          <p:nvPr/>
        </p:nvSpPr>
        <p:spPr>
          <a:xfrm>
            <a:off x="7158645" y="4969058"/>
            <a:ext cx="780098" cy="16657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5" name="Numéro 4"/>
          <p:cNvSpPr txBox="1"/>
          <p:nvPr/>
        </p:nvSpPr>
        <p:spPr>
          <a:xfrm>
            <a:off x="7056629" y="483189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Refuser une demande</a:t>
            </a:r>
            <a:endParaRPr lang="en-US" sz="3000" dirty="0"/>
          </a:p>
        </p:txBody>
      </p:sp>
      <p:sp>
        <p:nvSpPr>
          <p:cNvPr id="3" name="Rôle Secrétaire"/>
          <p:cNvSpPr txBox="1"/>
          <p:nvPr/>
        </p:nvSpPr>
        <p:spPr>
          <a:xfrm>
            <a:off x="10417759" y="566928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1C7E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200" dirty="0"/>
          </a:p>
        </p:txBody>
      </p:sp>
      <p:sp>
        <p:nvSpPr>
          <p:cNvPr id="4" name="Rôle Chef"/>
          <p:cNvSpPr txBox="1"/>
          <p:nvPr/>
        </p:nvSpPr>
        <p:spPr>
          <a:xfrm>
            <a:off x="9631375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5" name="Rôle Fondateur"/>
          <p:cNvSpPr txBox="1"/>
          <p:nvPr/>
        </p:nvSpPr>
        <p:spPr>
          <a:xfrm>
            <a:off x="8387791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6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Étape 1"/>
          <p:cNvSpPr txBox="1"/>
          <p:nvPr/>
        </p:nvSpPr>
        <p:spPr>
          <a:xfrm>
            <a:off x="1005840" y="1335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Refuser » sur la ligne de la demande.</a:t>
            </a:r>
            <a:endParaRPr lang="en-US" sz="1400" dirty="0"/>
          </a:p>
        </p:txBody>
      </p:sp>
      <p:sp>
        <p:nvSpPr>
          <p:cNvPr id="8" name="Numéro 2"/>
          <p:cNvSpPr txBox="1"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Étape 2"/>
          <p:cNvSpPr txBox="1"/>
          <p:nvPr/>
        </p:nvSpPr>
        <p:spPr>
          <a:xfrm>
            <a:off x="1005840" y="194767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Indiquez le motif du refus : facultatif, mais utile pour la suite.</a:t>
            </a:r>
            <a:endParaRPr lang="en-US" sz="1400" dirty="0"/>
          </a:p>
        </p:txBody>
      </p:sp>
      <p:sp>
        <p:nvSpPr>
          <p:cNvPr id="10" name="Numéro 3"/>
          <p:cNvSpPr txBox="1"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Étape 3"/>
          <p:cNvSpPr txBox="1"/>
          <p:nvPr/>
        </p:nvSpPr>
        <p:spPr>
          <a:xfrm>
            <a:off x="1005840" y="2560320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Confirmer le refus ».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29718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Étape 4"/>
          <p:cNvSpPr txBox="1"/>
          <p:nvPr/>
        </p:nvSpPr>
        <p:spPr>
          <a:xfrm>
            <a:off x="1005840" y="298094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Retrouvez la demande dans l'onglet « Refusées ».</a:t>
            </a:r>
            <a:endParaRPr lang="en-US" sz="1400" dirty="0"/>
          </a:p>
        </p:txBody>
      </p:sp>
      <p:sp>
        <p:nvSpPr>
          <p:cNvPr id="14" name="Numéro 5"/>
          <p:cNvSpPr txBox="1"/>
          <p:nvPr/>
        </p:nvSpPr>
        <p:spPr>
          <a:xfrm>
            <a:off x="548640" y="35844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Étape 5"/>
          <p:cNvSpPr txBox="1"/>
          <p:nvPr/>
        </p:nvSpPr>
        <p:spPr>
          <a:xfrm>
            <a:off x="1005840" y="359359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Remettre en attente » si vous changez d’avis.</a:t>
            </a:r>
            <a:endParaRPr lang="en-US" sz="1400" dirty="0"/>
          </a:p>
        </p:txBody>
      </p:sp>
      <p:sp>
        <p:nvSpPr>
          <p:cNvPr id="16" name="À savoir"/>
          <p:cNvSpPr/>
          <p:nvPr/>
        </p:nvSpPr>
        <p:spPr>
          <a:xfrm>
            <a:off x="548640" y="5545836"/>
            <a:ext cx="11094415" cy="745236"/>
          </a:xfrm>
          <a:prstGeom prst="roundRect">
            <a:avLst>
              <a:gd name="adj" fmla="val 12270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7" name="Texte à savoir"/>
          <p:cNvSpPr txBox="1"/>
          <p:nvPr/>
        </p:nvSpPr>
        <p:spPr>
          <a:xfrm>
            <a:off x="777240" y="5637276"/>
            <a:ext cx="106372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refus ne supprime rien : la demande peut être retraitée à tout moment.</a:t>
            </a:r>
            <a:endParaRPr lang="en-US" sz="1400" dirty="0"/>
          </a:p>
        </p:txBody>
      </p:sp>
      <p:sp>
        <p:nvSpPr>
          <p:cNvPr id="18" name="Cadre de la capture"/>
          <p:cNvSpPr/>
          <p:nvPr/>
        </p:nvSpPr>
        <p:spPr>
          <a:xfrm>
            <a:off x="5340096" y="1799155"/>
            <a:ext cx="6357823" cy="3108814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Capture d'écran : Refuser une deman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854019"/>
            <a:ext cx="6248095" cy="2999086"/>
          </a:xfrm>
          <a:prstGeom prst="rect">
            <a:avLst/>
          </a:prstGeom>
        </p:spPr>
      </p:pic>
      <p:sp>
        <p:nvSpPr>
          <p:cNvPr id="20" name="Repère 2"/>
          <p:cNvSpPr/>
          <p:nvPr/>
        </p:nvSpPr>
        <p:spPr>
          <a:xfrm>
            <a:off x="5969785" y="2791233"/>
            <a:ext cx="5098446" cy="759729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2"/>
          <p:cNvSpPr txBox="1"/>
          <p:nvPr/>
        </p:nvSpPr>
        <p:spPr>
          <a:xfrm>
            <a:off x="5832625" y="2654073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Repère 3"/>
          <p:cNvSpPr/>
          <p:nvPr/>
        </p:nvSpPr>
        <p:spPr>
          <a:xfrm>
            <a:off x="5969785" y="3750902"/>
            <a:ext cx="5098446" cy="449863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3"/>
          <p:cNvSpPr txBox="1"/>
          <p:nvPr/>
        </p:nvSpPr>
        <p:spPr>
          <a:xfrm>
            <a:off x="5832625" y="361374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: annuler une admission</a:t>
            </a:r>
            <a:endParaRPr lang="en-US" sz="3000" dirty="0"/>
          </a:p>
        </p:txBody>
      </p:sp>
      <p:sp>
        <p:nvSpPr>
          <p:cNvPr id="3" name="Cadre de la capture"/>
          <p:cNvSpPr/>
          <p:nvPr/>
        </p:nvSpPr>
        <p:spPr>
          <a:xfrm>
            <a:off x="493776" y="2656684"/>
            <a:ext cx="6144768" cy="2276153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Capture : onglet des admissions accept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11548"/>
            <a:ext cx="6035040" cy="2166425"/>
          </a:xfrm>
          <a:prstGeom prst="rect">
            <a:avLst/>
          </a:prstGeom>
        </p:spPr>
      </p:pic>
      <p:sp>
        <p:nvSpPr>
          <p:cNvPr id="5" name="Repère 1"/>
          <p:cNvSpPr/>
          <p:nvPr/>
        </p:nvSpPr>
        <p:spPr>
          <a:xfrm>
            <a:off x="5394403" y="3554261"/>
            <a:ext cx="709085" cy="15474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5257243" y="3417101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Encadré attention"/>
          <p:cNvSpPr/>
          <p:nvPr/>
        </p:nvSpPr>
        <p:spPr>
          <a:xfrm>
            <a:off x="6903720" y="1417320"/>
            <a:ext cx="4739335" cy="4754880"/>
          </a:xfrm>
          <a:prstGeom prst="roundRect">
            <a:avLst>
              <a:gd name="adj" fmla="val 2315"/>
            </a:avLst>
          </a:prstGeom>
          <a:solidFill>
            <a:srgbClr val="FFF1F1"/>
          </a:solidFill>
          <a:ln w="12700">
            <a:solidFill>
              <a:srgbClr val="F5B8B8"/>
            </a:solidFill>
            <a:prstDash val="solid"/>
          </a:ln>
        </p:spPr>
      </p:sp>
      <p:sp>
        <p:nvSpPr>
          <p:cNvPr id="8" name="Pastille FiAlertTriangle"/>
          <p:cNvSpPr/>
          <p:nvPr/>
        </p:nvSpPr>
        <p:spPr>
          <a:xfrm>
            <a:off x="7178040" y="1645920"/>
            <a:ext cx="548640" cy="548640"/>
          </a:xfrm>
          <a:prstGeom prst="ellipse">
            <a:avLst/>
          </a:prstGeom>
          <a:solidFill>
            <a:srgbClr val="E03131"/>
          </a:solidFill>
          <a:ln w="12700">
            <a:solidFill>
              <a:srgbClr val="E0313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686" y="1788566"/>
            <a:ext cx="263347" cy="263347"/>
          </a:xfrm>
          <a:prstGeom prst="rect">
            <a:avLst/>
          </a:prstGeom>
        </p:spPr>
      </p:pic>
      <p:sp>
        <p:nvSpPr>
          <p:cNvPr id="10" name="Avertissement"/>
          <p:cNvSpPr txBox="1"/>
          <p:nvPr/>
        </p:nvSpPr>
        <p:spPr>
          <a:xfrm>
            <a:off x="7909560" y="1572768"/>
            <a:ext cx="3504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« Annuler l'admission » (onglet Acceptées) défait toute l'inscription. L'action est définitive.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178040" y="2606040"/>
            <a:ext cx="4190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supprimé définitivement</a:t>
            </a:r>
            <a:endParaRPr lang="en-US" sz="1600" dirty="0"/>
          </a:p>
        </p:txBody>
      </p:sp>
      <p:sp>
        <p:nvSpPr>
          <p:cNvPr id="12" name="Éléments supprimés"/>
          <p:cNvSpPr txBox="1"/>
          <p:nvPr/>
        </p:nvSpPr>
        <p:spPr>
          <a:xfrm>
            <a:off x="7178040" y="2971800"/>
            <a:ext cx="419069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✕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fiche de l'élève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✕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factures et ses paiements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✕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notes et ses absences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✕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emprunts de livres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✕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messages aux parents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✕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parent, s'il n'est lié à aucun autre élève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4572000"/>
            <a:ext cx="4190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reste</a:t>
            </a:r>
            <a:endParaRPr lang="en-US" sz="1600" dirty="0"/>
          </a:p>
        </p:txBody>
      </p:sp>
      <p:sp>
        <p:nvSpPr>
          <p:cNvPr id="14" name="Éléments conservés"/>
          <p:cNvSpPr txBox="1"/>
          <p:nvPr/>
        </p:nvSpPr>
        <p:spPr>
          <a:xfrm>
            <a:off x="7178040" y="4919472"/>
            <a:ext cx="4190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demande revient « En attente »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ligne dans « Historique des annulations » indique ce qui a été supprimé</a:t>
            </a:r>
            <a:endParaRPr lang="en-US" sz="1400" dirty="0"/>
          </a:p>
        </p:txBody>
      </p:sp>
      <p:sp>
        <p:nvSpPr>
          <p:cNvPr id="15" name="Conseil"/>
          <p:cNvSpPr txBox="1"/>
          <p:nvPr/>
        </p:nvSpPr>
        <p:spPr>
          <a:xfrm>
            <a:off x="7178040" y="5623560"/>
            <a:ext cx="4190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d'annuler : vérifiez les paiements déjà encaissés, car ils sont supprimés avec l'élève.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neau 1"/>
          <p:cNvSpPr/>
          <p:nvPr/>
        </p:nvSpPr>
        <p:spPr>
          <a:xfrm>
            <a:off x="7498080" y="1234440"/>
            <a:ext cx="4389120" cy="43891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Anneau 2"/>
          <p:cNvSpPr/>
          <p:nvPr/>
        </p:nvSpPr>
        <p:spPr>
          <a:xfrm>
            <a:off x="8090611" y="1826971"/>
            <a:ext cx="3204058" cy="3204058"/>
          </a:xfrm>
          <a:prstGeom prst="ellipse">
            <a:avLst/>
          </a:prstGeom>
          <a:solidFill>
            <a:schemeClr val="accent1">
              <a:alpha val="2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nneau 3"/>
          <p:cNvSpPr/>
          <p:nvPr/>
        </p:nvSpPr>
        <p:spPr>
          <a:xfrm>
            <a:off x="8683142" y="2419502"/>
            <a:ext cx="2018995" cy="2018995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entre de la cible"/>
          <p:cNvSpPr/>
          <p:nvPr/>
        </p:nvSpPr>
        <p:spPr>
          <a:xfrm>
            <a:off x="9275674" y="3012034"/>
            <a:ext cx="833933" cy="83393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Numéro de chapitre"/>
          <p:cNvSpPr txBox="1"/>
          <p:nvPr/>
        </p:nvSpPr>
        <p:spPr>
          <a:xfrm>
            <a:off x="82296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4</a:t>
            </a:r>
            <a:endParaRPr lang="en-US" sz="18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22960" y="16916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Inscrire, encaisser, éditer la carte</a:t>
            </a:r>
            <a:endParaRPr lang="en-US" sz="4400" dirty="0"/>
          </a:p>
        </p:txBody>
      </p:sp>
      <p:sp>
        <p:nvSpPr>
          <p:cNvPr id="8" name="Contenu du chapitre"/>
          <p:cNvSpPr txBox="1"/>
          <p:nvPr/>
        </p:nvSpPr>
        <p:spPr>
          <a:xfrm>
            <a:off x="822960" y="338328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fiche élève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l'inscription ou la réinscription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et encaissements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Bordereau journalier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scolaire</a:t>
            </a:r>
            <a:endParaRPr lang="en-US" sz="1800" dirty="0"/>
          </a:p>
        </p:txBody>
      </p:sp>
      <p:sp>
        <p:nvSpPr>
          <p:cNvPr id="9" name="Rôles concernés"/>
          <p:cNvSpPr txBox="1"/>
          <p:nvPr/>
        </p:nvSpPr>
        <p:spPr>
          <a:xfrm>
            <a:off x="822960" y="5715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: Fondateur, Chef, Comptable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liste des élèves</a:t>
            </a:r>
            <a:endParaRPr lang="en-US" sz="3000" dirty="0"/>
          </a:p>
        </p:txBody>
      </p:sp>
      <p:sp>
        <p:nvSpPr>
          <p:cNvPr id="3" name="Rôle Tous"/>
          <p:cNvSpPr txBox="1"/>
          <p:nvPr/>
        </p:nvSpPr>
        <p:spPr>
          <a:xfrm>
            <a:off x="10051999" y="566928"/>
            <a:ext cx="1591056" cy="329184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rôles</a:t>
            </a:r>
            <a:endParaRPr lang="en-US" sz="1200" dirty="0"/>
          </a:p>
        </p:txBody>
      </p:sp>
      <p:sp>
        <p:nvSpPr>
          <p:cNvPr id="4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Étape 1"/>
          <p:cNvSpPr txBox="1"/>
          <p:nvPr/>
        </p:nvSpPr>
        <p:spPr>
          <a:xfrm>
            <a:off x="1005840" y="1335024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Élèves › Élèves.</a:t>
            </a:r>
            <a:endParaRPr lang="en-US" sz="1400" dirty="0"/>
          </a:p>
        </p:txBody>
      </p:sp>
      <p:sp>
        <p:nvSpPr>
          <p:cNvPr id="6" name="Numéro 2"/>
          <p:cNvSpPr txBox="1"/>
          <p:nvPr/>
        </p:nvSpPr>
        <p:spPr>
          <a:xfrm>
            <a:off x="548640" y="17465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Étape 2"/>
          <p:cNvSpPr txBox="1"/>
          <p:nvPr/>
        </p:nvSpPr>
        <p:spPr>
          <a:xfrm>
            <a:off x="1005840" y="175564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Recherchez par nom ou matricule, ou filtrez par classe.</a:t>
            </a:r>
            <a:endParaRPr lang="en-US" sz="1400" dirty="0"/>
          </a:p>
        </p:txBody>
      </p:sp>
      <p:sp>
        <p:nvSpPr>
          <p:cNvPr id="8" name="Numéro 3"/>
          <p:cNvSpPr txBox="1"/>
          <p:nvPr/>
        </p:nvSpPr>
        <p:spPr>
          <a:xfrm>
            <a:off x="548640" y="235915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Étape 3"/>
          <p:cNvSpPr txBox="1"/>
          <p:nvPr/>
        </p:nvSpPr>
        <p:spPr>
          <a:xfrm>
            <a:off x="1005840" y="236829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Voir la fiche » pour ouvrir le dossier complet.</a:t>
            </a:r>
            <a:endParaRPr lang="en-US" sz="1400" dirty="0"/>
          </a:p>
        </p:txBody>
      </p:sp>
      <p:sp>
        <p:nvSpPr>
          <p:cNvPr id="10" name="Numéro 4"/>
          <p:cNvSpPr txBox="1"/>
          <p:nvPr/>
        </p:nvSpPr>
        <p:spPr>
          <a:xfrm>
            <a:off x="548640" y="29718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Étape 4"/>
          <p:cNvSpPr txBox="1"/>
          <p:nvPr/>
        </p:nvSpPr>
        <p:spPr>
          <a:xfrm>
            <a:off x="1005840" y="2980944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Exportez la liste au format Excel.</a:t>
            </a:r>
            <a:endParaRPr lang="en-US" sz="1400" dirty="0"/>
          </a:p>
        </p:txBody>
      </p:sp>
      <p:sp>
        <p:nvSpPr>
          <p:cNvPr id="12" name="À savoir"/>
          <p:cNvSpPr/>
          <p:nvPr/>
        </p:nvSpPr>
        <p:spPr>
          <a:xfrm>
            <a:off x="548640" y="533095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3" name="Texte à savoir"/>
          <p:cNvSpPr txBox="1"/>
          <p:nvPr/>
        </p:nvSpPr>
        <p:spPr>
          <a:xfrm>
            <a:off x="777240" y="5422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élève ne se crée pas ici : il naît d'une admission acceptée (bouton « Nouvel élève (via Admissions) »). Un enseignant ne voit que les élèves de ses classes.</a:t>
            </a:r>
            <a:endParaRPr lang="en-US" sz="1400" dirty="0"/>
          </a:p>
        </p:txBody>
      </p:sp>
      <p:sp>
        <p:nvSpPr>
          <p:cNvPr id="14" name="Cadre de la capture"/>
          <p:cNvSpPr/>
          <p:nvPr/>
        </p:nvSpPr>
        <p:spPr>
          <a:xfrm>
            <a:off x="5340096" y="1271016"/>
            <a:ext cx="6357823" cy="3233776"/>
          </a:xfrm>
          <a:prstGeom prst="roundRect">
            <a:avLst>
              <a:gd name="adj" fmla="val 1697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0" descr="Capture d'écran : La liste des élèv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6248095" cy="3124048"/>
          </a:xfrm>
          <a:prstGeom prst="rect">
            <a:avLst/>
          </a:prstGeom>
        </p:spPr>
      </p:pic>
      <p:sp>
        <p:nvSpPr>
          <p:cNvPr id="16" name="Repère 2"/>
          <p:cNvSpPr/>
          <p:nvPr/>
        </p:nvSpPr>
        <p:spPr>
          <a:xfrm>
            <a:off x="5604276" y="1995693"/>
            <a:ext cx="1083212" cy="18838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17" name="Numéro 2"/>
          <p:cNvSpPr txBox="1"/>
          <p:nvPr/>
        </p:nvSpPr>
        <p:spPr>
          <a:xfrm>
            <a:off x="5467116" y="1858533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Repère 3"/>
          <p:cNvSpPr/>
          <p:nvPr/>
        </p:nvSpPr>
        <p:spPr>
          <a:xfrm>
            <a:off x="10136795" y="2501650"/>
            <a:ext cx="430243" cy="109891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19" name="Numéro 3"/>
          <p:cNvSpPr txBox="1"/>
          <p:nvPr/>
        </p:nvSpPr>
        <p:spPr>
          <a:xfrm>
            <a:off x="9999635" y="236449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Repère 4"/>
          <p:cNvSpPr/>
          <p:nvPr/>
        </p:nvSpPr>
        <p:spPr>
          <a:xfrm>
            <a:off x="9463139" y="1723581"/>
            <a:ext cx="822385" cy="18838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4"/>
          <p:cNvSpPr txBox="1"/>
          <p:nvPr/>
        </p:nvSpPr>
        <p:spPr>
          <a:xfrm>
            <a:off x="9325979" y="1586421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fiche d'un élève</a:t>
            </a:r>
            <a:endParaRPr lang="en-US" sz="3000" dirty="0"/>
          </a:p>
        </p:txBody>
      </p:sp>
      <p:sp>
        <p:nvSpPr>
          <p:cNvPr id="3" name="Rôle Tous"/>
          <p:cNvSpPr txBox="1"/>
          <p:nvPr/>
        </p:nvSpPr>
        <p:spPr>
          <a:xfrm>
            <a:off x="10051999" y="566928"/>
            <a:ext cx="1591056" cy="329184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rôles</a:t>
            </a:r>
            <a:endParaRPr lang="en-US" sz="1200" dirty="0"/>
          </a:p>
        </p:txBody>
      </p:sp>
      <p:sp>
        <p:nvSpPr>
          <p:cNvPr id="4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Étape 1"/>
          <p:cNvSpPr txBox="1"/>
          <p:nvPr/>
        </p:nvSpPr>
        <p:spPr>
          <a:xfrm>
            <a:off x="1005840" y="1335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haut : classe actuelle, absences et retards de l’année, solde dû.</a:t>
            </a:r>
            <a:endParaRPr lang="en-US" sz="1400" dirty="0"/>
          </a:p>
        </p:txBody>
      </p:sp>
      <p:sp>
        <p:nvSpPr>
          <p:cNvPr id="6" name="Numéro 2"/>
          <p:cNvSpPr txBox="1"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Étape 2"/>
          <p:cNvSpPr txBox="1"/>
          <p:nvPr/>
        </p:nvSpPr>
        <p:spPr>
          <a:xfrm>
            <a:off x="1005840" y="194767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Affecter à une classe » inscrit l'élève lorsqu'il n'est pas encore placé.</a:t>
            </a:r>
            <a:endParaRPr lang="en-US" sz="1400" dirty="0"/>
          </a:p>
        </p:txBody>
      </p:sp>
      <p:sp>
        <p:nvSpPr>
          <p:cNvPr id="8" name="Numéro 3"/>
          <p:cNvSpPr txBox="1"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Étape 3"/>
          <p:cNvSpPr txBox="1"/>
          <p:nvPr/>
        </p:nvSpPr>
        <p:spPr>
          <a:xfrm>
            <a:off x="1005840" y="256032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Carte scolaire » gère la photo et génère la carte.</a:t>
            </a:r>
            <a:endParaRPr lang="en-US" sz="1400" dirty="0"/>
          </a:p>
        </p:txBody>
      </p:sp>
      <p:sp>
        <p:nvSpPr>
          <p:cNvPr id="10" name="Numéro 4"/>
          <p:cNvSpPr txBox="1"/>
          <p:nvPr/>
        </p:nvSpPr>
        <p:spPr>
          <a:xfrm>
            <a:off x="548640" y="316382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Étape 4"/>
          <p:cNvSpPr txBox="1"/>
          <p:nvPr/>
        </p:nvSpPr>
        <p:spPr>
          <a:xfrm>
            <a:off x="1005840" y="317296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Inscription / réinscription » permet d'encaisser ces frais.</a:t>
            </a:r>
            <a:endParaRPr lang="en-US" sz="1400" dirty="0"/>
          </a:p>
        </p:txBody>
      </p:sp>
      <p:sp>
        <p:nvSpPr>
          <p:cNvPr id="12" name="Numéro 5"/>
          <p:cNvSpPr txBox="1"/>
          <p:nvPr/>
        </p:nvSpPr>
        <p:spPr>
          <a:xfrm>
            <a:off x="548640" y="377647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Étape 5"/>
          <p:cNvSpPr txBox="1"/>
          <p:nvPr/>
        </p:nvSpPr>
        <p:spPr>
          <a:xfrm>
            <a:off x="1005840" y="378561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Factures » liste les factures et les paiements.</a:t>
            </a:r>
            <a:endParaRPr lang="en-US" sz="1400" dirty="0"/>
          </a:p>
        </p:txBody>
      </p:sp>
      <p:sp>
        <p:nvSpPr>
          <p:cNvPr id="14" name="À savoir"/>
          <p:cNvSpPr/>
          <p:nvPr/>
        </p:nvSpPr>
        <p:spPr>
          <a:xfrm>
            <a:off x="548640" y="5545836"/>
            <a:ext cx="11094415" cy="745236"/>
          </a:xfrm>
          <a:prstGeom prst="roundRect">
            <a:avLst>
              <a:gd name="adj" fmla="val 12270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5" name="Texte à savoir"/>
          <p:cNvSpPr txBox="1"/>
          <p:nvPr/>
        </p:nvSpPr>
        <p:spPr>
          <a:xfrm>
            <a:off x="777240" y="5637276"/>
            <a:ext cx="106372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bas : bulletin de notes par trimestre, et parents ou tuteurs liés à l'élève.</a:t>
            </a:r>
            <a:endParaRPr lang="en-US" sz="1400" dirty="0"/>
          </a:p>
        </p:txBody>
      </p:sp>
      <p:sp>
        <p:nvSpPr>
          <p:cNvPr id="16" name="Cadre de la capture"/>
          <p:cNvSpPr/>
          <p:nvPr/>
        </p:nvSpPr>
        <p:spPr>
          <a:xfrm>
            <a:off x="5340096" y="1736674"/>
            <a:ext cx="6357823" cy="3233776"/>
          </a:xfrm>
          <a:prstGeom prst="roundRect">
            <a:avLst>
              <a:gd name="adj" fmla="val 1697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0" descr="Capture d'écran : La fiche d'un élè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791538"/>
            <a:ext cx="6248095" cy="3124048"/>
          </a:xfrm>
          <a:prstGeom prst="rect">
            <a:avLst/>
          </a:prstGeom>
        </p:spPr>
      </p:pic>
      <p:sp>
        <p:nvSpPr>
          <p:cNvPr id="18" name="Repère 2"/>
          <p:cNvSpPr/>
          <p:nvPr/>
        </p:nvSpPr>
        <p:spPr>
          <a:xfrm>
            <a:off x="5693236" y="2059398"/>
            <a:ext cx="5777133" cy="136546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19" name="Numéro 2"/>
          <p:cNvSpPr txBox="1"/>
          <p:nvPr/>
        </p:nvSpPr>
        <p:spPr>
          <a:xfrm>
            <a:off x="5556076" y="192223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Repère 3"/>
          <p:cNvSpPr/>
          <p:nvPr/>
        </p:nvSpPr>
        <p:spPr>
          <a:xfrm>
            <a:off x="5693236" y="2708769"/>
            <a:ext cx="5777133" cy="136546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3"/>
          <p:cNvSpPr txBox="1"/>
          <p:nvPr/>
        </p:nvSpPr>
        <p:spPr>
          <a:xfrm>
            <a:off x="5556076" y="2571609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Repère 4"/>
          <p:cNvSpPr/>
          <p:nvPr/>
        </p:nvSpPr>
        <p:spPr>
          <a:xfrm>
            <a:off x="5693236" y="3839569"/>
            <a:ext cx="5777133" cy="136546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4"/>
          <p:cNvSpPr txBox="1"/>
          <p:nvPr/>
        </p:nvSpPr>
        <p:spPr>
          <a:xfrm>
            <a:off x="5556076" y="3702409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Repère 5"/>
          <p:cNvSpPr/>
          <p:nvPr/>
        </p:nvSpPr>
        <p:spPr>
          <a:xfrm>
            <a:off x="5693236" y="4536527"/>
            <a:ext cx="5777133" cy="136546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5" name="Numéro 5"/>
          <p:cNvSpPr txBox="1"/>
          <p:nvPr/>
        </p:nvSpPr>
        <p:spPr>
          <a:xfrm>
            <a:off x="5556076" y="4399367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Payer l'inscription depuis la fiche</a:t>
            </a:r>
            <a:endParaRPr lang="en-US" sz="3000" dirty="0"/>
          </a:p>
        </p:txBody>
      </p:sp>
      <p:sp>
        <p:nvSpPr>
          <p:cNvPr id="3" name="Rôle Comptable"/>
          <p:cNvSpPr txBox="1"/>
          <p:nvPr/>
        </p:nvSpPr>
        <p:spPr>
          <a:xfrm>
            <a:off x="10509199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</a:t>
            </a:r>
            <a:endParaRPr lang="en-US" sz="1200" dirty="0"/>
          </a:p>
        </p:txBody>
      </p:sp>
      <p:sp>
        <p:nvSpPr>
          <p:cNvPr id="4" name="Rôle Chef"/>
          <p:cNvSpPr txBox="1"/>
          <p:nvPr/>
        </p:nvSpPr>
        <p:spPr>
          <a:xfrm>
            <a:off x="9722815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5" name="Rôle Fondateur"/>
          <p:cNvSpPr txBox="1"/>
          <p:nvPr/>
        </p:nvSpPr>
        <p:spPr>
          <a:xfrm>
            <a:off x="8479231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6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Étape 1"/>
          <p:cNvSpPr txBox="1"/>
          <p:nvPr/>
        </p:nvSpPr>
        <p:spPr>
          <a:xfrm>
            <a:off x="1005840" y="1335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« Inscription / réinscription », cliquez sur « Payer l'inscription ».</a:t>
            </a:r>
            <a:endParaRPr lang="en-US" sz="1400" dirty="0"/>
          </a:p>
        </p:txBody>
      </p:sp>
      <p:sp>
        <p:nvSpPr>
          <p:cNvPr id="8" name="Numéro 2"/>
          <p:cNvSpPr txBox="1"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Étape 2"/>
          <p:cNvSpPr txBox="1"/>
          <p:nvPr/>
        </p:nvSpPr>
        <p:spPr>
          <a:xfrm>
            <a:off x="1005840" y="194767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le type d'opération : Inscription ou Réinscription.</a:t>
            </a:r>
            <a:endParaRPr lang="en-US" sz="1400" dirty="0"/>
          </a:p>
        </p:txBody>
      </p:sp>
      <p:sp>
        <p:nvSpPr>
          <p:cNvPr id="10" name="Numéro 3"/>
          <p:cNvSpPr txBox="1"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Étape 3"/>
          <p:cNvSpPr txBox="1"/>
          <p:nvPr/>
        </p:nvSpPr>
        <p:spPr>
          <a:xfrm>
            <a:off x="1005840" y="256032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 le montant : il reprend exactement les frais du niveau de la classe.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316382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Étape 4"/>
          <p:cNvSpPr txBox="1"/>
          <p:nvPr/>
        </p:nvSpPr>
        <p:spPr>
          <a:xfrm>
            <a:off x="1005840" y="317296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le mode de paiement : Espèces, Chèque, Virement ou Autre.</a:t>
            </a:r>
            <a:endParaRPr lang="en-US" sz="1400" dirty="0"/>
          </a:p>
        </p:txBody>
      </p:sp>
      <p:sp>
        <p:nvSpPr>
          <p:cNvPr id="14" name="Numéro 5"/>
          <p:cNvSpPr txBox="1"/>
          <p:nvPr/>
        </p:nvSpPr>
        <p:spPr>
          <a:xfrm>
            <a:off x="548640" y="377647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Étape 5"/>
          <p:cNvSpPr txBox="1"/>
          <p:nvPr/>
        </p:nvSpPr>
        <p:spPr>
          <a:xfrm>
            <a:off x="1005840" y="378561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Confirmer le paiement », puis « Voir le reçu ».</a:t>
            </a:r>
            <a:endParaRPr lang="en-US" sz="1400" dirty="0"/>
          </a:p>
        </p:txBody>
      </p:sp>
      <p:sp>
        <p:nvSpPr>
          <p:cNvPr id="16" name="À savoir"/>
          <p:cNvSpPr/>
          <p:nvPr/>
        </p:nvSpPr>
        <p:spPr>
          <a:xfrm>
            <a:off x="548640" y="533095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7" name="Texte à savoir"/>
          <p:cNvSpPr txBox="1"/>
          <p:nvPr/>
        </p:nvSpPr>
        <p:spPr>
          <a:xfrm>
            <a:off x="777240" y="5422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type ne peut plus être changé après un premier versement. Le montant n'est pas modifiable : il vient des frais définis par niveau.</a:t>
            </a:r>
            <a:endParaRPr lang="en-US" sz="1400" dirty="0"/>
          </a:p>
        </p:txBody>
      </p:sp>
      <p:sp>
        <p:nvSpPr>
          <p:cNvPr id="18" name="Cadre de la capture"/>
          <p:cNvSpPr/>
          <p:nvPr/>
        </p:nvSpPr>
        <p:spPr>
          <a:xfrm>
            <a:off x="6002297" y="1271016"/>
            <a:ext cx="5033420" cy="3950208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Capture d'écran : Payer l'inscription depuis la fich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161" y="1325880"/>
            <a:ext cx="4923692" cy="3840480"/>
          </a:xfrm>
          <a:prstGeom prst="rect">
            <a:avLst/>
          </a:prstGeom>
        </p:spPr>
      </p:pic>
      <p:sp>
        <p:nvSpPr>
          <p:cNvPr id="20" name="Repère 2"/>
          <p:cNvSpPr/>
          <p:nvPr/>
        </p:nvSpPr>
        <p:spPr>
          <a:xfrm>
            <a:off x="6510141" y="2064434"/>
            <a:ext cx="4017733" cy="199871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2"/>
          <p:cNvSpPr txBox="1"/>
          <p:nvPr/>
        </p:nvSpPr>
        <p:spPr>
          <a:xfrm>
            <a:off x="6372981" y="1927274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Repère 4"/>
          <p:cNvSpPr/>
          <p:nvPr/>
        </p:nvSpPr>
        <p:spPr>
          <a:xfrm>
            <a:off x="6510141" y="3694945"/>
            <a:ext cx="4017733" cy="59869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4"/>
          <p:cNvSpPr txBox="1"/>
          <p:nvPr/>
        </p:nvSpPr>
        <p:spPr>
          <a:xfrm>
            <a:off x="6372981" y="3557785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Repère 5"/>
          <p:cNvSpPr/>
          <p:nvPr/>
        </p:nvSpPr>
        <p:spPr>
          <a:xfrm>
            <a:off x="6510141" y="4451194"/>
            <a:ext cx="4017733" cy="354506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5" name="Numéro 5"/>
          <p:cNvSpPr txBox="1"/>
          <p:nvPr/>
        </p:nvSpPr>
        <p:spPr>
          <a:xfrm>
            <a:off x="6372981" y="4314034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 inscription/réinscription</a:t>
            </a:r>
            <a:endParaRPr lang="en-US" sz="3000" dirty="0"/>
          </a:p>
        </p:txBody>
      </p:sp>
      <p:sp>
        <p:nvSpPr>
          <p:cNvPr id="3" name="Rôle Comptable"/>
          <p:cNvSpPr txBox="1"/>
          <p:nvPr/>
        </p:nvSpPr>
        <p:spPr>
          <a:xfrm>
            <a:off x="10509199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</a:t>
            </a:r>
            <a:endParaRPr lang="en-US" sz="1200" dirty="0"/>
          </a:p>
        </p:txBody>
      </p:sp>
      <p:sp>
        <p:nvSpPr>
          <p:cNvPr id="4" name="Rôle Chef"/>
          <p:cNvSpPr txBox="1"/>
          <p:nvPr/>
        </p:nvSpPr>
        <p:spPr>
          <a:xfrm>
            <a:off x="9722815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5" name="Rôle Fondateur"/>
          <p:cNvSpPr txBox="1"/>
          <p:nvPr/>
        </p:nvSpPr>
        <p:spPr>
          <a:xfrm>
            <a:off x="8479231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6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Étape 1"/>
          <p:cNvSpPr txBox="1"/>
          <p:nvPr/>
        </p:nvSpPr>
        <p:spPr>
          <a:xfrm>
            <a:off x="1005840" y="1335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Finances › Paiement inscription/réinscription.</a:t>
            </a:r>
            <a:endParaRPr lang="en-US" sz="1400" dirty="0"/>
          </a:p>
        </p:txBody>
      </p:sp>
      <p:sp>
        <p:nvSpPr>
          <p:cNvPr id="8" name="Numéro 2"/>
          <p:cNvSpPr txBox="1"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Étape 2"/>
          <p:cNvSpPr txBox="1"/>
          <p:nvPr/>
        </p:nvSpPr>
        <p:spPr>
          <a:xfrm>
            <a:off x="1005840" y="194767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Filtrez par niveau, classe et état (« À payer » par défaut), ou recherchez un élève.</a:t>
            </a:r>
            <a:endParaRPr lang="en-US" sz="1400" dirty="0"/>
          </a:p>
        </p:txBody>
      </p:sp>
      <p:sp>
        <p:nvSpPr>
          <p:cNvPr id="10" name="Numéro 3"/>
          <p:cNvSpPr txBox="1"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Étape 3"/>
          <p:cNvSpPr txBox="1"/>
          <p:nvPr/>
        </p:nvSpPr>
        <p:spPr>
          <a:xfrm>
            <a:off x="1005840" y="256032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Lisez les compteurs : à payer, restant à encaisser, payées, déjà encaissé.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316382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Étape 4"/>
          <p:cNvSpPr txBox="1"/>
          <p:nvPr/>
        </p:nvSpPr>
        <p:spPr>
          <a:xfrm>
            <a:off x="1005840" y="317296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Contrôlez le type d'opération : Inscription ou Réinscription.</a:t>
            </a:r>
            <a:endParaRPr lang="en-US" sz="1400" dirty="0"/>
          </a:p>
        </p:txBody>
      </p:sp>
      <p:sp>
        <p:nvSpPr>
          <p:cNvPr id="14" name="Numéro 5"/>
          <p:cNvSpPr txBox="1"/>
          <p:nvPr/>
        </p:nvSpPr>
        <p:spPr>
          <a:xfrm>
            <a:off x="548640" y="377647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Étape 5"/>
          <p:cNvSpPr txBox="1"/>
          <p:nvPr/>
        </p:nvSpPr>
        <p:spPr>
          <a:xfrm>
            <a:off x="1005840" y="378561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Payer » : la même fenêtre que sur la fiche s’ouvre.</a:t>
            </a:r>
            <a:endParaRPr lang="en-US" sz="1400" dirty="0"/>
          </a:p>
        </p:txBody>
      </p:sp>
      <p:sp>
        <p:nvSpPr>
          <p:cNvPr id="16" name="À savoir"/>
          <p:cNvSpPr/>
          <p:nvPr/>
        </p:nvSpPr>
        <p:spPr>
          <a:xfrm>
            <a:off x="548640" y="533095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7" name="Texte à savoir"/>
          <p:cNvSpPr txBox="1"/>
          <p:nvPr/>
        </p:nvSpPr>
        <p:spPr>
          <a:xfrm>
            <a:off x="777240" y="5422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États possibles : À payer, Payée, Frais non définis. Dans ce dernier cas, définissez les frais du niveau dans Finances › Tarifs.</a:t>
            </a:r>
            <a:endParaRPr lang="en-US" sz="1400" dirty="0"/>
          </a:p>
        </p:txBody>
      </p:sp>
      <p:sp>
        <p:nvSpPr>
          <p:cNvPr id="18" name="Cadre de la capture"/>
          <p:cNvSpPr/>
          <p:nvPr/>
        </p:nvSpPr>
        <p:spPr>
          <a:xfrm>
            <a:off x="5340096" y="1271016"/>
            <a:ext cx="6357823" cy="3309972"/>
          </a:xfrm>
          <a:prstGeom prst="roundRect">
            <a:avLst>
              <a:gd name="adj" fmla="val 1658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Capture d'écran : Paiement inscription/réinscrip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6248095" cy="3200244"/>
          </a:xfrm>
          <a:prstGeom prst="rect">
            <a:avLst/>
          </a:prstGeom>
        </p:spPr>
      </p:pic>
      <p:sp>
        <p:nvSpPr>
          <p:cNvPr id="20" name="Repère 2"/>
          <p:cNvSpPr/>
          <p:nvPr/>
        </p:nvSpPr>
        <p:spPr>
          <a:xfrm>
            <a:off x="8930468" y="1961286"/>
            <a:ext cx="1523926" cy="46325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2"/>
          <p:cNvSpPr txBox="1"/>
          <p:nvPr/>
        </p:nvSpPr>
        <p:spPr>
          <a:xfrm>
            <a:off x="8793308" y="182412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Repère 3"/>
          <p:cNvSpPr/>
          <p:nvPr/>
        </p:nvSpPr>
        <p:spPr>
          <a:xfrm>
            <a:off x="5829279" y="2675983"/>
            <a:ext cx="1817281" cy="15465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3"/>
          <p:cNvSpPr txBox="1"/>
          <p:nvPr/>
        </p:nvSpPr>
        <p:spPr>
          <a:xfrm>
            <a:off x="5692119" y="2538823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Repère 4"/>
          <p:cNvSpPr/>
          <p:nvPr/>
        </p:nvSpPr>
        <p:spPr>
          <a:xfrm>
            <a:off x="8874987" y="3463067"/>
            <a:ext cx="1312481" cy="260496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5" name="Numéro 4"/>
          <p:cNvSpPr txBox="1"/>
          <p:nvPr/>
        </p:nvSpPr>
        <p:spPr>
          <a:xfrm>
            <a:off x="8737827" y="3325907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Factures et encaissements</a:t>
            </a:r>
            <a:endParaRPr lang="en-US" sz="3000" dirty="0"/>
          </a:p>
        </p:txBody>
      </p:sp>
      <p:sp>
        <p:nvSpPr>
          <p:cNvPr id="3" name="Rôle Comptable"/>
          <p:cNvSpPr txBox="1"/>
          <p:nvPr/>
        </p:nvSpPr>
        <p:spPr>
          <a:xfrm>
            <a:off x="10509199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</a:t>
            </a:r>
            <a:endParaRPr lang="en-US" sz="1200" dirty="0"/>
          </a:p>
        </p:txBody>
      </p:sp>
      <p:sp>
        <p:nvSpPr>
          <p:cNvPr id="4" name="Rôle Chef"/>
          <p:cNvSpPr txBox="1"/>
          <p:nvPr/>
        </p:nvSpPr>
        <p:spPr>
          <a:xfrm>
            <a:off x="9722815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5" name="Rôle Fondateur"/>
          <p:cNvSpPr txBox="1"/>
          <p:nvPr/>
        </p:nvSpPr>
        <p:spPr>
          <a:xfrm>
            <a:off x="8479231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6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Étape 1"/>
          <p:cNvSpPr txBox="1"/>
          <p:nvPr/>
        </p:nvSpPr>
        <p:spPr>
          <a:xfrm>
            <a:off x="1005840" y="1335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Finances › Factures : les factures impayées de l’année courante.</a:t>
            </a:r>
            <a:endParaRPr lang="en-US" sz="1400" dirty="0"/>
          </a:p>
        </p:txBody>
      </p:sp>
      <p:sp>
        <p:nvSpPr>
          <p:cNvPr id="8" name="Numéro 2"/>
          <p:cNvSpPr txBox="1"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Étape 2"/>
          <p:cNvSpPr txBox="1"/>
          <p:nvPr/>
        </p:nvSpPr>
        <p:spPr>
          <a:xfrm>
            <a:off x="1005840" y="194767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Encaisser » : saisissez le montant et le mode, puis « Enregistrer le paiement ».</a:t>
            </a:r>
            <a:endParaRPr lang="en-US" sz="1400" dirty="0"/>
          </a:p>
        </p:txBody>
      </p:sp>
      <p:sp>
        <p:nvSpPr>
          <p:cNvPr id="10" name="Numéro 3"/>
          <p:cNvSpPr txBox="1"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Étape 3"/>
          <p:cNvSpPr txBox="1"/>
          <p:nvPr/>
        </p:nvSpPr>
        <p:spPr>
          <a:xfrm>
            <a:off x="1005840" y="256032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Voir la facture » et « Voir le reçu » ouvrent les PDF à remettre à la famille.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316382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Étape 4"/>
          <p:cNvSpPr txBox="1"/>
          <p:nvPr/>
        </p:nvSpPr>
        <p:spPr>
          <a:xfrm>
            <a:off x="1005840" y="317296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Rappel SMS » prévient le parent du reste à payer.</a:t>
            </a:r>
            <a:endParaRPr lang="en-US" sz="1400" dirty="0"/>
          </a:p>
        </p:txBody>
      </p:sp>
      <p:sp>
        <p:nvSpPr>
          <p:cNvPr id="14" name="Numéro 5"/>
          <p:cNvSpPr txBox="1"/>
          <p:nvPr/>
        </p:nvSpPr>
        <p:spPr>
          <a:xfrm>
            <a:off x="548640" y="377647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Étape 5"/>
          <p:cNvSpPr txBox="1"/>
          <p:nvPr/>
        </p:nvSpPr>
        <p:spPr>
          <a:xfrm>
            <a:off x="1005840" y="378561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Mobile Money » envoie une demande de paiement au numéro du parent.</a:t>
            </a:r>
            <a:endParaRPr lang="en-US" sz="1400" dirty="0"/>
          </a:p>
        </p:txBody>
      </p:sp>
      <p:sp>
        <p:nvSpPr>
          <p:cNvPr id="16" name="Numéro 6"/>
          <p:cNvSpPr txBox="1"/>
          <p:nvPr/>
        </p:nvSpPr>
        <p:spPr>
          <a:xfrm>
            <a:off x="548640" y="43891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7" name="Étape 6"/>
          <p:cNvSpPr txBox="1"/>
          <p:nvPr/>
        </p:nvSpPr>
        <p:spPr>
          <a:xfrm>
            <a:off x="1005840" y="439826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Importez ou exportez les factures en Excel, avec le « Modèle d'import ».</a:t>
            </a:r>
            <a:endParaRPr lang="en-US" sz="1400" dirty="0"/>
          </a:p>
        </p:txBody>
      </p:sp>
      <p:sp>
        <p:nvSpPr>
          <p:cNvPr id="18" name="À savoir"/>
          <p:cNvSpPr/>
          <p:nvPr/>
        </p:nvSpPr>
        <p:spPr>
          <a:xfrm>
            <a:off x="548640" y="533095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9" name="Texte à savoir"/>
          <p:cNvSpPr txBox="1"/>
          <p:nvPr/>
        </p:nvSpPr>
        <p:spPr>
          <a:xfrm>
            <a:off x="777240" y="5422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et Mobile Money fonctionnent en mode simulation tant qu'aucun opérateur n'est branché : l'envoi est journalisé, pas transmis.</a:t>
            </a:r>
            <a:endParaRPr lang="en-US" sz="1400" dirty="0"/>
          </a:p>
        </p:txBody>
      </p:sp>
      <p:sp>
        <p:nvSpPr>
          <p:cNvPr id="20" name="Cadre de la capture"/>
          <p:cNvSpPr/>
          <p:nvPr/>
        </p:nvSpPr>
        <p:spPr>
          <a:xfrm>
            <a:off x="5340096" y="1271016"/>
            <a:ext cx="6357823" cy="3309972"/>
          </a:xfrm>
          <a:prstGeom prst="roundRect">
            <a:avLst>
              <a:gd name="adj" fmla="val 1658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Capture d'écran : Factures et encaisse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6248095" cy="3200244"/>
          </a:xfrm>
          <a:prstGeom prst="rect">
            <a:avLst/>
          </a:prstGeom>
        </p:spPr>
      </p:pic>
      <p:sp>
        <p:nvSpPr>
          <p:cNvPr id="22" name="Repère 2"/>
          <p:cNvSpPr/>
          <p:nvPr/>
        </p:nvSpPr>
        <p:spPr>
          <a:xfrm>
            <a:off x="7726566" y="2690389"/>
            <a:ext cx="605165" cy="228589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2"/>
          <p:cNvSpPr txBox="1"/>
          <p:nvPr/>
        </p:nvSpPr>
        <p:spPr>
          <a:xfrm>
            <a:off x="7589406" y="2553229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Repère 4"/>
          <p:cNvSpPr/>
          <p:nvPr/>
        </p:nvSpPr>
        <p:spPr>
          <a:xfrm>
            <a:off x="9437292" y="2690389"/>
            <a:ext cx="725174" cy="228589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5" name="Numéro 4"/>
          <p:cNvSpPr txBox="1"/>
          <p:nvPr/>
        </p:nvSpPr>
        <p:spPr>
          <a:xfrm>
            <a:off x="9300132" y="2553229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Repère 5"/>
          <p:cNvSpPr/>
          <p:nvPr/>
        </p:nvSpPr>
        <p:spPr>
          <a:xfrm>
            <a:off x="10238662" y="2690389"/>
            <a:ext cx="831849" cy="228589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7" name="Numéro 5"/>
          <p:cNvSpPr txBox="1"/>
          <p:nvPr/>
        </p:nvSpPr>
        <p:spPr>
          <a:xfrm>
            <a:off x="10101502" y="2553229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Repère 6"/>
          <p:cNvSpPr/>
          <p:nvPr/>
        </p:nvSpPr>
        <p:spPr>
          <a:xfrm>
            <a:off x="9307877" y="1961286"/>
            <a:ext cx="1262358" cy="27430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9" name="Numéro 6"/>
          <p:cNvSpPr txBox="1"/>
          <p:nvPr/>
        </p:nvSpPr>
        <p:spPr>
          <a:xfrm>
            <a:off x="9170717" y="182412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bordereau journalier</a:t>
            </a:r>
            <a:endParaRPr lang="en-US" sz="3000" dirty="0"/>
          </a:p>
        </p:txBody>
      </p:sp>
      <p:sp>
        <p:nvSpPr>
          <p:cNvPr id="3" name="Rôle Comptable"/>
          <p:cNvSpPr txBox="1"/>
          <p:nvPr/>
        </p:nvSpPr>
        <p:spPr>
          <a:xfrm>
            <a:off x="10509199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</a:t>
            </a:r>
            <a:endParaRPr lang="en-US" sz="1200" dirty="0"/>
          </a:p>
        </p:txBody>
      </p:sp>
      <p:sp>
        <p:nvSpPr>
          <p:cNvPr id="4" name="Rôle Chef"/>
          <p:cNvSpPr txBox="1"/>
          <p:nvPr/>
        </p:nvSpPr>
        <p:spPr>
          <a:xfrm>
            <a:off x="9722815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5" name="Rôle Fondateur"/>
          <p:cNvSpPr txBox="1"/>
          <p:nvPr/>
        </p:nvSpPr>
        <p:spPr>
          <a:xfrm>
            <a:off x="8479231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6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Étape 1"/>
          <p:cNvSpPr txBox="1"/>
          <p:nvPr/>
        </p:nvSpPr>
        <p:spPr>
          <a:xfrm>
            <a:off x="1005840" y="1335024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Finances › Bordereau journalier.</a:t>
            </a:r>
            <a:endParaRPr lang="en-US" sz="1400" dirty="0"/>
          </a:p>
        </p:txBody>
      </p:sp>
      <p:sp>
        <p:nvSpPr>
          <p:cNvPr id="8" name="Numéro 2"/>
          <p:cNvSpPr txBox="1"/>
          <p:nvPr/>
        </p:nvSpPr>
        <p:spPr>
          <a:xfrm>
            <a:off x="548640" y="17465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Étape 2"/>
          <p:cNvSpPr txBox="1"/>
          <p:nvPr/>
        </p:nvSpPr>
        <p:spPr>
          <a:xfrm>
            <a:off x="1005840" y="175564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la date (aujourd'hui par défaut) et, au besoin, un niveau.</a:t>
            </a:r>
            <a:endParaRPr lang="en-US" sz="1400" dirty="0"/>
          </a:p>
        </p:txBody>
      </p:sp>
      <p:sp>
        <p:nvSpPr>
          <p:cNvPr id="10" name="Numéro 3"/>
          <p:cNvSpPr txBox="1"/>
          <p:nvPr/>
        </p:nvSpPr>
        <p:spPr>
          <a:xfrm>
            <a:off x="548640" y="235915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Étape 3"/>
          <p:cNvSpPr txBox="1"/>
          <p:nvPr/>
        </p:nvSpPr>
        <p:spPr>
          <a:xfrm>
            <a:off x="1005840" y="236829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ligne par reçu : numéros de reçu et de facture, élève, type d’opération.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29718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Étape 4"/>
          <p:cNvSpPr txBox="1"/>
          <p:nvPr/>
        </p:nvSpPr>
        <p:spPr>
          <a:xfrm>
            <a:off x="1005840" y="298094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totaux du jour sont calculés en bas du tableau.</a:t>
            </a:r>
            <a:endParaRPr lang="en-US" sz="1400" dirty="0"/>
          </a:p>
        </p:txBody>
      </p:sp>
      <p:sp>
        <p:nvSpPr>
          <p:cNvPr id="14" name="Numéro 5"/>
          <p:cNvSpPr txBox="1"/>
          <p:nvPr/>
        </p:nvSpPr>
        <p:spPr>
          <a:xfrm>
            <a:off x="548640" y="35844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Étape 5"/>
          <p:cNvSpPr txBox="1"/>
          <p:nvPr/>
        </p:nvSpPr>
        <p:spPr>
          <a:xfrm>
            <a:off x="1005840" y="359359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Télécharger en Excel » pour imprimer et faire signer le bordereau.</a:t>
            </a:r>
            <a:endParaRPr lang="en-US" sz="1400" dirty="0"/>
          </a:p>
        </p:txBody>
      </p:sp>
      <p:sp>
        <p:nvSpPr>
          <p:cNvPr id="16" name="À savoir"/>
          <p:cNvSpPr/>
          <p:nvPr/>
        </p:nvSpPr>
        <p:spPr>
          <a:xfrm>
            <a:off x="548640" y="5545836"/>
            <a:ext cx="11094415" cy="745236"/>
          </a:xfrm>
          <a:prstGeom prst="roundRect">
            <a:avLst>
              <a:gd name="adj" fmla="val 12270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7" name="Texte à savoir"/>
          <p:cNvSpPr txBox="1"/>
          <p:nvPr/>
        </p:nvSpPr>
        <p:spPr>
          <a:xfrm>
            <a:off x="777240" y="5637276"/>
            <a:ext cx="106372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d'opération : Inscription, Réinscription, Écolage, Trimestre 1, 2 ou 3. Ils sont déduits de la facture payée.</a:t>
            </a:r>
            <a:endParaRPr lang="en-US" sz="1400" dirty="0"/>
          </a:p>
        </p:txBody>
      </p:sp>
      <p:sp>
        <p:nvSpPr>
          <p:cNvPr id="18" name="Cadre de la capture"/>
          <p:cNvSpPr/>
          <p:nvPr/>
        </p:nvSpPr>
        <p:spPr>
          <a:xfrm>
            <a:off x="5340096" y="1698576"/>
            <a:ext cx="6357823" cy="3309972"/>
          </a:xfrm>
          <a:prstGeom prst="roundRect">
            <a:avLst>
              <a:gd name="adj" fmla="val 1658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Capture d'écran : Le bordereau journal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753440"/>
            <a:ext cx="6248095" cy="3200244"/>
          </a:xfrm>
          <a:prstGeom prst="rect">
            <a:avLst/>
          </a:prstGeom>
        </p:spPr>
      </p:pic>
      <p:sp>
        <p:nvSpPr>
          <p:cNvPr id="20" name="Repère 2"/>
          <p:cNvSpPr/>
          <p:nvPr/>
        </p:nvSpPr>
        <p:spPr>
          <a:xfrm>
            <a:off x="9874349" y="2332532"/>
            <a:ext cx="1371533" cy="46325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2"/>
          <p:cNvSpPr txBox="1"/>
          <p:nvPr/>
        </p:nvSpPr>
        <p:spPr>
          <a:xfrm>
            <a:off x="9737189" y="219537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Repère 3"/>
          <p:cNvSpPr/>
          <p:nvPr/>
        </p:nvSpPr>
        <p:spPr>
          <a:xfrm>
            <a:off x="6576240" y="3337489"/>
            <a:ext cx="1675961" cy="560519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3"/>
          <p:cNvSpPr txBox="1"/>
          <p:nvPr/>
        </p:nvSpPr>
        <p:spPr>
          <a:xfrm>
            <a:off x="6439080" y="3200329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photo de l'élève et sa carte</a:t>
            </a:r>
            <a:endParaRPr lang="en-US" sz="3000" dirty="0"/>
          </a:p>
        </p:txBody>
      </p:sp>
      <p:sp>
        <p:nvSpPr>
          <p:cNvPr id="3" name="Rôle Secrétaire"/>
          <p:cNvSpPr txBox="1"/>
          <p:nvPr/>
        </p:nvSpPr>
        <p:spPr>
          <a:xfrm>
            <a:off x="10417759" y="566928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1C7E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200" dirty="0"/>
          </a:p>
        </p:txBody>
      </p:sp>
      <p:sp>
        <p:nvSpPr>
          <p:cNvPr id="4" name="Rôle Chef"/>
          <p:cNvSpPr txBox="1"/>
          <p:nvPr/>
        </p:nvSpPr>
        <p:spPr>
          <a:xfrm>
            <a:off x="9631375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5" name="Rôle Fondateur"/>
          <p:cNvSpPr txBox="1"/>
          <p:nvPr/>
        </p:nvSpPr>
        <p:spPr>
          <a:xfrm>
            <a:off x="8387791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6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Étape 1"/>
          <p:cNvSpPr txBox="1"/>
          <p:nvPr/>
        </p:nvSpPr>
        <p:spPr>
          <a:xfrm>
            <a:off x="1005840" y="1335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fiche, repérez le bloc « Carte scolaire ».</a:t>
            </a:r>
            <a:endParaRPr lang="en-US" sz="1400" dirty="0"/>
          </a:p>
        </p:txBody>
      </p:sp>
      <p:sp>
        <p:nvSpPr>
          <p:cNvPr id="8" name="Numéro 2"/>
          <p:cNvSpPr txBox="1"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Étape 2"/>
          <p:cNvSpPr txBox="1"/>
          <p:nvPr/>
        </p:nvSpPr>
        <p:spPr>
          <a:xfrm>
            <a:off x="1005840" y="194767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Ajouter une photo » ou « Changer la photo » : choisissez une image JPEG ou PNG.</a:t>
            </a:r>
            <a:endParaRPr lang="en-US" sz="1400" dirty="0"/>
          </a:p>
        </p:txBody>
      </p:sp>
      <p:sp>
        <p:nvSpPr>
          <p:cNvPr id="10" name="Numéro 3"/>
          <p:cNvSpPr txBox="1"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Étape 3"/>
          <p:cNvSpPr txBox="1"/>
          <p:nvPr/>
        </p:nvSpPr>
        <p:spPr>
          <a:xfrm>
            <a:off x="1005840" y="256032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photo est réduite automatiquement avant l’envoi.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316382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Étape 4"/>
          <p:cNvSpPr txBox="1"/>
          <p:nvPr/>
        </p:nvSpPr>
        <p:spPr>
          <a:xfrm>
            <a:off x="1005840" y="317296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Générer la carte (PDF) » ouvre la planche recto verso à imprimer.</a:t>
            </a:r>
            <a:endParaRPr lang="en-US" sz="1400" dirty="0"/>
          </a:p>
        </p:txBody>
      </p:sp>
      <p:sp>
        <p:nvSpPr>
          <p:cNvPr id="14" name="Numéro 5"/>
          <p:cNvSpPr txBox="1"/>
          <p:nvPr/>
        </p:nvSpPr>
        <p:spPr>
          <a:xfrm>
            <a:off x="548640" y="377647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Étape 5"/>
          <p:cNvSpPr txBox="1"/>
          <p:nvPr/>
        </p:nvSpPr>
        <p:spPr>
          <a:xfrm>
            <a:off x="1005840" y="378561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Retirer la photo » supprime celle de la fiche.</a:t>
            </a:r>
            <a:endParaRPr lang="en-US" sz="1400" dirty="0"/>
          </a:p>
        </p:txBody>
      </p:sp>
      <p:sp>
        <p:nvSpPr>
          <p:cNvPr id="16" name="À savoir"/>
          <p:cNvSpPr/>
          <p:nvPr/>
        </p:nvSpPr>
        <p:spPr>
          <a:xfrm>
            <a:off x="548640" y="5545836"/>
            <a:ext cx="11094415" cy="745236"/>
          </a:xfrm>
          <a:prstGeom prst="roundRect">
            <a:avLst>
              <a:gd name="adj" fmla="val 12270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7" name="Texte à savoir"/>
          <p:cNvSpPr txBox="1"/>
          <p:nvPr/>
        </p:nvSpPr>
        <p:spPr>
          <a:xfrm>
            <a:off x="777240" y="5637276"/>
            <a:ext cx="106372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photo de la fiche prime. À défaut, la plateforme utilise celle déposée à l'admission (JPEG ou PNG, 2 Mo maximum).</a:t>
            </a:r>
            <a:endParaRPr lang="en-US" sz="1400" dirty="0"/>
          </a:p>
        </p:txBody>
      </p:sp>
      <p:sp>
        <p:nvSpPr>
          <p:cNvPr id="18" name="Cadre de la capture"/>
          <p:cNvSpPr/>
          <p:nvPr/>
        </p:nvSpPr>
        <p:spPr>
          <a:xfrm>
            <a:off x="5340096" y="1698576"/>
            <a:ext cx="6357823" cy="3309972"/>
          </a:xfrm>
          <a:prstGeom prst="roundRect">
            <a:avLst>
              <a:gd name="adj" fmla="val 1658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Capture d'écran : La photo de l'élève et sa car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753440"/>
            <a:ext cx="6248095" cy="3200244"/>
          </a:xfrm>
          <a:prstGeom prst="rect">
            <a:avLst/>
          </a:prstGeom>
        </p:spPr>
      </p:pic>
      <p:sp>
        <p:nvSpPr>
          <p:cNvPr id="20" name="Repère 2"/>
          <p:cNvSpPr/>
          <p:nvPr/>
        </p:nvSpPr>
        <p:spPr>
          <a:xfrm>
            <a:off x="6682677" y="2474805"/>
            <a:ext cx="1282598" cy="27430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2"/>
          <p:cNvSpPr txBox="1"/>
          <p:nvPr/>
        </p:nvSpPr>
        <p:spPr>
          <a:xfrm>
            <a:off x="6545517" y="2337645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Repère 4"/>
          <p:cNvSpPr/>
          <p:nvPr/>
        </p:nvSpPr>
        <p:spPr>
          <a:xfrm>
            <a:off x="8041471" y="2474805"/>
            <a:ext cx="1504519" cy="27430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4"/>
          <p:cNvSpPr txBox="1"/>
          <p:nvPr/>
        </p:nvSpPr>
        <p:spPr>
          <a:xfrm>
            <a:off x="7904311" y="2337645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cartes d'une classe</a:t>
            </a:r>
            <a:endParaRPr lang="en-US" sz="3000" dirty="0"/>
          </a:p>
        </p:txBody>
      </p:sp>
      <p:sp>
        <p:nvSpPr>
          <p:cNvPr id="3" name="Rôle Secrétaire"/>
          <p:cNvSpPr txBox="1"/>
          <p:nvPr/>
        </p:nvSpPr>
        <p:spPr>
          <a:xfrm>
            <a:off x="10417759" y="566928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1C7E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200" dirty="0"/>
          </a:p>
        </p:txBody>
      </p:sp>
      <p:sp>
        <p:nvSpPr>
          <p:cNvPr id="4" name="Rôle Chef"/>
          <p:cNvSpPr txBox="1"/>
          <p:nvPr/>
        </p:nvSpPr>
        <p:spPr>
          <a:xfrm>
            <a:off x="9631375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5" name="Rôle Fondateur"/>
          <p:cNvSpPr txBox="1"/>
          <p:nvPr/>
        </p:nvSpPr>
        <p:spPr>
          <a:xfrm>
            <a:off x="8387791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6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Étape 1"/>
          <p:cNvSpPr txBox="1"/>
          <p:nvPr/>
        </p:nvSpPr>
        <p:spPr>
          <a:xfrm>
            <a:off x="1005840" y="1335024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Élèves › Cartes scolaires.</a:t>
            </a:r>
            <a:endParaRPr lang="en-US" sz="1400" dirty="0"/>
          </a:p>
        </p:txBody>
      </p:sp>
      <p:sp>
        <p:nvSpPr>
          <p:cNvPr id="8" name="Numéro 2"/>
          <p:cNvSpPr txBox="1"/>
          <p:nvPr/>
        </p:nvSpPr>
        <p:spPr>
          <a:xfrm>
            <a:off x="548640" y="17465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Étape 2"/>
          <p:cNvSpPr txBox="1"/>
          <p:nvPr/>
        </p:nvSpPr>
        <p:spPr>
          <a:xfrm>
            <a:off x="1005840" y="175564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Filtrez par niveau si besoin, puis choisissez la classe.</a:t>
            </a:r>
            <a:endParaRPr lang="en-US" sz="1400" dirty="0"/>
          </a:p>
        </p:txBody>
      </p:sp>
      <p:sp>
        <p:nvSpPr>
          <p:cNvPr id="10" name="Numéro 3"/>
          <p:cNvSpPr txBox="1"/>
          <p:nvPr/>
        </p:nvSpPr>
        <p:spPr>
          <a:xfrm>
            <a:off x="548640" y="235915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Étape 3"/>
          <p:cNvSpPr txBox="1"/>
          <p:nvPr/>
        </p:nvSpPr>
        <p:spPr>
          <a:xfrm>
            <a:off x="1005840" y="236829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Contrôlez les compteurs : élèves, élèves sans photo, nombre de planches A4.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29718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Étape 4"/>
          <p:cNvSpPr txBox="1"/>
          <p:nvPr/>
        </p:nvSpPr>
        <p:spPr>
          <a:xfrm>
            <a:off x="1005840" y="2980944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Générer les cartes (PDF) ».</a:t>
            </a:r>
            <a:endParaRPr lang="en-US" sz="1400" dirty="0"/>
          </a:p>
        </p:txBody>
      </p:sp>
      <p:sp>
        <p:nvSpPr>
          <p:cNvPr id="14" name="Numéro 5"/>
          <p:cNvSpPr txBox="1"/>
          <p:nvPr/>
        </p:nvSpPr>
        <p:spPr>
          <a:xfrm>
            <a:off x="548640" y="339242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Étape 5"/>
          <p:cNvSpPr txBox="1"/>
          <p:nvPr/>
        </p:nvSpPr>
        <p:spPr>
          <a:xfrm>
            <a:off x="1005840" y="340156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Imprimez en recto verso, feuille retournée sur le bord long, puis découpez.</a:t>
            </a:r>
            <a:endParaRPr lang="en-US" sz="1400" dirty="0"/>
          </a:p>
        </p:txBody>
      </p:sp>
      <p:sp>
        <p:nvSpPr>
          <p:cNvPr id="16" name="À savoir"/>
          <p:cNvSpPr/>
          <p:nvPr/>
        </p:nvSpPr>
        <p:spPr>
          <a:xfrm>
            <a:off x="548640" y="5545836"/>
            <a:ext cx="11094415" cy="745236"/>
          </a:xfrm>
          <a:prstGeom prst="roundRect">
            <a:avLst>
              <a:gd name="adj" fmla="val 12270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7" name="Texte à savoir"/>
          <p:cNvSpPr txBox="1"/>
          <p:nvPr/>
        </p:nvSpPr>
        <p:spPr>
          <a:xfrm>
            <a:off x="777240" y="5637276"/>
            <a:ext cx="106372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planche A4 porte 10 cartes au format 85,6 × 54 mm. Un élève sans photo reçoit une carte à cadre vide.</a:t>
            </a:r>
            <a:endParaRPr lang="en-US" sz="1400" dirty="0"/>
          </a:p>
        </p:txBody>
      </p:sp>
      <p:sp>
        <p:nvSpPr>
          <p:cNvPr id="18" name="Cadre de la capture"/>
          <p:cNvSpPr/>
          <p:nvPr/>
        </p:nvSpPr>
        <p:spPr>
          <a:xfrm>
            <a:off x="5340096" y="1698576"/>
            <a:ext cx="6357823" cy="3309972"/>
          </a:xfrm>
          <a:prstGeom prst="roundRect">
            <a:avLst>
              <a:gd name="adj" fmla="val 1658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Capture d'écran : Les cartes d'une clas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753440"/>
            <a:ext cx="6248095" cy="3200244"/>
          </a:xfrm>
          <a:prstGeom prst="rect">
            <a:avLst/>
          </a:prstGeom>
        </p:spPr>
      </p:pic>
      <p:sp>
        <p:nvSpPr>
          <p:cNvPr id="20" name="Repère 2"/>
          <p:cNvSpPr/>
          <p:nvPr/>
        </p:nvSpPr>
        <p:spPr>
          <a:xfrm>
            <a:off x="7315106" y="2388846"/>
            <a:ext cx="1981103" cy="463250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2"/>
          <p:cNvSpPr txBox="1"/>
          <p:nvPr/>
        </p:nvSpPr>
        <p:spPr>
          <a:xfrm>
            <a:off x="7177946" y="225168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Repère 3"/>
          <p:cNvSpPr/>
          <p:nvPr/>
        </p:nvSpPr>
        <p:spPr>
          <a:xfrm>
            <a:off x="8760216" y="3103543"/>
            <a:ext cx="2550075" cy="15465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3"/>
          <p:cNvSpPr txBox="1"/>
          <p:nvPr/>
        </p:nvSpPr>
        <p:spPr>
          <a:xfrm>
            <a:off x="8623056" y="2966383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Repère 4"/>
          <p:cNvSpPr/>
          <p:nvPr/>
        </p:nvSpPr>
        <p:spPr>
          <a:xfrm>
            <a:off x="9387645" y="2577789"/>
            <a:ext cx="1597503" cy="27430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5" name="Numéro 4"/>
          <p:cNvSpPr txBox="1"/>
          <p:nvPr/>
        </p:nvSpPr>
        <p:spPr>
          <a:xfrm>
            <a:off x="9250485" y="2440629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Anatomie de la carte scolaire</a:t>
            </a:r>
            <a:endParaRPr lang="en-US" sz="3000" dirty="0"/>
          </a:p>
        </p:txBody>
      </p:sp>
      <p:sp>
        <p:nvSpPr>
          <p:cNvPr id="3" name="Cadre Recto de la carte"/>
          <p:cNvSpPr/>
          <p:nvPr/>
        </p:nvSpPr>
        <p:spPr>
          <a:xfrm>
            <a:off x="493776" y="1316736"/>
            <a:ext cx="5047488" cy="3190430"/>
          </a:xfrm>
          <a:prstGeom prst="roundRect">
            <a:avLst>
              <a:gd name="adj" fmla="val 2866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Recto de la car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937760" cy="3080702"/>
          </a:xfrm>
          <a:prstGeom prst="rect">
            <a:avLst/>
          </a:prstGeom>
        </p:spPr>
      </p:pic>
      <p:sp>
        <p:nvSpPr>
          <p:cNvPr id="5" name="Cadre Verso de la carte"/>
          <p:cNvSpPr/>
          <p:nvPr/>
        </p:nvSpPr>
        <p:spPr>
          <a:xfrm>
            <a:off x="5980176" y="1316736"/>
            <a:ext cx="5047488" cy="3190430"/>
          </a:xfrm>
          <a:prstGeom prst="roundRect">
            <a:avLst>
              <a:gd name="adj" fmla="val 2866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1" descr="Verso de la car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4937760" cy="30807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58946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RECTO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035040" y="458946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VERSO</a:t>
            </a:r>
            <a:endParaRPr lang="en-US" sz="1200" dirty="0"/>
          </a:p>
        </p:txBody>
      </p:sp>
      <p:sp>
        <p:nvSpPr>
          <p:cNvPr id="9" name="Numéro 1"/>
          <p:cNvSpPr txBox="1"/>
          <p:nvPr/>
        </p:nvSpPr>
        <p:spPr>
          <a:xfrm>
            <a:off x="635015" y="1450777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Numéro 2"/>
          <p:cNvSpPr txBox="1"/>
          <p:nvPr/>
        </p:nvSpPr>
        <p:spPr>
          <a:xfrm>
            <a:off x="656609" y="1983422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Numéro 3"/>
          <p:cNvSpPr txBox="1"/>
          <p:nvPr/>
        </p:nvSpPr>
        <p:spPr>
          <a:xfrm>
            <a:off x="1887450" y="2109385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Numéro 4"/>
          <p:cNvSpPr txBox="1"/>
          <p:nvPr/>
        </p:nvSpPr>
        <p:spPr>
          <a:xfrm>
            <a:off x="1887450" y="3243054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Numéro 5"/>
          <p:cNvSpPr txBox="1"/>
          <p:nvPr/>
        </p:nvSpPr>
        <p:spPr>
          <a:xfrm>
            <a:off x="4093606" y="333302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Numéro 6"/>
          <p:cNvSpPr txBox="1"/>
          <p:nvPr/>
        </p:nvSpPr>
        <p:spPr>
          <a:xfrm>
            <a:off x="2348115" y="4016829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5" name="Numéro 7"/>
          <p:cNvSpPr txBox="1"/>
          <p:nvPr/>
        </p:nvSpPr>
        <p:spPr>
          <a:xfrm>
            <a:off x="10576915" y="1839464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6" name="Numéro 8"/>
          <p:cNvSpPr txBox="1"/>
          <p:nvPr/>
        </p:nvSpPr>
        <p:spPr>
          <a:xfrm>
            <a:off x="8338368" y="284717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17" name="Numéro 9"/>
          <p:cNvSpPr txBox="1"/>
          <p:nvPr/>
        </p:nvSpPr>
        <p:spPr>
          <a:xfrm>
            <a:off x="10281802" y="371091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18" name="Numéro 1"/>
          <p:cNvSpPr txBox="1"/>
          <p:nvPr/>
        </p:nvSpPr>
        <p:spPr>
          <a:xfrm>
            <a:off x="548640" y="502920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960120" y="5010912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Bandeau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nom de l'école</a:t>
            </a:r>
            <a:endParaRPr lang="en-US" sz="1400" dirty="0"/>
          </a:p>
        </p:txBody>
      </p:sp>
      <p:sp>
        <p:nvSpPr>
          <p:cNvPr id="20" name="Numéro 2"/>
          <p:cNvSpPr txBox="1"/>
          <p:nvPr/>
        </p:nvSpPr>
        <p:spPr>
          <a:xfrm>
            <a:off x="4338218" y="502920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4749698" y="5010912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fiche ou admission</a:t>
            </a:r>
            <a:endParaRPr lang="en-US" sz="1400" dirty="0"/>
          </a:p>
        </p:txBody>
      </p:sp>
      <p:sp>
        <p:nvSpPr>
          <p:cNvPr id="22" name="Numéro 3"/>
          <p:cNvSpPr txBox="1"/>
          <p:nvPr/>
        </p:nvSpPr>
        <p:spPr>
          <a:xfrm>
            <a:off x="8127797" y="502920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8539277" y="5010912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nom, prénom, naissance</a:t>
            </a:r>
            <a:endParaRPr lang="en-US" sz="1400" dirty="0"/>
          </a:p>
        </p:txBody>
      </p:sp>
      <p:sp>
        <p:nvSpPr>
          <p:cNvPr id="24" name="Numéro 4"/>
          <p:cNvSpPr txBox="1"/>
          <p:nvPr/>
        </p:nvSpPr>
        <p:spPr>
          <a:xfrm>
            <a:off x="548640" y="548640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960120" y="5468112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et matricule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identifient l’élève</a:t>
            </a:r>
            <a:endParaRPr lang="en-US" sz="1400" dirty="0"/>
          </a:p>
        </p:txBody>
      </p:sp>
      <p:sp>
        <p:nvSpPr>
          <p:cNvPr id="26" name="Numéro 5"/>
          <p:cNvSpPr txBox="1"/>
          <p:nvPr/>
        </p:nvSpPr>
        <p:spPr>
          <a:xfrm>
            <a:off x="4338218" y="548640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4749698" y="5468112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encode le matricule</a:t>
            </a:r>
            <a:endParaRPr lang="en-US" sz="1400" dirty="0"/>
          </a:p>
        </p:txBody>
      </p:sp>
      <p:sp>
        <p:nvSpPr>
          <p:cNvPr id="28" name="Numéro 6"/>
          <p:cNvSpPr txBox="1"/>
          <p:nvPr/>
        </p:nvSpPr>
        <p:spPr>
          <a:xfrm>
            <a:off x="8127797" y="548640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8539277" y="5468112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scolaire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validité de la carte</a:t>
            </a:r>
            <a:endParaRPr lang="en-US" sz="1400" dirty="0"/>
          </a:p>
        </p:txBody>
      </p:sp>
      <p:sp>
        <p:nvSpPr>
          <p:cNvPr id="30" name="Numéro 7"/>
          <p:cNvSpPr txBox="1"/>
          <p:nvPr/>
        </p:nvSpPr>
        <p:spPr>
          <a:xfrm>
            <a:off x="548640" y="594360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960120" y="5925312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carte strictement personnelle</a:t>
            </a:r>
            <a:endParaRPr lang="en-US" sz="1400" dirty="0"/>
          </a:p>
        </p:txBody>
      </p:sp>
      <p:sp>
        <p:nvSpPr>
          <p:cNvPr id="32" name="Numéro 8"/>
          <p:cNvSpPr txBox="1"/>
          <p:nvPr/>
        </p:nvSpPr>
        <p:spPr>
          <a:xfrm>
            <a:off x="4338218" y="594360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4749698" y="5925312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de l'école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ville, téléphone, email</a:t>
            </a:r>
            <a:endParaRPr lang="en-US" sz="1400" dirty="0"/>
          </a:p>
        </p:txBody>
      </p:sp>
      <p:sp>
        <p:nvSpPr>
          <p:cNvPr id="34" name="Numéro 9"/>
          <p:cNvSpPr txBox="1"/>
          <p:nvPr/>
        </p:nvSpPr>
        <p:spPr>
          <a:xfrm>
            <a:off x="8127797" y="594360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5" name="Text 31"/>
          <p:cNvSpPr txBox="1"/>
          <p:nvPr/>
        </p:nvSpPr>
        <p:spPr>
          <a:xfrm>
            <a:off x="8539277" y="5925312"/>
            <a:ext cx="30580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du directeur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neau 1"/>
          <p:cNvSpPr/>
          <p:nvPr/>
        </p:nvSpPr>
        <p:spPr>
          <a:xfrm>
            <a:off x="7498080" y="1234440"/>
            <a:ext cx="4389120" cy="43891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Anneau 2"/>
          <p:cNvSpPr/>
          <p:nvPr/>
        </p:nvSpPr>
        <p:spPr>
          <a:xfrm>
            <a:off x="8090611" y="1826971"/>
            <a:ext cx="3204058" cy="3204058"/>
          </a:xfrm>
          <a:prstGeom prst="ellipse">
            <a:avLst/>
          </a:prstGeom>
          <a:solidFill>
            <a:schemeClr val="accent1">
              <a:alpha val="2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nneau 3"/>
          <p:cNvSpPr/>
          <p:nvPr/>
        </p:nvSpPr>
        <p:spPr>
          <a:xfrm>
            <a:off x="8683142" y="2419502"/>
            <a:ext cx="2018995" cy="2018995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entre de la cible"/>
          <p:cNvSpPr/>
          <p:nvPr/>
        </p:nvSpPr>
        <p:spPr>
          <a:xfrm>
            <a:off x="9275674" y="3012034"/>
            <a:ext cx="833933" cy="83393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Numéro de chapitre"/>
          <p:cNvSpPr txBox="1"/>
          <p:nvPr/>
        </p:nvSpPr>
        <p:spPr>
          <a:xfrm>
            <a:off x="82296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5</a:t>
            </a:r>
            <a:endParaRPr lang="en-US" sz="18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22960" y="16916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 scolaire au quotidien</a:t>
            </a:r>
            <a:endParaRPr lang="en-US" sz="4400" dirty="0"/>
          </a:p>
        </p:txBody>
      </p:sp>
      <p:sp>
        <p:nvSpPr>
          <p:cNvPr id="8" name="Contenu du chapitre"/>
          <p:cNvSpPr txBox="1"/>
          <p:nvPr/>
        </p:nvSpPr>
        <p:spPr>
          <a:xfrm>
            <a:off x="822960" y="338328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L'appel du jour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L'historique d'absences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aux parents</a:t>
            </a:r>
            <a:endParaRPr lang="en-US" sz="1800" dirty="0"/>
          </a:p>
        </p:txBody>
      </p:sp>
      <p:sp>
        <p:nvSpPr>
          <p:cNvPr id="9" name="Rôles concernés"/>
          <p:cNvSpPr txBox="1"/>
          <p:nvPr/>
        </p:nvSpPr>
        <p:spPr>
          <a:xfrm>
            <a:off x="822960" y="5715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: Tous les rôles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L'appel du jour</a:t>
            </a:r>
            <a:endParaRPr lang="en-US" sz="3000" dirty="0"/>
          </a:p>
        </p:txBody>
      </p:sp>
      <p:sp>
        <p:nvSpPr>
          <p:cNvPr id="3" name="Rôle Tous"/>
          <p:cNvSpPr txBox="1"/>
          <p:nvPr/>
        </p:nvSpPr>
        <p:spPr>
          <a:xfrm>
            <a:off x="10051999" y="566928"/>
            <a:ext cx="1591056" cy="329184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rôles</a:t>
            </a:r>
            <a:endParaRPr lang="en-US" sz="1200" dirty="0"/>
          </a:p>
        </p:txBody>
      </p:sp>
      <p:sp>
        <p:nvSpPr>
          <p:cNvPr id="4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Étape 1"/>
          <p:cNvSpPr txBox="1"/>
          <p:nvPr/>
        </p:nvSpPr>
        <p:spPr>
          <a:xfrm>
            <a:off x="1005840" y="1335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Vie scolaire › Appel du jour et choisissez la classe.</a:t>
            </a:r>
            <a:endParaRPr lang="en-US" sz="1400" dirty="0"/>
          </a:p>
        </p:txBody>
      </p:sp>
      <p:sp>
        <p:nvSpPr>
          <p:cNvPr id="6" name="Numéro 2"/>
          <p:cNvSpPr txBox="1"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Étape 2"/>
          <p:cNvSpPr txBox="1"/>
          <p:nvPr/>
        </p:nvSpPr>
        <p:spPr>
          <a:xfrm>
            <a:off x="1005840" y="194767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élève, cliquez sur Présent, Absent ou Retard.</a:t>
            </a:r>
            <a:endParaRPr lang="en-US" sz="1400" dirty="0"/>
          </a:p>
        </p:txBody>
      </p:sp>
      <p:sp>
        <p:nvSpPr>
          <p:cNvPr id="8" name="Numéro 3"/>
          <p:cNvSpPr txBox="1"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Étape 3"/>
          <p:cNvSpPr txBox="1"/>
          <p:nvPr/>
        </p:nvSpPr>
        <p:spPr>
          <a:xfrm>
            <a:off x="1005840" y="2560320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Enregistrer l’appel ».</a:t>
            </a:r>
            <a:endParaRPr lang="en-US" sz="1400" dirty="0"/>
          </a:p>
        </p:txBody>
      </p:sp>
      <p:sp>
        <p:nvSpPr>
          <p:cNvPr id="10" name="Numéro 4"/>
          <p:cNvSpPr txBox="1"/>
          <p:nvPr/>
        </p:nvSpPr>
        <p:spPr>
          <a:xfrm>
            <a:off x="548640" y="29718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Étape 4"/>
          <p:cNvSpPr txBox="1"/>
          <p:nvPr/>
        </p:nvSpPr>
        <p:spPr>
          <a:xfrm>
            <a:off x="1005840" y="298094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Téléchargez la liste de présence (Excel) si vous la voulez sur papier.</a:t>
            </a:r>
            <a:endParaRPr lang="en-US" sz="1400" dirty="0"/>
          </a:p>
        </p:txBody>
      </p:sp>
      <p:sp>
        <p:nvSpPr>
          <p:cNvPr id="12" name="Numéro 5"/>
          <p:cNvSpPr txBox="1"/>
          <p:nvPr/>
        </p:nvSpPr>
        <p:spPr>
          <a:xfrm>
            <a:off x="548640" y="35844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Étape 5"/>
          <p:cNvSpPr txBox="1"/>
          <p:nvPr/>
        </p:nvSpPr>
        <p:spPr>
          <a:xfrm>
            <a:off x="1005840" y="359359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Consultez ensuite le cumul par élève dans Vie scolaire › Historique d'absences.</a:t>
            </a:r>
            <a:endParaRPr lang="en-US" sz="1400" dirty="0"/>
          </a:p>
        </p:txBody>
      </p:sp>
      <p:sp>
        <p:nvSpPr>
          <p:cNvPr id="14" name="À savoir"/>
          <p:cNvSpPr/>
          <p:nvPr/>
        </p:nvSpPr>
        <p:spPr>
          <a:xfrm>
            <a:off x="548640" y="533095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5" name="Texte à savoir"/>
          <p:cNvSpPr txBox="1"/>
          <p:nvPr/>
        </p:nvSpPr>
        <p:spPr>
          <a:xfrm>
            <a:off x="777240" y="5422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nouvel absent déclenche un message au parent. L'appel fonctionne hors connexion et se synchronise au retour du réseau.</a:t>
            </a:r>
            <a:endParaRPr lang="en-US" sz="1400" dirty="0"/>
          </a:p>
        </p:txBody>
      </p:sp>
      <p:sp>
        <p:nvSpPr>
          <p:cNvPr id="16" name="Cadre de la capture"/>
          <p:cNvSpPr/>
          <p:nvPr/>
        </p:nvSpPr>
        <p:spPr>
          <a:xfrm>
            <a:off x="5340096" y="1271016"/>
            <a:ext cx="6357823" cy="3309972"/>
          </a:xfrm>
          <a:prstGeom prst="roundRect">
            <a:avLst>
              <a:gd name="adj" fmla="val 1658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0" descr="Capture d'écran : L'appel du jo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6248095" cy="3200244"/>
          </a:xfrm>
          <a:prstGeom prst="rect">
            <a:avLst/>
          </a:prstGeom>
        </p:spPr>
      </p:pic>
      <p:sp>
        <p:nvSpPr>
          <p:cNvPr id="18" name="Repère 2"/>
          <p:cNvSpPr/>
          <p:nvPr/>
        </p:nvSpPr>
        <p:spPr>
          <a:xfrm>
            <a:off x="9418243" y="2596691"/>
            <a:ext cx="361099" cy="144773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19" name="Numéro 2"/>
          <p:cNvSpPr txBox="1"/>
          <p:nvPr/>
        </p:nvSpPr>
        <p:spPr>
          <a:xfrm>
            <a:off x="9281083" y="2459531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Repère 3"/>
          <p:cNvSpPr/>
          <p:nvPr/>
        </p:nvSpPr>
        <p:spPr>
          <a:xfrm>
            <a:off x="5699745" y="3846786"/>
            <a:ext cx="1167113" cy="27430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3"/>
          <p:cNvSpPr txBox="1"/>
          <p:nvPr/>
        </p:nvSpPr>
        <p:spPr>
          <a:xfrm>
            <a:off x="5562585" y="370962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Repère 4"/>
          <p:cNvSpPr/>
          <p:nvPr/>
        </p:nvSpPr>
        <p:spPr>
          <a:xfrm>
            <a:off x="7955155" y="1806631"/>
            <a:ext cx="1947887" cy="27430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4"/>
          <p:cNvSpPr txBox="1"/>
          <p:nvPr/>
        </p:nvSpPr>
        <p:spPr>
          <a:xfrm>
            <a:off x="7817995" y="1669471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aux parents</a:t>
            </a:r>
            <a:endParaRPr lang="en-US" sz="3000" dirty="0"/>
          </a:p>
        </p:txBody>
      </p:sp>
      <p:sp>
        <p:nvSpPr>
          <p:cNvPr id="3" name="Rôle Comptable"/>
          <p:cNvSpPr txBox="1"/>
          <p:nvPr/>
        </p:nvSpPr>
        <p:spPr>
          <a:xfrm>
            <a:off x="10509199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</a:t>
            </a:r>
            <a:endParaRPr lang="en-US" sz="1200" dirty="0"/>
          </a:p>
        </p:txBody>
      </p:sp>
      <p:sp>
        <p:nvSpPr>
          <p:cNvPr id="4" name="Rôle Secrétaire"/>
          <p:cNvSpPr txBox="1"/>
          <p:nvPr/>
        </p:nvSpPr>
        <p:spPr>
          <a:xfrm>
            <a:off x="9174175" y="566928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1C7E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200" dirty="0"/>
          </a:p>
        </p:txBody>
      </p:sp>
      <p:sp>
        <p:nvSpPr>
          <p:cNvPr id="5" name="Rôle Chef"/>
          <p:cNvSpPr txBox="1"/>
          <p:nvPr/>
        </p:nvSpPr>
        <p:spPr>
          <a:xfrm>
            <a:off x="8387791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6" name="Rôle Fondateur"/>
          <p:cNvSpPr txBox="1"/>
          <p:nvPr/>
        </p:nvSpPr>
        <p:spPr>
          <a:xfrm>
            <a:off x="7144207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7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Étape 1"/>
          <p:cNvSpPr txBox="1"/>
          <p:nvPr/>
        </p:nvSpPr>
        <p:spPr>
          <a:xfrm>
            <a:off x="1005840" y="1335024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Vie scolaire › Communication.</a:t>
            </a:r>
            <a:endParaRPr lang="en-US" sz="1400" dirty="0"/>
          </a:p>
        </p:txBody>
      </p:sp>
      <p:sp>
        <p:nvSpPr>
          <p:cNvPr id="9" name="Numéro 2"/>
          <p:cNvSpPr txBox="1"/>
          <p:nvPr/>
        </p:nvSpPr>
        <p:spPr>
          <a:xfrm>
            <a:off x="548640" y="17465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Étape 2"/>
          <p:cNvSpPr txBox="1"/>
          <p:nvPr/>
        </p:nvSpPr>
        <p:spPr>
          <a:xfrm>
            <a:off x="1005840" y="175564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le destinataire : « Toute classe » (puis la classe) ou « Un élève ».</a:t>
            </a:r>
            <a:endParaRPr lang="en-US" sz="1400" dirty="0"/>
          </a:p>
        </p:txBody>
      </p:sp>
      <p:sp>
        <p:nvSpPr>
          <p:cNvPr id="11" name="Numéro 3"/>
          <p:cNvSpPr txBox="1"/>
          <p:nvPr/>
        </p:nvSpPr>
        <p:spPr>
          <a:xfrm>
            <a:off x="548640" y="235915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Étape 3"/>
          <p:cNvSpPr txBox="1"/>
          <p:nvPr/>
        </p:nvSpPr>
        <p:spPr>
          <a:xfrm>
            <a:off x="1005840" y="2368296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Rédigez le message SMS.</a:t>
            </a:r>
            <a:endParaRPr lang="en-US" sz="1400" dirty="0"/>
          </a:p>
        </p:txBody>
      </p:sp>
      <p:sp>
        <p:nvSpPr>
          <p:cNvPr id="13" name="Numéro 4"/>
          <p:cNvSpPr txBox="1"/>
          <p:nvPr/>
        </p:nvSpPr>
        <p:spPr>
          <a:xfrm>
            <a:off x="548640" y="27797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Étape 4"/>
          <p:cNvSpPr txBox="1"/>
          <p:nvPr/>
        </p:nvSpPr>
        <p:spPr>
          <a:xfrm>
            <a:off x="1005840" y="2788920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Envoyer aux parents ».</a:t>
            </a:r>
            <a:endParaRPr lang="en-US" sz="1400" dirty="0"/>
          </a:p>
        </p:txBody>
      </p:sp>
      <p:sp>
        <p:nvSpPr>
          <p:cNvPr id="15" name="Numéro 5"/>
          <p:cNvSpPr txBox="1"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Étape 5"/>
          <p:cNvSpPr txBox="1"/>
          <p:nvPr/>
        </p:nvSpPr>
        <p:spPr>
          <a:xfrm>
            <a:off x="1005840" y="320954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Journal des messages » conserve date, élève, parent, téléphone, type et statut.</a:t>
            </a:r>
            <a:endParaRPr lang="en-US" sz="1400" dirty="0"/>
          </a:p>
        </p:txBody>
      </p:sp>
      <p:sp>
        <p:nvSpPr>
          <p:cNvPr id="17" name="À savoir"/>
          <p:cNvSpPr/>
          <p:nvPr/>
        </p:nvSpPr>
        <p:spPr>
          <a:xfrm>
            <a:off x="548640" y="5545836"/>
            <a:ext cx="11094415" cy="745236"/>
          </a:xfrm>
          <a:prstGeom prst="roundRect">
            <a:avLst>
              <a:gd name="adj" fmla="val 12270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8" name="Texte à savoir"/>
          <p:cNvSpPr txBox="1"/>
          <p:nvPr/>
        </p:nvSpPr>
        <p:spPr>
          <a:xfrm>
            <a:off x="777240" y="5637276"/>
            <a:ext cx="106372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L'envoi est simulé tant qu'un fournisseur SMS n'est pas branché : le journal enregistre le message sans le transmettre.</a:t>
            </a:r>
            <a:endParaRPr lang="en-US" sz="1400" dirty="0"/>
          </a:p>
        </p:txBody>
      </p:sp>
      <p:sp>
        <p:nvSpPr>
          <p:cNvPr id="19" name="Cadre de la capture"/>
          <p:cNvSpPr/>
          <p:nvPr/>
        </p:nvSpPr>
        <p:spPr>
          <a:xfrm>
            <a:off x="5340096" y="1698576"/>
            <a:ext cx="6357823" cy="3309972"/>
          </a:xfrm>
          <a:prstGeom prst="roundRect">
            <a:avLst>
              <a:gd name="adj" fmla="val 1658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0" descr="Capture d'écran : Communication aux par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753440"/>
            <a:ext cx="6248095" cy="3200244"/>
          </a:xfrm>
          <a:prstGeom prst="rect">
            <a:avLst/>
          </a:prstGeom>
        </p:spPr>
      </p:pic>
      <p:sp>
        <p:nvSpPr>
          <p:cNvPr id="21" name="Repère 2"/>
          <p:cNvSpPr/>
          <p:nvPr/>
        </p:nvSpPr>
        <p:spPr>
          <a:xfrm>
            <a:off x="5829279" y="2655175"/>
            <a:ext cx="1574763" cy="27192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2" name="Numéro 2"/>
          <p:cNvSpPr txBox="1"/>
          <p:nvPr/>
        </p:nvSpPr>
        <p:spPr>
          <a:xfrm>
            <a:off x="5692119" y="2518015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Repère 3"/>
          <p:cNvSpPr/>
          <p:nvPr/>
        </p:nvSpPr>
        <p:spPr>
          <a:xfrm>
            <a:off x="5829279" y="3050206"/>
            <a:ext cx="5813776" cy="434319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4" name="Numéro 3"/>
          <p:cNvSpPr txBox="1"/>
          <p:nvPr/>
        </p:nvSpPr>
        <p:spPr>
          <a:xfrm>
            <a:off x="5692119" y="291304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Repère 4"/>
          <p:cNvSpPr/>
          <p:nvPr/>
        </p:nvSpPr>
        <p:spPr>
          <a:xfrm>
            <a:off x="5829279" y="3606438"/>
            <a:ext cx="1264382" cy="27430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6" name="Numéro 4"/>
          <p:cNvSpPr txBox="1"/>
          <p:nvPr/>
        </p:nvSpPr>
        <p:spPr>
          <a:xfrm>
            <a:off x="5692119" y="346927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neau 1"/>
          <p:cNvSpPr/>
          <p:nvPr/>
        </p:nvSpPr>
        <p:spPr>
          <a:xfrm>
            <a:off x="7498080" y="1234440"/>
            <a:ext cx="4389120" cy="43891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Anneau 2"/>
          <p:cNvSpPr/>
          <p:nvPr/>
        </p:nvSpPr>
        <p:spPr>
          <a:xfrm>
            <a:off x="8090611" y="1826971"/>
            <a:ext cx="3204058" cy="3204058"/>
          </a:xfrm>
          <a:prstGeom prst="ellipse">
            <a:avLst/>
          </a:prstGeom>
          <a:solidFill>
            <a:schemeClr val="accent1">
              <a:alpha val="2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nneau 3"/>
          <p:cNvSpPr/>
          <p:nvPr/>
        </p:nvSpPr>
        <p:spPr>
          <a:xfrm>
            <a:off x="8683142" y="2419502"/>
            <a:ext cx="2018995" cy="2018995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entre de la cible"/>
          <p:cNvSpPr/>
          <p:nvPr/>
        </p:nvSpPr>
        <p:spPr>
          <a:xfrm>
            <a:off x="9275674" y="3012034"/>
            <a:ext cx="833933" cy="83393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Numéro de chapitre"/>
          <p:cNvSpPr txBox="1"/>
          <p:nvPr/>
        </p:nvSpPr>
        <p:spPr>
          <a:xfrm>
            <a:off x="82296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6</a:t>
            </a:r>
            <a:endParaRPr lang="en-US" sz="18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22960" y="16916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Pédagogie</a:t>
            </a:r>
            <a:endParaRPr lang="en-US" sz="4400" dirty="0"/>
          </a:p>
        </p:txBody>
      </p:sp>
      <p:sp>
        <p:nvSpPr>
          <p:cNvPr id="8" name="Contenu du chapitre"/>
          <p:cNvSpPr txBox="1"/>
          <p:nvPr/>
        </p:nvSpPr>
        <p:spPr>
          <a:xfrm>
            <a:off x="822960" y="338328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Emplois du temps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et bulletins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parcours</a:t>
            </a:r>
            <a:endParaRPr lang="en-US" sz="1800" dirty="0"/>
          </a:p>
        </p:txBody>
      </p:sp>
      <p:sp>
        <p:nvSpPr>
          <p:cNvPr id="9" name="Rôles concernés"/>
          <p:cNvSpPr txBox="1"/>
          <p:nvPr/>
        </p:nvSpPr>
        <p:spPr>
          <a:xfrm>
            <a:off x="822960" y="5715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: Fondateur, Chef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L'emploi du temps</a:t>
            </a:r>
            <a:endParaRPr lang="en-US" sz="3000" dirty="0"/>
          </a:p>
        </p:txBody>
      </p:sp>
      <p:sp>
        <p:nvSpPr>
          <p:cNvPr id="3" name="Rôle Tous"/>
          <p:cNvSpPr txBox="1"/>
          <p:nvPr/>
        </p:nvSpPr>
        <p:spPr>
          <a:xfrm>
            <a:off x="10051999" y="566928"/>
            <a:ext cx="1591056" cy="329184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rôles</a:t>
            </a:r>
            <a:endParaRPr lang="en-US" sz="1200" dirty="0"/>
          </a:p>
        </p:txBody>
      </p:sp>
      <p:sp>
        <p:nvSpPr>
          <p:cNvPr id="4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Étape 1"/>
          <p:cNvSpPr txBox="1"/>
          <p:nvPr/>
        </p:nvSpPr>
        <p:spPr>
          <a:xfrm>
            <a:off x="1005840" y="1335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Élèves › Emplois du temps et choisissez la classe.</a:t>
            </a:r>
            <a:endParaRPr lang="en-US" sz="1400" dirty="0"/>
          </a:p>
        </p:txBody>
      </p:sp>
      <p:sp>
        <p:nvSpPr>
          <p:cNvPr id="6" name="Numéro 2"/>
          <p:cNvSpPr txBox="1"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Étape 2"/>
          <p:cNvSpPr txBox="1"/>
          <p:nvPr/>
        </p:nvSpPr>
        <p:spPr>
          <a:xfrm>
            <a:off x="1005840" y="194767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« Nouveau créneau » : jour, début (08:00), fin (09:30), matière.</a:t>
            </a:r>
            <a:endParaRPr lang="en-US" sz="1400" dirty="0"/>
          </a:p>
        </p:txBody>
      </p:sp>
      <p:sp>
        <p:nvSpPr>
          <p:cNvPr id="8" name="Numéro 3"/>
          <p:cNvSpPr txBox="1"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Étape 3"/>
          <p:cNvSpPr txBox="1"/>
          <p:nvPr/>
        </p:nvSpPr>
        <p:spPr>
          <a:xfrm>
            <a:off x="1005840" y="256032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Ajoutez, si besoin, l’enseignant, la salle et le taux horaire en GNF.</a:t>
            </a:r>
            <a:endParaRPr lang="en-US" sz="1400" dirty="0"/>
          </a:p>
        </p:txBody>
      </p:sp>
      <p:sp>
        <p:nvSpPr>
          <p:cNvPr id="10" name="Numéro 4"/>
          <p:cNvSpPr txBox="1"/>
          <p:nvPr/>
        </p:nvSpPr>
        <p:spPr>
          <a:xfrm>
            <a:off x="548640" y="316382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Étape 4"/>
          <p:cNvSpPr txBox="1"/>
          <p:nvPr/>
        </p:nvSpPr>
        <p:spPr>
          <a:xfrm>
            <a:off x="1005840" y="3172968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Ajouter ».</a:t>
            </a:r>
            <a:endParaRPr lang="en-US" sz="1400" dirty="0"/>
          </a:p>
        </p:txBody>
      </p:sp>
      <p:sp>
        <p:nvSpPr>
          <p:cNvPr id="12" name="Numéro 5"/>
          <p:cNvSpPr txBox="1"/>
          <p:nvPr/>
        </p:nvSpPr>
        <p:spPr>
          <a:xfrm>
            <a:off x="548640" y="35844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Étape 5"/>
          <p:cNvSpPr txBox="1"/>
          <p:nvPr/>
        </p:nvSpPr>
        <p:spPr>
          <a:xfrm>
            <a:off x="1005840" y="359359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une salle manquante avec « Créer la salle ».</a:t>
            </a:r>
            <a:endParaRPr lang="en-US" sz="1400" dirty="0"/>
          </a:p>
        </p:txBody>
      </p:sp>
      <p:sp>
        <p:nvSpPr>
          <p:cNvPr id="14" name="Numéro 6"/>
          <p:cNvSpPr txBox="1"/>
          <p:nvPr/>
        </p:nvSpPr>
        <p:spPr>
          <a:xfrm>
            <a:off x="548640" y="419709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5" name="Étape 6"/>
          <p:cNvSpPr txBox="1"/>
          <p:nvPr/>
        </p:nvSpPr>
        <p:spPr>
          <a:xfrm>
            <a:off x="1005840" y="420624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Téléchargez l'emploi du temps ou affichez-le en PDF.</a:t>
            </a:r>
            <a:endParaRPr lang="en-US" sz="1400" dirty="0"/>
          </a:p>
        </p:txBody>
      </p:sp>
      <p:sp>
        <p:nvSpPr>
          <p:cNvPr id="16" name="À savoir"/>
          <p:cNvSpPr/>
          <p:nvPr/>
        </p:nvSpPr>
        <p:spPr>
          <a:xfrm>
            <a:off x="548640" y="533095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7" name="Texte à savoir"/>
          <p:cNvSpPr txBox="1"/>
          <p:nvPr/>
        </p:nvSpPr>
        <p:spPr>
          <a:xfrm>
            <a:off x="777240" y="5422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création et la suppression de créneaux sont réservées à la direction. Le planning réel sert de base au salaire des enseignants (heures × taux horaire).</a:t>
            </a:r>
            <a:endParaRPr lang="en-US" sz="1400" dirty="0"/>
          </a:p>
        </p:txBody>
      </p:sp>
      <p:sp>
        <p:nvSpPr>
          <p:cNvPr id="18" name="Cadre de la capture"/>
          <p:cNvSpPr/>
          <p:nvPr/>
        </p:nvSpPr>
        <p:spPr>
          <a:xfrm>
            <a:off x="5340096" y="1271016"/>
            <a:ext cx="6357823" cy="3309972"/>
          </a:xfrm>
          <a:prstGeom prst="roundRect">
            <a:avLst>
              <a:gd name="adj" fmla="val 1658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Capture d'écran : L'emploi du tem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6248095" cy="3200244"/>
          </a:xfrm>
          <a:prstGeom prst="rect">
            <a:avLst/>
          </a:prstGeom>
        </p:spPr>
      </p:pic>
      <p:sp>
        <p:nvSpPr>
          <p:cNvPr id="20" name="Repère 2"/>
          <p:cNvSpPr/>
          <p:nvPr/>
        </p:nvSpPr>
        <p:spPr>
          <a:xfrm>
            <a:off x="5829279" y="2332385"/>
            <a:ext cx="5813776" cy="19882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2"/>
          <p:cNvSpPr txBox="1"/>
          <p:nvPr/>
        </p:nvSpPr>
        <p:spPr>
          <a:xfrm>
            <a:off x="5692119" y="2195225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Repère 4"/>
          <p:cNvSpPr/>
          <p:nvPr/>
        </p:nvSpPr>
        <p:spPr>
          <a:xfrm>
            <a:off x="5829279" y="3018866"/>
            <a:ext cx="649097" cy="27430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4"/>
          <p:cNvSpPr txBox="1"/>
          <p:nvPr/>
        </p:nvSpPr>
        <p:spPr>
          <a:xfrm>
            <a:off x="5692119" y="288170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Repère 5"/>
          <p:cNvSpPr/>
          <p:nvPr/>
        </p:nvSpPr>
        <p:spPr>
          <a:xfrm>
            <a:off x="7627511" y="3384608"/>
            <a:ext cx="903521" cy="27430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5" name="Numéro 5"/>
          <p:cNvSpPr txBox="1"/>
          <p:nvPr/>
        </p:nvSpPr>
        <p:spPr>
          <a:xfrm>
            <a:off x="7490351" y="324744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Repère 6"/>
          <p:cNvSpPr/>
          <p:nvPr/>
        </p:nvSpPr>
        <p:spPr>
          <a:xfrm>
            <a:off x="7955155" y="1806631"/>
            <a:ext cx="1902764" cy="27430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7" name="Numéro 6"/>
          <p:cNvSpPr txBox="1"/>
          <p:nvPr/>
        </p:nvSpPr>
        <p:spPr>
          <a:xfrm>
            <a:off x="7817995" y="1669471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et bulletins</a:t>
            </a:r>
            <a:endParaRPr lang="en-US" sz="3000" dirty="0"/>
          </a:p>
        </p:txBody>
      </p:sp>
      <p:sp>
        <p:nvSpPr>
          <p:cNvPr id="3" name="Rôle Enseignant"/>
          <p:cNvSpPr txBox="1"/>
          <p:nvPr/>
        </p:nvSpPr>
        <p:spPr>
          <a:xfrm>
            <a:off x="10417759" y="566928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B978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</a:t>
            </a:r>
            <a:endParaRPr lang="en-US" sz="1200" dirty="0"/>
          </a:p>
        </p:txBody>
      </p:sp>
      <p:sp>
        <p:nvSpPr>
          <p:cNvPr id="4" name="Rôle Chef"/>
          <p:cNvSpPr txBox="1"/>
          <p:nvPr/>
        </p:nvSpPr>
        <p:spPr>
          <a:xfrm>
            <a:off x="9631375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5" name="Rôle Fondateur"/>
          <p:cNvSpPr txBox="1"/>
          <p:nvPr/>
        </p:nvSpPr>
        <p:spPr>
          <a:xfrm>
            <a:off x="8387791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6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Étape 1"/>
          <p:cNvSpPr txBox="1"/>
          <p:nvPr/>
        </p:nvSpPr>
        <p:spPr>
          <a:xfrm>
            <a:off x="1005840" y="1335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Élèves › Notes, puis choisissez la classe et le trimestre.</a:t>
            </a:r>
            <a:endParaRPr lang="en-US" sz="1400" dirty="0"/>
          </a:p>
        </p:txBody>
      </p:sp>
      <p:sp>
        <p:nvSpPr>
          <p:cNvPr id="8" name="Numéro 2"/>
          <p:cNvSpPr txBox="1"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Étape 2"/>
          <p:cNvSpPr txBox="1"/>
          <p:nvPr/>
        </p:nvSpPr>
        <p:spPr>
          <a:xfrm>
            <a:off x="1005840" y="194767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la note sur 10 de chaque élève dans chaque matière.</a:t>
            </a:r>
            <a:endParaRPr lang="en-US" sz="1400" dirty="0"/>
          </a:p>
        </p:txBody>
      </p:sp>
      <p:sp>
        <p:nvSpPr>
          <p:cNvPr id="10" name="Numéro 3"/>
          <p:cNvSpPr txBox="1"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Étape 3"/>
          <p:cNvSpPr txBox="1"/>
          <p:nvPr/>
        </p:nvSpPr>
        <p:spPr>
          <a:xfrm>
            <a:off x="1005840" y="2560320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Enregistrer les notes ».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29718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Étape 4"/>
          <p:cNvSpPr txBox="1"/>
          <p:nvPr/>
        </p:nvSpPr>
        <p:spPr>
          <a:xfrm>
            <a:off x="1005840" y="298094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élève : « Télécharger le bulletin » (Excel) ou « Voir le bulletin » (PDF).</a:t>
            </a:r>
            <a:endParaRPr lang="en-US" sz="1400" dirty="0"/>
          </a:p>
        </p:txBody>
      </p:sp>
      <p:sp>
        <p:nvSpPr>
          <p:cNvPr id="14" name="Numéro 5"/>
          <p:cNvSpPr txBox="1"/>
          <p:nvPr/>
        </p:nvSpPr>
        <p:spPr>
          <a:xfrm>
            <a:off x="548640" y="35844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Étape 5"/>
          <p:cNvSpPr txBox="1"/>
          <p:nvPr/>
        </p:nvSpPr>
        <p:spPr>
          <a:xfrm>
            <a:off x="1005840" y="359359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Télécharger les notes de la classe » fournit le relevé complet.</a:t>
            </a:r>
            <a:endParaRPr lang="en-US" sz="1400" dirty="0"/>
          </a:p>
        </p:txBody>
      </p:sp>
      <p:sp>
        <p:nvSpPr>
          <p:cNvPr id="16" name="À savoir"/>
          <p:cNvSpPr/>
          <p:nvPr/>
        </p:nvSpPr>
        <p:spPr>
          <a:xfrm>
            <a:off x="548640" y="533095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7" name="Texte à savoir"/>
          <p:cNvSpPr txBox="1"/>
          <p:nvPr/>
        </p:nvSpPr>
        <p:spPr>
          <a:xfrm>
            <a:off x="777240" y="5422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matière manquante se crée directement ici, via « Nouvelle matière pour ce niveau ». Le bulletin calcule la moyenne, la mention et le rang. Un enseignant n'accède qu'aux classes de son périmètre.</a:t>
            </a:r>
            <a:endParaRPr lang="en-US" sz="1400" dirty="0"/>
          </a:p>
        </p:txBody>
      </p:sp>
      <p:sp>
        <p:nvSpPr>
          <p:cNvPr id="18" name="Cadre de la capture"/>
          <p:cNvSpPr/>
          <p:nvPr/>
        </p:nvSpPr>
        <p:spPr>
          <a:xfrm>
            <a:off x="5515460" y="1271016"/>
            <a:ext cx="6007094" cy="3950208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Capture d'écran : Notes et bulleti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0324" y="1325880"/>
            <a:ext cx="5897366" cy="3840480"/>
          </a:xfrm>
          <a:prstGeom prst="rect">
            <a:avLst/>
          </a:prstGeom>
        </p:spPr>
      </p:pic>
      <p:sp>
        <p:nvSpPr>
          <p:cNvPr id="20" name="Repère 1"/>
          <p:cNvSpPr/>
          <p:nvPr/>
        </p:nvSpPr>
        <p:spPr>
          <a:xfrm>
            <a:off x="7555292" y="1779645"/>
            <a:ext cx="1150706" cy="258909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1"/>
          <p:cNvSpPr txBox="1"/>
          <p:nvPr/>
        </p:nvSpPr>
        <p:spPr>
          <a:xfrm>
            <a:off x="7418132" y="1642485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Repère 2"/>
          <p:cNvSpPr/>
          <p:nvPr/>
        </p:nvSpPr>
        <p:spPr>
          <a:xfrm>
            <a:off x="7041070" y="3046095"/>
            <a:ext cx="927644" cy="26025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2"/>
          <p:cNvSpPr txBox="1"/>
          <p:nvPr/>
        </p:nvSpPr>
        <p:spPr>
          <a:xfrm>
            <a:off x="6903910" y="2908935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Repère 3"/>
          <p:cNvSpPr/>
          <p:nvPr/>
        </p:nvSpPr>
        <p:spPr>
          <a:xfrm>
            <a:off x="5858001" y="4604492"/>
            <a:ext cx="1198127" cy="258909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5" name="Numéro 3"/>
          <p:cNvSpPr txBox="1"/>
          <p:nvPr/>
        </p:nvSpPr>
        <p:spPr>
          <a:xfrm>
            <a:off x="5720841" y="44673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Repère 5"/>
          <p:cNvSpPr/>
          <p:nvPr/>
        </p:nvSpPr>
        <p:spPr>
          <a:xfrm>
            <a:off x="8821068" y="1779645"/>
            <a:ext cx="1915296" cy="258909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7" name="Numéro 5"/>
          <p:cNvSpPr txBox="1"/>
          <p:nvPr/>
        </p:nvSpPr>
        <p:spPr>
          <a:xfrm>
            <a:off x="8683908" y="1642485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suivi de parcours</a:t>
            </a:r>
            <a:endParaRPr lang="en-US" sz="3000" dirty="0"/>
          </a:p>
        </p:txBody>
      </p:sp>
      <p:sp>
        <p:nvSpPr>
          <p:cNvPr id="3" name="Rôle Chef"/>
          <p:cNvSpPr txBox="1"/>
          <p:nvPr/>
        </p:nvSpPr>
        <p:spPr>
          <a:xfrm>
            <a:off x="10966399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4" name="Rôle Fondateur"/>
          <p:cNvSpPr txBox="1"/>
          <p:nvPr/>
        </p:nvSpPr>
        <p:spPr>
          <a:xfrm>
            <a:off x="9722815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5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Étape 1"/>
          <p:cNvSpPr txBox="1"/>
          <p:nvPr/>
        </p:nvSpPr>
        <p:spPr>
          <a:xfrm>
            <a:off x="1005840" y="1335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Élèves › Suivi de parcours et choisissez la classe.</a:t>
            </a:r>
            <a:endParaRPr lang="en-US" sz="1400" dirty="0"/>
          </a:p>
        </p:txBody>
      </p:sp>
      <p:sp>
        <p:nvSpPr>
          <p:cNvPr id="7" name="Numéro 2"/>
          <p:cNvSpPr txBox="1"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Étape 2"/>
          <p:cNvSpPr txBox="1"/>
          <p:nvPr/>
        </p:nvSpPr>
        <p:spPr>
          <a:xfrm>
            <a:off x="1005840" y="194767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Lisez les moyennes des trois trimestres et la moyenne annuelle.</a:t>
            </a:r>
            <a:endParaRPr lang="en-US" sz="1400" dirty="0"/>
          </a:p>
        </p:txBody>
      </p:sp>
      <p:sp>
        <p:nvSpPr>
          <p:cNvPr id="9" name="Numéro 3"/>
          <p:cNvSpPr txBox="1"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Étape 3"/>
          <p:cNvSpPr txBox="1"/>
          <p:nvPr/>
        </p:nvSpPr>
        <p:spPr>
          <a:xfrm>
            <a:off x="1005840" y="2560320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décision est proposée : passage en classe supérieure si la moyenne annuelle atteint 5/10, redoublement sinon.</a:t>
            </a:r>
            <a:endParaRPr lang="en-US" sz="1400" dirty="0"/>
          </a:p>
        </p:txBody>
      </p:sp>
      <p:sp>
        <p:nvSpPr>
          <p:cNvPr id="11" name="Numéro 4"/>
          <p:cNvSpPr txBox="1"/>
          <p:nvPr/>
        </p:nvSpPr>
        <p:spPr>
          <a:xfrm>
            <a:off x="548640" y="337870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Étape 4"/>
          <p:cNvSpPr txBox="1"/>
          <p:nvPr/>
        </p:nvSpPr>
        <p:spPr>
          <a:xfrm>
            <a:off x="1005840" y="338785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la classe de destination de chaque élève retenu.</a:t>
            </a:r>
            <a:endParaRPr lang="en-US" sz="1400" dirty="0"/>
          </a:p>
        </p:txBody>
      </p:sp>
      <p:sp>
        <p:nvSpPr>
          <p:cNvPr id="13" name="Numéro 5"/>
          <p:cNvSpPr txBox="1"/>
          <p:nvPr/>
        </p:nvSpPr>
        <p:spPr>
          <a:xfrm>
            <a:off x="548640" y="399135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Étape 5"/>
          <p:cNvSpPr txBox="1"/>
          <p:nvPr/>
        </p:nvSpPr>
        <p:spPr>
          <a:xfrm>
            <a:off x="1005840" y="400050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Confirmer le passage », puis exportez en Excel si besoin.</a:t>
            </a:r>
            <a:endParaRPr lang="en-US" sz="1400" dirty="0"/>
          </a:p>
        </p:txBody>
      </p:sp>
      <p:sp>
        <p:nvSpPr>
          <p:cNvPr id="15" name="À savoir"/>
          <p:cNvSpPr/>
          <p:nvPr/>
        </p:nvSpPr>
        <p:spPr>
          <a:xfrm>
            <a:off x="548640" y="5545836"/>
            <a:ext cx="11094415" cy="745236"/>
          </a:xfrm>
          <a:prstGeom prst="roundRect">
            <a:avLst>
              <a:gd name="adj" fmla="val 12270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6" name="Texte à savoir"/>
          <p:cNvSpPr txBox="1"/>
          <p:nvPr/>
        </p:nvSpPr>
        <p:spPr>
          <a:xfrm>
            <a:off x="777240" y="5637276"/>
            <a:ext cx="106372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classe de destination doit exister : créez d'abord l'année suivante et ses classes (chapitre 8).</a:t>
            </a:r>
            <a:endParaRPr lang="en-US" sz="1400" dirty="0"/>
          </a:p>
        </p:txBody>
      </p:sp>
      <p:sp>
        <p:nvSpPr>
          <p:cNvPr id="17" name="Cadre de la capture"/>
          <p:cNvSpPr/>
          <p:nvPr/>
        </p:nvSpPr>
        <p:spPr>
          <a:xfrm>
            <a:off x="5340096" y="1738514"/>
            <a:ext cx="6357823" cy="3230096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0" descr="Capture d'écran : Le suivi de parco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793378"/>
            <a:ext cx="6248095" cy="3120368"/>
          </a:xfrm>
          <a:prstGeom prst="rect">
            <a:avLst/>
          </a:prstGeom>
        </p:spPr>
      </p:pic>
      <p:sp>
        <p:nvSpPr>
          <p:cNvPr id="19" name="Repère 3"/>
          <p:cNvSpPr/>
          <p:nvPr/>
        </p:nvSpPr>
        <p:spPr>
          <a:xfrm>
            <a:off x="9827708" y="2445946"/>
            <a:ext cx="1547535" cy="26631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0" name="Numéro 3"/>
          <p:cNvSpPr txBox="1"/>
          <p:nvPr/>
        </p:nvSpPr>
        <p:spPr>
          <a:xfrm>
            <a:off x="9690548" y="230878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Repère 4"/>
          <p:cNvSpPr/>
          <p:nvPr/>
        </p:nvSpPr>
        <p:spPr>
          <a:xfrm>
            <a:off x="11375244" y="2445946"/>
            <a:ext cx="267812" cy="26631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2" name="Numéro 4"/>
          <p:cNvSpPr txBox="1"/>
          <p:nvPr/>
        </p:nvSpPr>
        <p:spPr>
          <a:xfrm>
            <a:off x="11238084" y="230878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Repère 5"/>
          <p:cNvSpPr/>
          <p:nvPr/>
        </p:nvSpPr>
        <p:spPr>
          <a:xfrm>
            <a:off x="5689334" y="4040627"/>
            <a:ext cx="1800168" cy="26493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4" name="Numéro 5"/>
          <p:cNvSpPr txBox="1"/>
          <p:nvPr/>
        </p:nvSpPr>
        <p:spPr>
          <a:xfrm>
            <a:off x="5552174" y="3903467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neau 1"/>
          <p:cNvSpPr/>
          <p:nvPr/>
        </p:nvSpPr>
        <p:spPr>
          <a:xfrm>
            <a:off x="7498080" y="1234440"/>
            <a:ext cx="4389120" cy="43891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Anneau 2"/>
          <p:cNvSpPr/>
          <p:nvPr/>
        </p:nvSpPr>
        <p:spPr>
          <a:xfrm>
            <a:off x="8090611" y="1826971"/>
            <a:ext cx="3204058" cy="3204058"/>
          </a:xfrm>
          <a:prstGeom prst="ellipse">
            <a:avLst/>
          </a:prstGeom>
          <a:solidFill>
            <a:schemeClr val="accent1">
              <a:alpha val="2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nneau 3"/>
          <p:cNvSpPr/>
          <p:nvPr/>
        </p:nvSpPr>
        <p:spPr>
          <a:xfrm>
            <a:off x="8683142" y="2419502"/>
            <a:ext cx="2018995" cy="2018995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entre de la cible"/>
          <p:cNvSpPr/>
          <p:nvPr/>
        </p:nvSpPr>
        <p:spPr>
          <a:xfrm>
            <a:off x="9275674" y="3012034"/>
            <a:ext cx="833933" cy="83393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Numéro de chapitre"/>
          <p:cNvSpPr txBox="1"/>
          <p:nvPr/>
        </p:nvSpPr>
        <p:spPr>
          <a:xfrm>
            <a:off x="82296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7</a:t>
            </a:r>
            <a:endParaRPr lang="en-US" sz="18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22960" y="16916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Piloter</a:t>
            </a:r>
            <a:endParaRPr lang="en-US" sz="4400" dirty="0"/>
          </a:p>
        </p:txBody>
      </p:sp>
      <p:sp>
        <p:nvSpPr>
          <p:cNvPr id="8" name="Contenu du chapitre"/>
          <p:cNvSpPr txBox="1"/>
          <p:nvPr/>
        </p:nvSpPr>
        <p:spPr>
          <a:xfrm>
            <a:off x="822960" y="338328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financier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mensuelle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Dépenses et autres recettes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 du personnel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 et bibliothèque</a:t>
            </a:r>
            <a:endParaRPr lang="en-US" sz="1800" dirty="0"/>
          </a:p>
        </p:txBody>
      </p:sp>
      <p:sp>
        <p:nvSpPr>
          <p:cNvPr id="9" name="Rôles concernés"/>
          <p:cNvSpPr txBox="1"/>
          <p:nvPr/>
        </p:nvSpPr>
        <p:spPr>
          <a:xfrm>
            <a:off x="822960" y="5715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: Fondateur, Chef, Comptable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bilan financier</a:t>
            </a:r>
            <a:endParaRPr lang="en-US" sz="3000" dirty="0"/>
          </a:p>
        </p:txBody>
      </p:sp>
      <p:sp>
        <p:nvSpPr>
          <p:cNvPr id="3" name="Rôle Comptable"/>
          <p:cNvSpPr txBox="1"/>
          <p:nvPr/>
        </p:nvSpPr>
        <p:spPr>
          <a:xfrm>
            <a:off x="10509199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</a:t>
            </a:r>
            <a:endParaRPr lang="en-US" sz="1200" dirty="0"/>
          </a:p>
        </p:txBody>
      </p:sp>
      <p:sp>
        <p:nvSpPr>
          <p:cNvPr id="4" name="Rôle Chef"/>
          <p:cNvSpPr txBox="1"/>
          <p:nvPr/>
        </p:nvSpPr>
        <p:spPr>
          <a:xfrm>
            <a:off x="9722815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5" name="Rôle Fondateur"/>
          <p:cNvSpPr txBox="1"/>
          <p:nvPr/>
        </p:nvSpPr>
        <p:spPr>
          <a:xfrm>
            <a:off x="8479231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6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Étape 1"/>
          <p:cNvSpPr txBox="1"/>
          <p:nvPr/>
        </p:nvSpPr>
        <p:spPr>
          <a:xfrm>
            <a:off x="1005840" y="1335024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Finances › Bilan financier.</a:t>
            </a:r>
            <a:endParaRPr lang="en-US" sz="1400" dirty="0"/>
          </a:p>
        </p:txBody>
      </p:sp>
      <p:sp>
        <p:nvSpPr>
          <p:cNvPr id="8" name="Numéro 2"/>
          <p:cNvSpPr txBox="1"/>
          <p:nvPr/>
        </p:nvSpPr>
        <p:spPr>
          <a:xfrm>
            <a:off x="548640" y="17465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Étape 2"/>
          <p:cNvSpPr txBox="1"/>
          <p:nvPr/>
        </p:nvSpPr>
        <p:spPr>
          <a:xfrm>
            <a:off x="1005840" y="1755648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Lisez les indicateurs : facturé, encaissé, reste à payer, taux de recouvrement, élèves à jour ou en retard.</a:t>
            </a:r>
            <a:endParaRPr lang="en-US" sz="1400" dirty="0"/>
          </a:p>
        </p:txBody>
      </p:sp>
      <p:sp>
        <p:nvSpPr>
          <p:cNvPr id="10" name="Numéro 3"/>
          <p:cNvSpPr txBox="1"/>
          <p:nvPr/>
        </p:nvSpPr>
        <p:spPr>
          <a:xfrm>
            <a:off x="548640" y="257403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Étape 3"/>
          <p:cNvSpPr txBox="1"/>
          <p:nvPr/>
        </p:nvSpPr>
        <p:spPr>
          <a:xfrm>
            <a:off x="1005840" y="258318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 de résultat oppose recettes, dépenses et résultat net.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318668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Étape 4"/>
          <p:cNvSpPr txBox="1"/>
          <p:nvPr/>
        </p:nvSpPr>
        <p:spPr>
          <a:xfrm>
            <a:off x="1005840" y="319582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Nouvelle dépense » pour enregistrer une dépense.</a:t>
            </a:r>
            <a:endParaRPr lang="en-US" sz="1400" dirty="0"/>
          </a:p>
        </p:txBody>
      </p:sp>
      <p:sp>
        <p:nvSpPr>
          <p:cNvPr id="14" name="Numéro 5"/>
          <p:cNvSpPr txBox="1"/>
          <p:nvPr/>
        </p:nvSpPr>
        <p:spPr>
          <a:xfrm>
            <a:off x="548640" y="379933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Étape 5"/>
          <p:cNvSpPr txBox="1"/>
          <p:nvPr/>
        </p:nvSpPr>
        <p:spPr>
          <a:xfrm>
            <a:off x="1005840" y="380847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Régénérer les factures manquantes » vérifie tous les élèves inscrits.</a:t>
            </a:r>
            <a:endParaRPr lang="en-US" sz="1400" dirty="0"/>
          </a:p>
        </p:txBody>
      </p:sp>
      <p:sp>
        <p:nvSpPr>
          <p:cNvPr id="16" name="Numéro 6"/>
          <p:cNvSpPr txBox="1"/>
          <p:nvPr/>
        </p:nvSpPr>
        <p:spPr>
          <a:xfrm>
            <a:off x="548640" y="44119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7" name="Étape 6"/>
          <p:cNvSpPr txBox="1"/>
          <p:nvPr/>
        </p:nvSpPr>
        <p:spPr>
          <a:xfrm>
            <a:off x="1005840" y="4421124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Téléchargez le bilan complet en Excel.</a:t>
            </a:r>
            <a:endParaRPr lang="en-US" sz="1400" dirty="0"/>
          </a:p>
        </p:txBody>
      </p:sp>
      <p:sp>
        <p:nvSpPr>
          <p:cNvPr id="18" name="À savoir"/>
          <p:cNvSpPr/>
          <p:nvPr/>
        </p:nvSpPr>
        <p:spPr>
          <a:xfrm>
            <a:off x="548640" y="533095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9" name="Texte à savoir"/>
          <p:cNvSpPr txBox="1"/>
          <p:nvPr/>
        </p:nvSpPr>
        <p:spPr>
          <a:xfrm>
            <a:off x="777240" y="5422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Utilisez « Régénérer » après avoir ajouté un tarif : les factures manquantes sont créées, celles qui existent déjà ne sont pas dupliquées.</a:t>
            </a:r>
            <a:endParaRPr lang="en-US" sz="1400" dirty="0"/>
          </a:p>
        </p:txBody>
      </p:sp>
      <p:sp>
        <p:nvSpPr>
          <p:cNvPr id="20" name="Cadre de la capture"/>
          <p:cNvSpPr/>
          <p:nvPr/>
        </p:nvSpPr>
        <p:spPr>
          <a:xfrm>
            <a:off x="5340096" y="1271016"/>
            <a:ext cx="6357823" cy="3757067"/>
          </a:xfrm>
          <a:prstGeom prst="roundRect">
            <a:avLst>
              <a:gd name="adj" fmla="val 1460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Capture d'écran : Le bilan financ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6248095" cy="3647339"/>
          </a:xfrm>
          <a:prstGeom prst="rect">
            <a:avLst/>
          </a:prstGeom>
        </p:spPr>
      </p:pic>
      <p:sp>
        <p:nvSpPr>
          <p:cNvPr id="22" name="Repère 3"/>
          <p:cNvSpPr/>
          <p:nvPr/>
        </p:nvSpPr>
        <p:spPr>
          <a:xfrm>
            <a:off x="5693236" y="4618280"/>
            <a:ext cx="5777133" cy="136546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3"/>
          <p:cNvSpPr txBox="1"/>
          <p:nvPr/>
        </p:nvSpPr>
        <p:spPr>
          <a:xfrm>
            <a:off x="5556076" y="448112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Repère 4"/>
          <p:cNvSpPr/>
          <p:nvPr/>
        </p:nvSpPr>
        <p:spPr>
          <a:xfrm>
            <a:off x="7770293" y="1774275"/>
            <a:ext cx="898507" cy="18838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5" name="Numéro 4"/>
          <p:cNvSpPr txBox="1"/>
          <p:nvPr/>
        </p:nvSpPr>
        <p:spPr>
          <a:xfrm>
            <a:off x="7633133" y="1637115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Repère 5"/>
          <p:cNvSpPr/>
          <p:nvPr/>
        </p:nvSpPr>
        <p:spPr>
          <a:xfrm>
            <a:off x="8752526" y="1774275"/>
            <a:ext cx="1467668" cy="18838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7" name="Numéro 5"/>
          <p:cNvSpPr txBox="1"/>
          <p:nvPr/>
        </p:nvSpPr>
        <p:spPr>
          <a:xfrm>
            <a:off x="8615366" y="1637115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Repère 6"/>
          <p:cNvSpPr/>
          <p:nvPr/>
        </p:nvSpPr>
        <p:spPr>
          <a:xfrm>
            <a:off x="10303921" y="1774275"/>
            <a:ext cx="1255408" cy="18838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9" name="Numéro 6"/>
          <p:cNvSpPr txBox="1"/>
          <p:nvPr/>
        </p:nvSpPr>
        <p:spPr>
          <a:xfrm>
            <a:off x="10166761" y="1637115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trésorerie mensuelle</a:t>
            </a:r>
            <a:endParaRPr lang="en-US" sz="3000" dirty="0"/>
          </a:p>
        </p:txBody>
      </p:sp>
      <p:sp>
        <p:nvSpPr>
          <p:cNvPr id="3" name="Rôle Comptable"/>
          <p:cNvSpPr txBox="1"/>
          <p:nvPr/>
        </p:nvSpPr>
        <p:spPr>
          <a:xfrm>
            <a:off x="10509199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</a:t>
            </a:r>
            <a:endParaRPr lang="en-US" sz="1200" dirty="0"/>
          </a:p>
        </p:txBody>
      </p:sp>
      <p:sp>
        <p:nvSpPr>
          <p:cNvPr id="4" name="Rôle Chef"/>
          <p:cNvSpPr txBox="1"/>
          <p:nvPr/>
        </p:nvSpPr>
        <p:spPr>
          <a:xfrm>
            <a:off x="9722815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5" name="Rôle Fondateur"/>
          <p:cNvSpPr txBox="1"/>
          <p:nvPr/>
        </p:nvSpPr>
        <p:spPr>
          <a:xfrm>
            <a:off x="8479231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6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Étape 1"/>
          <p:cNvSpPr txBox="1"/>
          <p:nvPr/>
        </p:nvSpPr>
        <p:spPr>
          <a:xfrm>
            <a:off x="1005840" y="1335024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couvre octobre à juin, avec les colonnes « Avant octobre » et « Après juin » si nécessaire.</a:t>
            </a:r>
            <a:endParaRPr lang="en-US" sz="1400" dirty="0"/>
          </a:p>
        </p:txBody>
      </p:sp>
      <p:sp>
        <p:nvSpPr>
          <p:cNvPr id="8" name="Numéro 2"/>
          <p:cNvSpPr txBox="1"/>
          <p:nvPr/>
        </p:nvSpPr>
        <p:spPr>
          <a:xfrm>
            <a:off x="548640" y="215341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Étape 2"/>
          <p:cNvSpPr txBox="1"/>
          <p:nvPr/>
        </p:nvSpPr>
        <p:spPr>
          <a:xfrm>
            <a:off x="1005840" y="216255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Encaissements : écolage par niveau, inscriptions et autres recettes.</a:t>
            </a:r>
            <a:endParaRPr lang="en-US" sz="1400" dirty="0"/>
          </a:p>
        </p:txBody>
      </p:sp>
      <p:sp>
        <p:nvSpPr>
          <p:cNvPr id="10" name="Numéro 3"/>
          <p:cNvSpPr txBox="1"/>
          <p:nvPr/>
        </p:nvSpPr>
        <p:spPr>
          <a:xfrm>
            <a:off x="548640" y="276606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Étape 3"/>
          <p:cNvSpPr txBox="1"/>
          <p:nvPr/>
        </p:nvSpPr>
        <p:spPr>
          <a:xfrm>
            <a:off x="1005840" y="277520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Décaissements : salaires et dépenses, par poste.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337870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Étape 4"/>
          <p:cNvSpPr txBox="1"/>
          <p:nvPr/>
        </p:nvSpPr>
        <p:spPr>
          <a:xfrm>
            <a:off x="1005840" y="338785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flux, la trésorerie initiale et la trésorerie finale se cumulent mois après mois.</a:t>
            </a:r>
            <a:endParaRPr lang="en-US" sz="1400" dirty="0"/>
          </a:p>
        </p:txBody>
      </p:sp>
      <p:sp>
        <p:nvSpPr>
          <p:cNvPr id="14" name="Numéro 5"/>
          <p:cNvSpPr txBox="1"/>
          <p:nvPr/>
        </p:nvSpPr>
        <p:spPr>
          <a:xfrm>
            <a:off x="548640" y="399135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Étape 5"/>
          <p:cNvSpPr txBox="1"/>
          <p:nvPr/>
        </p:nvSpPr>
        <p:spPr>
          <a:xfrm>
            <a:off x="1005840" y="400050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Téléchargez le tableau en Excel ou ajoutez une dépense.</a:t>
            </a:r>
            <a:endParaRPr lang="en-US" sz="1400" dirty="0"/>
          </a:p>
        </p:txBody>
      </p:sp>
      <p:sp>
        <p:nvSpPr>
          <p:cNvPr id="16" name="À savoir"/>
          <p:cNvSpPr/>
          <p:nvPr/>
        </p:nvSpPr>
        <p:spPr>
          <a:xfrm>
            <a:off x="548640" y="533095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7" name="Texte à savoir"/>
          <p:cNvSpPr txBox="1"/>
          <p:nvPr/>
        </p:nvSpPr>
        <p:spPr>
          <a:xfrm>
            <a:off x="777240" y="5422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à saisir : le tableau se calcule seul à partir des paiements, des bulletins de paie (dès leur création) et des mouvements.</a:t>
            </a:r>
            <a:endParaRPr lang="en-US" sz="1400" dirty="0"/>
          </a:p>
        </p:txBody>
      </p:sp>
      <p:sp>
        <p:nvSpPr>
          <p:cNvPr id="18" name="Cadre de la capture"/>
          <p:cNvSpPr/>
          <p:nvPr/>
        </p:nvSpPr>
        <p:spPr>
          <a:xfrm>
            <a:off x="5340096" y="1271016"/>
            <a:ext cx="6357823" cy="3233776"/>
          </a:xfrm>
          <a:prstGeom prst="roundRect">
            <a:avLst>
              <a:gd name="adj" fmla="val 1697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Capture d'écran : La trésorerie mensuel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6248095" cy="3124048"/>
          </a:xfrm>
          <a:prstGeom prst="rect">
            <a:avLst/>
          </a:prstGeom>
        </p:spPr>
      </p:pic>
      <p:sp>
        <p:nvSpPr>
          <p:cNvPr id="20" name="Repère 1"/>
          <p:cNvSpPr/>
          <p:nvPr/>
        </p:nvSpPr>
        <p:spPr>
          <a:xfrm>
            <a:off x="5693236" y="1746148"/>
            <a:ext cx="1480096" cy="136546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1"/>
          <p:cNvSpPr txBox="1"/>
          <p:nvPr/>
        </p:nvSpPr>
        <p:spPr>
          <a:xfrm>
            <a:off x="5556076" y="160898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Repère 2"/>
          <p:cNvSpPr/>
          <p:nvPr/>
        </p:nvSpPr>
        <p:spPr>
          <a:xfrm>
            <a:off x="5693236" y="2201575"/>
            <a:ext cx="5949819" cy="16058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2"/>
          <p:cNvSpPr txBox="1"/>
          <p:nvPr/>
        </p:nvSpPr>
        <p:spPr>
          <a:xfrm>
            <a:off x="5556076" y="2064415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Repère 4"/>
          <p:cNvSpPr/>
          <p:nvPr/>
        </p:nvSpPr>
        <p:spPr>
          <a:xfrm>
            <a:off x="5693236" y="1892915"/>
            <a:ext cx="5777133" cy="8789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5" name="Numéro 4"/>
          <p:cNvSpPr txBox="1"/>
          <p:nvPr/>
        </p:nvSpPr>
        <p:spPr>
          <a:xfrm>
            <a:off x="5556076" y="1755755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Repère 5"/>
          <p:cNvSpPr/>
          <p:nvPr/>
        </p:nvSpPr>
        <p:spPr>
          <a:xfrm>
            <a:off x="10637519" y="1735928"/>
            <a:ext cx="832850" cy="15698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7" name="Numéro 5"/>
          <p:cNvSpPr txBox="1"/>
          <p:nvPr/>
        </p:nvSpPr>
        <p:spPr>
          <a:xfrm>
            <a:off x="10500359" y="159876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Dépenses et autres recettes</a:t>
            </a:r>
            <a:endParaRPr lang="en-US" sz="3000" dirty="0"/>
          </a:p>
        </p:txBody>
      </p:sp>
      <p:sp>
        <p:nvSpPr>
          <p:cNvPr id="3" name="Rôle Comptable"/>
          <p:cNvSpPr txBox="1"/>
          <p:nvPr/>
        </p:nvSpPr>
        <p:spPr>
          <a:xfrm>
            <a:off x="10509199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</a:t>
            </a:r>
            <a:endParaRPr lang="en-US" sz="1200" dirty="0"/>
          </a:p>
        </p:txBody>
      </p:sp>
      <p:sp>
        <p:nvSpPr>
          <p:cNvPr id="4" name="Rôle Chef"/>
          <p:cNvSpPr txBox="1"/>
          <p:nvPr/>
        </p:nvSpPr>
        <p:spPr>
          <a:xfrm>
            <a:off x="9722815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5" name="Rôle Fondateur"/>
          <p:cNvSpPr txBox="1"/>
          <p:nvPr/>
        </p:nvSpPr>
        <p:spPr>
          <a:xfrm>
            <a:off x="8479231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6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Étape 1"/>
          <p:cNvSpPr txBox="1"/>
          <p:nvPr/>
        </p:nvSpPr>
        <p:spPr>
          <a:xfrm>
            <a:off x="1005840" y="1335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« Dépenses &amp; autres recettes », cliquez sur « Enregistrer un mouvement ».</a:t>
            </a:r>
            <a:endParaRPr lang="en-US" sz="1400" dirty="0"/>
          </a:p>
        </p:txBody>
      </p:sp>
      <p:sp>
        <p:nvSpPr>
          <p:cNvPr id="8" name="Numéro 2"/>
          <p:cNvSpPr txBox="1"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Étape 2"/>
          <p:cNvSpPr txBox="1"/>
          <p:nvPr/>
        </p:nvSpPr>
        <p:spPr>
          <a:xfrm>
            <a:off x="1005840" y="1947672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Dépense ou Recette.</a:t>
            </a:r>
            <a:endParaRPr lang="en-US" sz="1400" dirty="0"/>
          </a:p>
        </p:txBody>
      </p:sp>
      <p:sp>
        <p:nvSpPr>
          <p:cNvPr id="10" name="Numéro 3"/>
          <p:cNvSpPr txBox="1"/>
          <p:nvPr/>
        </p:nvSpPr>
        <p:spPr>
          <a:xfrm>
            <a:off x="548640" y="235915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Étape 3"/>
          <p:cNvSpPr txBox="1"/>
          <p:nvPr/>
        </p:nvSpPr>
        <p:spPr>
          <a:xfrm>
            <a:off x="1005840" y="236829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la catégorie : loyer, eau et électricité, fournitures, don...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29718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Étape 4"/>
          <p:cNvSpPr txBox="1"/>
          <p:nvPr/>
        </p:nvSpPr>
        <p:spPr>
          <a:xfrm>
            <a:off x="1005840" y="298094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le libellé, le montant et la date.</a:t>
            </a:r>
            <a:endParaRPr lang="en-US" sz="1400" dirty="0"/>
          </a:p>
        </p:txBody>
      </p:sp>
      <p:sp>
        <p:nvSpPr>
          <p:cNvPr id="14" name="Numéro 5"/>
          <p:cNvSpPr txBox="1"/>
          <p:nvPr/>
        </p:nvSpPr>
        <p:spPr>
          <a:xfrm>
            <a:off x="548640" y="35844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Étape 5"/>
          <p:cNvSpPr txBox="1"/>
          <p:nvPr/>
        </p:nvSpPr>
        <p:spPr>
          <a:xfrm>
            <a:off x="1005840" y="359359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Enregistrer ». Pour retirer une ligne, voir la page suivante.</a:t>
            </a:r>
            <a:endParaRPr lang="en-US" sz="1400" dirty="0"/>
          </a:p>
        </p:txBody>
      </p:sp>
      <p:sp>
        <p:nvSpPr>
          <p:cNvPr id="16" name="À savoir"/>
          <p:cNvSpPr/>
          <p:nvPr/>
        </p:nvSpPr>
        <p:spPr>
          <a:xfrm>
            <a:off x="548640" y="5545836"/>
            <a:ext cx="11094415" cy="745236"/>
          </a:xfrm>
          <a:prstGeom prst="roundRect">
            <a:avLst>
              <a:gd name="adj" fmla="val 12270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7" name="Texte à savoir"/>
          <p:cNvSpPr txBox="1"/>
          <p:nvPr/>
        </p:nvSpPr>
        <p:spPr>
          <a:xfrm>
            <a:off x="777240" y="5637276"/>
            <a:ext cx="106372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salaires ne se saisissent pas ici : ils proviennent des bulletins de paie.</a:t>
            </a:r>
            <a:endParaRPr lang="en-US" sz="1400" dirty="0"/>
          </a:p>
        </p:txBody>
      </p:sp>
      <p:sp>
        <p:nvSpPr>
          <p:cNvPr id="18" name="Cadre de la capture"/>
          <p:cNvSpPr/>
          <p:nvPr/>
        </p:nvSpPr>
        <p:spPr>
          <a:xfrm>
            <a:off x="6436462" y="1271016"/>
            <a:ext cx="4165092" cy="4165092"/>
          </a:xfrm>
          <a:prstGeom prst="roundRect">
            <a:avLst>
              <a:gd name="adj" fmla="val 1317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Capture d'écran : Dépenses et autres recet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1326" y="1325880"/>
            <a:ext cx="4055364" cy="4055364"/>
          </a:xfrm>
          <a:prstGeom prst="rect">
            <a:avLst/>
          </a:prstGeom>
        </p:spPr>
      </p:pic>
      <p:sp>
        <p:nvSpPr>
          <p:cNvPr id="20" name="Repère 2"/>
          <p:cNvSpPr/>
          <p:nvPr/>
        </p:nvSpPr>
        <p:spPr>
          <a:xfrm>
            <a:off x="6864419" y="1934185"/>
            <a:ext cx="3309177" cy="289452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2"/>
          <p:cNvSpPr txBox="1"/>
          <p:nvPr/>
        </p:nvSpPr>
        <p:spPr>
          <a:xfrm>
            <a:off x="6727259" y="1797025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Repère 3"/>
          <p:cNvSpPr/>
          <p:nvPr/>
        </p:nvSpPr>
        <p:spPr>
          <a:xfrm>
            <a:off x="6864419" y="2554529"/>
            <a:ext cx="3309177" cy="291986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3"/>
          <p:cNvSpPr txBox="1"/>
          <p:nvPr/>
        </p:nvSpPr>
        <p:spPr>
          <a:xfrm>
            <a:off x="6727259" y="2417369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Repère 4"/>
          <p:cNvSpPr/>
          <p:nvPr/>
        </p:nvSpPr>
        <p:spPr>
          <a:xfrm>
            <a:off x="6864419" y="3599165"/>
            <a:ext cx="3309177" cy="49310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5" name="Numéro 4"/>
          <p:cNvSpPr txBox="1"/>
          <p:nvPr/>
        </p:nvSpPr>
        <p:spPr>
          <a:xfrm>
            <a:off x="6727259" y="3462005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Supprimer une dépense</a:t>
            </a:r>
            <a:endParaRPr lang="en-US" sz="3000" dirty="0"/>
          </a:p>
        </p:txBody>
      </p:sp>
      <p:sp>
        <p:nvSpPr>
          <p:cNvPr id="3" name="Rôle Comptable"/>
          <p:cNvSpPr txBox="1"/>
          <p:nvPr/>
        </p:nvSpPr>
        <p:spPr>
          <a:xfrm>
            <a:off x="10509199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</a:t>
            </a:r>
            <a:endParaRPr lang="en-US" sz="1200" dirty="0"/>
          </a:p>
        </p:txBody>
      </p:sp>
      <p:sp>
        <p:nvSpPr>
          <p:cNvPr id="4" name="Rôle Chef"/>
          <p:cNvSpPr txBox="1"/>
          <p:nvPr/>
        </p:nvSpPr>
        <p:spPr>
          <a:xfrm>
            <a:off x="9722815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5" name="Rôle Fondateur"/>
          <p:cNvSpPr txBox="1"/>
          <p:nvPr/>
        </p:nvSpPr>
        <p:spPr>
          <a:xfrm>
            <a:off x="8479231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6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Étape 1"/>
          <p:cNvSpPr txBox="1"/>
          <p:nvPr/>
        </p:nvSpPr>
        <p:spPr>
          <a:xfrm>
            <a:off x="1005840" y="1335024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« Dépenses &amp; autres recettes », repérez la ligne de la dépense et cliquez sur « Supprimer ».</a:t>
            </a:r>
            <a:endParaRPr lang="en-US" sz="1400" dirty="0"/>
          </a:p>
        </p:txBody>
      </p:sp>
      <p:sp>
        <p:nvSpPr>
          <p:cNvPr id="8" name="Numéro 2"/>
          <p:cNvSpPr txBox="1"/>
          <p:nvPr/>
        </p:nvSpPr>
        <p:spPr>
          <a:xfrm>
            <a:off x="548640" y="215341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Étape 2"/>
          <p:cNvSpPr txBox="1"/>
          <p:nvPr/>
        </p:nvSpPr>
        <p:spPr>
          <a:xfrm>
            <a:off x="1005840" y="216255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fenêtre rappelle le libellé et le montant : vérifiez que c’est la bonne dépense.</a:t>
            </a:r>
            <a:endParaRPr lang="en-US" sz="1400" dirty="0"/>
          </a:p>
        </p:txBody>
      </p:sp>
      <p:sp>
        <p:nvSpPr>
          <p:cNvPr id="10" name="Numéro 3"/>
          <p:cNvSpPr txBox="1"/>
          <p:nvPr/>
        </p:nvSpPr>
        <p:spPr>
          <a:xfrm>
            <a:off x="548640" y="276606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Étape 3"/>
          <p:cNvSpPr txBox="1"/>
          <p:nvPr/>
        </p:nvSpPr>
        <p:spPr>
          <a:xfrm>
            <a:off x="1005840" y="277520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le code à 4 chiffres. Les chiffres sont masqués.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337870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Étape 4"/>
          <p:cNvSpPr txBox="1"/>
          <p:nvPr/>
        </p:nvSpPr>
        <p:spPr>
          <a:xfrm>
            <a:off x="1005840" y="3387852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Supprimer ». Avec un mauvais code, la fenêtre reste ouverte : recommencez.</a:t>
            </a:r>
            <a:endParaRPr lang="en-US" sz="1400" dirty="0"/>
          </a:p>
        </p:txBody>
      </p:sp>
      <p:sp>
        <p:nvSpPr>
          <p:cNvPr id="14" name="À savoir"/>
          <p:cNvSpPr/>
          <p:nvPr/>
        </p:nvSpPr>
        <p:spPr>
          <a:xfrm>
            <a:off x="548640" y="5116068"/>
            <a:ext cx="11094415" cy="1175004"/>
          </a:xfrm>
          <a:prstGeom prst="roundRect">
            <a:avLst>
              <a:gd name="adj" fmla="val 7782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5" name="Texte à savoir"/>
          <p:cNvSpPr txBox="1"/>
          <p:nvPr/>
        </p:nvSpPr>
        <p:spPr>
          <a:xfrm>
            <a:off x="777240" y="5207508"/>
            <a:ext cx="10637215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est fixé par la direction : demandez-le-lui, et ne le communiquez qu'aux personnes habilitées. La suppression est définitive : la dépense disparaît de la trésorerie et du compte de résultat. Une recette se supprime après une simple confirmation.</a:t>
            </a:r>
            <a:endParaRPr lang="en-US" sz="1400" dirty="0"/>
          </a:p>
        </p:txBody>
      </p:sp>
      <p:sp>
        <p:nvSpPr>
          <p:cNvPr id="16" name="Cadre de la capture"/>
          <p:cNvSpPr/>
          <p:nvPr/>
        </p:nvSpPr>
        <p:spPr>
          <a:xfrm>
            <a:off x="5601831" y="1271016"/>
            <a:ext cx="5834353" cy="3735324"/>
          </a:xfrm>
          <a:prstGeom prst="roundRect">
            <a:avLst>
              <a:gd name="adj" fmla="val 1469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0" descr="Capture d'écran : Supprimer une dépen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6695" y="1325880"/>
            <a:ext cx="5724625" cy="3625596"/>
          </a:xfrm>
          <a:prstGeom prst="rect">
            <a:avLst/>
          </a:prstGeom>
        </p:spPr>
      </p:pic>
      <p:sp>
        <p:nvSpPr>
          <p:cNvPr id="18" name="Repère 3"/>
          <p:cNvSpPr/>
          <p:nvPr/>
        </p:nvSpPr>
        <p:spPr>
          <a:xfrm>
            <a:off x="7660314" y="3324132"/>
            <a:ext cx="1717388" cy="343478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19" name="Numéro 3"/>
          <p:cNvSpPr txBox="1"/>
          <p:nvPr/>
        </p:nvSpPr>
        <p:spPr>
          <a:xfrm>
            <a:off x="7523154" y="318697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Repère 4"/>
          <p:cNvSpPr/>
          <p:nvPr/>
        </p:nvSpPr>
        <p:spPr>
          <a:xfrm>
            <a:off x="9468043" y="3820266"/>
            <a:ext cx="997337" cy="343478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4"/>
          <p:cNvSpPr txBox="1"/>
          <p:nvPr/>
        </p:nvSpPr>
        <p:spPr>
          <a:xfrm>
            <a:off x="9330883" y="368310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paie du personnel</a:t>
            </a:r>
            <a:endParaRPr lang="en-US" sz="3000" dirty="0"/>
          </a:p>
        </p:txBody>
      </p:sp>
      <p:sp>
        <p:nvSpPr>
          <p:cNvPr id="3" name="Rôle Comptable"/>
          <p:cNvSpPr txBox="1"/>
          <p:nvPr/>
        </p:nvSpPr>
        <p:spPr>
          <a:xfrm>
            <a:off x="10509199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</a:t>
            </a:r>
            <a:endParaRPr lang="en-US" sz="1200" dirty="0"/>
          </a:p>
        </p:txBody>
      </p:sp>
      <p:sp>
        <p:nvSpPr>
          <p:cNvPr id="4" name="Rôle Chef"/>
          <p:cNvSpPr txBox="1"/>
          <p:nvPr/>
        </p:nvSpPr>
        <p:spPr>
          <a:xfrm>
            <a:off x="9722815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5" name="Rôle Fondateur"/>
          <p:cNvSpPr txBox="1"/>
          <p:nvPr/>
        </p:nvSpPr>
        <p:spPr>
          <a:xfrm>
            <a:off x="8479231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6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Étape 1"/>
          <p:cNvSpPr txBox="1"/>
          <p:nvPr/>
        </p:nvSpPr>
        <p:spPr>
          <a:xfrm>
            <a:off x="1005840" y="1335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Finances › Paie et choisissez le mois et l’année.</a:t>
            </a:r>
            <a:endParaRPr lang="en-US" sz="1400" dirty="0"/>
          </a:p>
        </p:txBody>
      </p:sp>
      <p:sp>
        <p:nvSpPr>
          <p:cNvPr id="8" name="Numéro 2"/>
          <p:cNvSpPr txBox="1"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Étape 2"/>
          <p:cNvSpPr txBox="1"/>
          <p:nvPr/>
        </p:nvSpPr>
        <p:spPr>
          <a:xfrm>
            <a:off x="1005840" y="194767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Nouveau bulletin » : employé, heures par classe, mode de paiement.</a:t>
            </a:r>
            <a:endParaRPr lang="en-US" sz="1400" dirty="0"/>
          </a:p>
        </p:txBody>
      </p:sp>
      <p:sp>
        <p:nvSpPr>
          <p:cNvPr id="10" name="Numéro 3"/>
          <p:cNvSpPr txBox="1"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Étape 3"/>
          <p:cNvSpPr txBox="1"/>
          <p:nvPr/>
        </p:nvSpPr>
        <p:spPr>
          <a:xfrm>
            <a:off x="1005840" y="256032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Ajoutez primes, indemnités ou retenues en lignes additionnelles.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316382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Étape 4"/>
          <p:cNvSpPr txBox="1"/>
          <p:nvPr/>
        </p:nvSpPr>
        <p:spPr>
          <a:xfrm>
            <a:off x="1005840" y="317296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Créer le bulletin » (brouillon), puis « Valider » après contrôle.</a:t>
            </a:r>
            <a:endParaRPr lang="en-US" sz="1400" dirty="0"/>
          </a:p>
        </p:txBody>
      </p:sp>
      <p:sp>
        <p:nvSpPr>
          <p:cNvPr id="14" name="Numéro 5"/>
          <p:cNvSpPr txBox="1"/>
          <p:nvPr/>
        </p:nvSpPr>
        <p:spPr>
          <a:xfrm>
            <a:off x="548640" y="377647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Étape 5"/>
          <p:cNvSpPr txBox="1"/>
          <p:nvPr/>
        </p:nvSpPr>
        <p:spPr>
          <a:xfrm>
            <a:off x="1005840" y="378561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Importer (Excel) » crée des bulletins en lot (voir « Modèle d'import »).</a:t>
            </a:r>
            <a:endParaRPr lang="en-US" sz="1400" dirty="0"/>
          </a:p>
        </p:txBody>
      </p:sp>
      <p:sp>
        <p:nvSpPr>
          <p:cNvPr id="16" name="Numéro 6"/>
          <p:cNvSpPr txBox="1"/>
          <p:nvPr/>
        </p:nvSpPr>
        <p:spPr>
          <a:xfrm>
            <a:off x="548640" y="43891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7" name="Étape 6"/>
          <p:cNvSpPr txBox="1"/>
          <p:nvPr/>
        </p:nvSpPr>
        <p:spPr>
          <a:xfrm>
            <a:off x="1005840" y="439826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Téléchargez ensuite le cahier de paie du mois.</a:t>
            </a:r>
            <a:endParaRPr lang="en-US" sz="1400" dirty="0"/>
          </a:p>
        </p:txBody>
      </p:sp>
      <p:sp>
        <p:nvSpPr>
          <p:cNvPr id="18" name="À savoir"/>
          <p:cNvSpPr/>
          <p:nvPr/>
        </p:nvSpPr>
        <p:spPr>
          <a:xfrm>
            <a:off x="548640" y="5330952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9" name="Texte à savoir"/>
          <p:cNvSpPr txBox="1"/>
          <p:nvPr/>
        </p:nvSpPr>
        <p:spPr>
          <a:xfrm>
            <a:off x="777240" y="542239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sa création, même en brouillon, un bulletin compte dans les salaires et la trésorerie. Un enseignant sans créneau dans l'emploi du temps a une base à 0.</a:t>
            </a:r>
            <a:endParaRPr lang="en-US" sz="1400" dirty="0"/>
          </a:p>
        </p:txBody>
      </p:sp>
      <p:sp>
        <p:nvSpPr>
          <p:cNvPr id="20" name="Cadre de la capture"/>
          <p:cNvSpPr/>
          <p:nvPr/>
        </p:nvSpPr>
        <p:spPr>
          <a:xfrm>
            <a:off x="5340096" y="1271016"/>
            <a:ext cx="6357823" cy="3309972"/>
          </a:xfrm>
          <a:prstGeom prst="roundRect">
            <a:avLst>
              <a:gd name="adj" fmla="val 1658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Capture d'écran : La paie du person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6248095" cy="3200244"/>
          </a:xfrm>
          <a:prstGeom prst="rect">
            <a:avLst/>
          </a:prstGeom>
        </p:spPr>
      </p:pic>
      <p:sp>
        <p:nvSpPr>
          <p:cNvPr id="22" name="Repère 2"/>
          <p:cNvSpPr/>
          <p:nvPr/>
        </p:nvSpPr>
        <p:spPr>
          <a:xfrm>
            <a:off x="7924677" y="1806631"/>
            <a:ext cx="1122109" cy="27430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2"/>
          <p:cNvSpPr txBox="1"/>
          <p:nvPr/>
        </p:nvSpPr>
        <p:spPr>
          <a:xfrm>
            <a:off x="7787517" y="1669471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Repère 5"/>
          <p:cNvSpPr/>
          <p:nvPr/>
        </p:nvSpPr>
        <p:spPr>
          <a:xfrm>
            <a:off x="9168700" y="1806631"/>
            <a:ext cx="1214378" cy="27430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5" name="Numéro 5"/>
          <p:cNvSpPr txBox="1"/>
          <p:nvPr/>
        </p:nvSpPr>
        <p:spPr>
          <a:xfrm>
            <a:off x="9031540" y="1669471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Logistique</a:t>
            </a:r>
            <a:endParaRPr lang="en-US" sz="3000" dirty="0"/>
          </a:p>
        </p:txBody>
      </p:sp>
      <p:sp>
        <p:nvSpPr>
          <p:cNvPr id="3" name="Rôle Chef"/>
          <p:cNvSpPr txBox="1"/>
          <p:nvPr/>
        </p:nvSpPr>
        <p:spPr>
          <a:xfrm>
            <a:off x="10966399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4" name="Rôle Fondateur"/>
          <p:cNvSpPr txBox="1"/>
          <p:nvPr/>
        </p:nvSpPr>
        <p:spPr>
          <a:xfrm>
            <a:off x="9722815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5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Étape 1"/>
          <p:cNvSpPr txBox="1"/>
          <p:nvPr/>
        </p:nvSpPr>
        <p:spPr>
          <a:xfrm>
            <a:off x="1005840" y="1335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Établissement › Logistique : inventaire du matériel.</a:t>
            </a:r>
            <a:endParaRPr lang="en-US" sz="1400" dirty="0"/>
          </a:p>
        </p:txBody>
      </p:sp>
      <p:sp>
        <p:nvSpPr>
          <p:cNvPr id="7" name="Numéro 2"/>
          <p:cNvSpPr txBox="1"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Étape 2"/>
          <p:cNvSpPr txBox="1"/>
          <p:nvPr/>
        </p:nvSpPr>
        <p:spPr>
          <a:xfrm>
            <a:off x="1005840" y="194767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Nouveau matériel » : désignation, catégorie, quantité, état, salle.</a:t>
            </a:r>
            <a:endParaRPr lang="en-US" sz="1400" dirty="0"/>
          </a:p>
        </p:txBody>
      </p:sp>
      <p:sp>
        <p:nvSpPr>
          <p:cNvPr id="9" name="Numéro 3"/>
          <p:cNvSpPr txBox="1"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Étape 3"/>
          <p:cNvSpPr txBox="1"/>
          <p:nvPr/>
        </p:nvSpPr>
        <p:spPr>
          <a:xfrm>
            <a:off x="1005840" y="256032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Filtrez par catégorie ou par état pour retrouver un article.</a:t>
            </a:r>
            <a:endParaRPr lang="en-US" sz="1400" dirty="0"/>
          </a:p>
        </p:txBody>
      </p:sp>
      <p:sp>
        <p:nvSpPr>
          <p:cNvPr id="11" name="Numéro 4"/>
          <p:cNvSpPr txBox="1"/>
          <p:nvPr/>
        </p:nvSpPr>
        <p:spPr>
          <a:xfrm>
            <a:off x="548640" y="316382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Étape 4"/>
          <p:cNvSpPr txBox="1"/>
          <p:nvPr/>
        </p:nvSpPr>
        <p:spPr>
          <a:xfrm>
            <a:off x="1005840" y="317296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Suivez les compteurs : total d'articles, à réparer ou hors service.</a:t>
            </a:r>
            <a:endParaRPr lang="en-US" sz="1400" dirty="0"/>
          </a:p>
        </p:txBody>
      </p:sp>
      <p:sp>
        <p:nvSpPr>
          <p:cNvPr id="13" name="Numéro 5"/>
          <p:cNvSpPr txBox="1"/>
          <p:nvPr/>
        </p:nvSpPr>
        <p:spPr>
          <a:xfrm>
            <a:off x="548640" y="377647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Étape 5"/>
          <p:cNvSpPr txBox="1"/>
          <p:nvPr/>
        </p:nvSpPr>
        <p:spPr>
          <a:xfrm>
            <a:off x="1005840" y="3785616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Téléchargez l'inventaire en Excel.</a:t>
            </a:r>
            <a:endParaRPr lang="en-US" sz="1400" dirty="0"/>
          </a:p>
        </p:txBody>
      </p:sp>
      <p:sp>
        <p:nvSpPr>
          <p:cNvPr id="15" name="À savoir"/>
          <p:cNvSpPr/>
          <p:nvPr/>
        </p:nvSpPr>
        <p:spPr>
          <a:xfrm>
            <a:off x="548640" y="5545836"/>
            <a:ext cx="11094415" cy="745236"/>
          </a:xfrm>
          <a:prstGeom prst="roundRect">
            <a:avLst>
              <a:gd name="adj" fmla="val 12270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6" name="Texte à savoir"/>
          <p:cNvSpPr txBox="1"/>
          <p:nvPr/>
        </p:nvSpPr>
        <p:spPr>
          <a:xfrm>
            <a:off x="777240" y="5637276"/>
            <a:ext cx="106372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une salle depuis la page pour localiser le matériel (ex : Salle B2).</a:t>
            </a:r>
            <a:endParaRPr lang="en-US" sz="1400" dirty="0"/>
          </a:p>
        </p:txBody>
      </p:sp>
      <p:sp>
        <p:nvSpPr>
          <p:cNvPr id="17" name="Cadre de la capture"/>
          <p:cNvSpPr/>
          <p:nvPr/>
        </p:nvSpPr>
        <p:spPr>
          <a:xfrm>
            <a:off x="5340096" y="1698576"/>
            <a:ext cx="6357823" cy="3309972"/>
          </a:xfrm>
          <a:prstGeom prst="roundRect">
            <a:avLst>
              <a:gd name="adj" fmla="val 1658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0" descr="Capture d'écran : Logis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753440"/>
            <a:ext cx="6248095" cy="3200244"/>
          </a:xfrm>
          <a:prstGeom prst="rect">
            <a:avLst/>
          </a:prstGeom>
        </p:spPr>
      </p:pic>
      <p:sp>
        <p:nvSpPr>
          <p:cNvPr id="19" name="Repère 2"/>
          <p:cNvSpPr/>
          <p:nvPr/>
        </p:nvSpPr>
        <p:spPr>
          <a:xfrm>
            <a:off x="10369863" y="2332532"/>
            <a:ext cx="1151278" cy="27430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0" name="Numéro 2"/>
          <p:cNvSpPr txBox="1"/>
          <p:nvPr/>
        </p:nvSpPr>
        <p:spPr>
          <a:xfrm>
            <a:off x="10232703" y="219537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Repère 4"/>
          <p:cNvSpPr/>
          <p:nvPr/>
        </p:nvSpPr>
        <p:spPr>
          <a:xfrm>
            <a:off x="5910475" y="2858286"/>
            <a:ext cx="2550075" cy="15465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2" name="Numéro 4"/>
          <p:cNvSpPr txBox="1"/>
          <p:nvPr/>
        </p:nvSpPr>
        <p:spPr>
          <a:xfrm>
            <a:off x="5773315" y="2721126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Repère 5"/>
          <p:cNvSpPr/>
          <p:nvPr/>
        </p:nvSpPr>
        <p:spPr>
          <a:xfrm>
            <a:off x="8684973" y="2332532"/>
            <a:ext cx="1562976" cy="27430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4" name="Numéro 5"/>
          <p:cNvSpPr txBox="1"/>
          <p:nvPr/>
        </p:nvSpPr>
        <p:spPr>
          <a:xfrm>
            <a:off x="8547813" y="219537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Bibliothèque</a:t>
            </a:r>
            <a:endParaRPr lang="en-US" sz="3000" dirty="0"/>
          </a:p>
        </p:txBody>
      </p:sp>
      <p:sp>
        <p:nvSpPr>
          <p:cNvPr id="3" name="Rôle Secrétaire"/>
          <p:cNvSpPr txBox="1"/>
          <p:nvPr/>
        </p:nvSpPr>
        <p:spPr>
          <a:xfrm>
            <a:off x="10417759" y="566928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1C7E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1200" dirty="0"/>
          </a:p>
        </p:txBody>
      </p:sp>
      <p:sp>
        <p:nvSpPr>
          <p:cNvPr id="4" name="Rôle Chef"/>
          <p:cNvSpPr txBox="1"/>
          <p:nvPr/>
        </p:nvSpPr>
        <p:spPr>
          <a:xfrm>
            <a:off x="9631375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5" name="Rôle Fondateur"/>
          <p:cNvSpPr txBox="1"/>
          <p:nvPr/>
        </p:nvSpPr>
        <p:spPr>
          <a:xfrm>
            <a:off x="8387791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6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Étape 1"/>
          <p:cNvSpPr txBox="1"/>
          <p:nvPr/>
        </p:nvSpPr>
        <p:spPr>
          <a:xfrm>
            <a:off x="1005840" y="1335024"/>
            <a:ext cx="406908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Ouvrez Établissement › Bibliothèque.</a:t>
            </a:r>
            <a:endParaRPr lang="en-US" sz="1400" dirty="0"/>
          </a:p>
        </p:txBody>
      </p:sp>
      <p:sp>
        <p:nvSpPr>
          <p:cNvPr id="8" name="Numéro 2"/>
          <p:cNvSpPr txBox="1"/>
          <p:nvPr/>
        </p:nvSpPr>
        <p:spPr>
          <a:xfrm>
            <a:off x="548640" y="17465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Étape 2"/>
          <p:cNvSpPr txBox="1"/>
          <p:nvPr/>
        </p:nvSpPr>
        <p:spPr>
          <a:xfrm>
            <a:off x="1005840" y="175564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: « Nouveau livre » (titre, auteur, catégorie, ISBN, exemplaires).</a:t>
            </a:r>
            <a:endParaRPr lang="en-US" sz="1400" dirty="0"/>
          </a:p>
        </p:txBody>
      </p:sp>
      <p:sp>
        <p:nvSpPr>
          <p:cNvPr id="10" name="Numéro 3"/>
          <p:cNvSpPr txBox="1"/>
          <p:nvPr/>
        </p:nvSpPr>
        <p:spPr>
          <a:xfrm>
            <a:off x="548640" y="235915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Étape 3"/>
          <p:cNvSpPr txBox="1"/>
          <p:nvPr/>
        </p:nvSpPr>
        <p:spPr>
          <a:xfrm>
            <a:off x="1005840" y="236829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Emprunts : « Nouvel emprunt », choisissez le livre disponible et l’élève.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29718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Étape 4"/>
          <p:cNvSpPr txBox="1"/>
          <p:nvPr/>
        </p:nvSpPr>
        <p:spPr>
          <a:xfrm>
            <a:off x="1005840" y="298094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retour est prévu à 14 jours par défaut, modifiable.</a:t>
            </a:r>
            <a:endParaRPr lang="en-US" sz="1400" dirty="0"/>
          </a:p>
        </p:txBody>
      </p:sp>
      <p:sp>
        <p:nvSpPr>
          <p:cNvPr id="14" name="Numéro 5"/>
          <p:cNvSpPr txBox="1"/>
          <p:nvPr/>
        </p:nvSpPr>
        <p:spPr>
          <a:xfrm>
            <a:off x="548640" y="358444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Étape 5"/>
          <p:cNvSpPr txBox="1"/>
          <p:nvPr/>
        </p:nvSpPr>
        <p:spPr>
          <a:xfrm>
            <a:off x="1005840" y="359359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Marquer retourné » quand le livre revient.</a:t>
            </a:r>
            <a:endParaRPr lang="en-US" sz="1400" dirty="0"/>
          </a:p>
        </p:txBody>
      </p:sp>
      <p:sp>
        <p:nvSpPr>
          <p:cNvPr id="16" name="Numéro 6"/>
          <p:cNvSpPr txBox="1"/>
          <p:nvPr/>
        </p:nvSpPr>
        <p:spPr>
          <a:xfrm>
            <a:off x="548640" y="419709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7" name="Étape 6"/>
          <p:cNvSpPr txBox="1"/>
          <p:nvPr/>
        </p:nvSpPr>
        <p:spPr>
          <a:xfrm>
            <a:off x="1005840" y="420624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Surveillez les emprunts en cours et ceux en retard.</a:t>
            </a:r>
            <a:endParaRPr lang="en-US" sz="1400" dirty="0"/>
          </a:p>
        </p:txBody>
      </p:sp>
      <p:sp>
        <p:nvSpPr>
          <p:cNvPr id="18" name="À savoir"/>
          <p:cNvSpPr/>
          <p:nvPr/>
        </p:nvSpPr>
        <p:spPr>
          <a:xfrm>
            <a:off x="548640" y="5545836"/>
            <a:ext cx="11094415" cy="745236"/>
          </a:xfrm>
          <a:prstGeom prst="roundRect">
            <a:avLst>
              <a:gd name="adj" fmla="val 12270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9" name="Texte à savoir"/>
          <p:cNvSpPr txBox="1"/>
          <p:nvPr/>
        </p:nvSpPr>
        <p:spPr>
          <a:xfrm>
            <a:off x="777240" y="5637276"/>
            <a:ext cx="106372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livre dont tous les exemplaires sont prêtés n'est plus proposé à l'emprunt.</a:t>
            </a:r>
            <a:endParaRPr lang="en-US" sz="1400" dirty="0"/>
          </a:p>
        </p:txBody>
      </p:sp>
      <p:sp>
        <p:nvSpPr>
          <p:cNvPr id="20" name="Cadre de la capture"/>
          <p:cNvSpPr/>
          <p:nvPr/>
        </p:nvSpPr>
        <p:spPr>
          <a:xfrm>
            <a:off x="5340096" y="1271016"/>
            <a:ext cx="6357823" cy="3401407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Capture d'écran : Bibliothè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6248095" cy="3291679"/>
          </a:xfrm>
          <a:prstGeom prst="rect">
            <a:avLst/>
          </a:prstGeom>
        </p:spPr>
      </p:pic>
      <p:sp>
        <p:nvSpPr>
          <p:cNvPr id="22" name="Repère 2"/>
          <p:cNvSpPr/>
          <p:nvPr/>
        </p:nvSpPr>
        <p:spPr>
          <a:xfrm>
            <a:off x="10432011" y="2723248"/>
            <a:ext cx="959597" cy="27430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2"/>
          <p:cNvSpPr txBox="1"/>
          <p:nvPr/>
        </p:nvSpPr>
        <p:spPr>
          <a:xfrm>
            <a:off x="10294851" y="258608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Repère 3"/>
          <p:cNvSpPr/>
          <p:nvPr/>
        </p:nvSpPr>
        <p:spPr>
          <a:xfrm>
            <a:off x="10309144" y="4024657"/>
            <a:ext cx="1082463" cy="274307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5" name="Numéro 3"/>
          <p:cNvSpPr txBox="1"/>
          <p:nvPr/>
        </p:nvSpPr>
        <p:spPr>
          <a:xfrm>
            <a:off x="10171984" y="3887497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Repère 6"/>
          <p:cNvSpPr/>
          <p:nvPr/>
        </p:nvSpPr>
        <p:spPr>
          <a:xfrm>
            <a:off x="7376063" y="1936165"/>
            <a:ext cx="1817281" cy="154655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7" name="Numéro 6"/>
          <p:cNvSpPr txBox="1"/>
          <p:nvPr/>
        </p:nvSpPr>
        <p:spPr>
          <a:xfrm>
            <a:off x="7238903" y="1799005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neau 1"/>
          <p:cNvSpPr/>
          <p:nvPr/>
        </p:nvSpPr>
        <p:spPr>
          <a:xfrm>
            <a:off x="7498080" y="1234440"/>
            <a:ext cx="4389120" cy="43891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Anneau 2"/>
          <p:cNvSpPr/>
          <p:nvPr/>
        </p:nvSpPr>
        <p:spPr>
          <a:xfrm>
            <a:off x="8090611" y="1826971"/>
            <a:ext cx="3204058" cy="3204058"/>
          </a:xfrm>
          <a:prstGeom prst="ellipse">
            <a:avLst/>
          </a:prstGeom>
          <a:solidFill>
            <a:schemeClr val="accent1">
              <a:alpha val="2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nneau 3"/>
          <p:cNvSpPr/>
          <p:nvPr/>
        </p:nvSpPr>
        <p:spPr>
          <a:xfrm>
            <a:off x="8683142" y="2419502"/>
            <a:ext cx="2018995" cy="2018995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entre de la cible"/>
          <p:cNvSpPr/>
          <p:nvPr/>
        </p:nvSpPr>
        <p:spPr>
          <a:xfrm>
            <a:off x="9275674" y="3012034"/>
            <a:ext cx="833933" cy="83393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Numéro de chapitre"/>
          <p:cNvSpPr txBox="1"/>
          <p:nvPr/>
        </p:nvSpPr>
        <p:spPr>
          <a:xfrm>
            <a:off x="82296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8</a:t>
            </a:r>
            <a:endParaRPr lang="en-US" sz="18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22960" y="16916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Clôturer l'année</a:t>
            </a:r>
            <a:endParaRPr lang="en-US" sz="4400" dirty="0"/>
          </a:p>
        </p:txBody>
      </p:sp>
      <p:sp>
        <p:nvSpPr>
          <p:cNvPr id="8" name="Contenu du chapitre"/>
          <p:cNvSpPr txBox="1"/>
          <p:nvPr/>
        </p:nvSpPr>
        <p:spPr>
          <a:xfrm>
            <a:off x="822960" y="338328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six étapes de fin d'année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de classe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Réinscriptions</a:t>
            </a:r>
            <a:endParaRPr lang="en-US" sz="1800" dirty="0"/>
          </a:p>
        </p:txBody>
      </p:sp>
      <p:sp>
        <p:nvSpPr>
          <p:cNvPr id="9" name="Rôles concernés"/>
          <p:cNvSpPr txBox="1"/>
          <p:nvPr/>
        </p:nvSpPr>
        <p:spPr>
          <a:xfrm>
            <a:off x="822960" y="5715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C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: Fondateur, Chef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 d'année en six étapes</a:t>
            </a:r>
            <a:endParaRPr lang="en-US" sz="3000" dirty="0"/>
          </a:p>
        </p:txBody>
      </p:sp>
      <p:sp>
        <p:nvSpPr>
          <p:cNvPr id="3" name="Sous-titre"/>
          <p:cNvSpPr txBox="1"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suivre dans cet ordre pour passer proprement à l'année suivante</a:t>
            </a:r>
            <a:endParaRPr lang="en-US" sz="1600" dirty="0"/>
          </a:p>
        </p:txBody>
      </p:sp>
      <p:sp>
        <p:nvSpPr>
          <p:cNvPr id="4" name="Étape 1"/>
          <p:cNvSpPr/>
          <p:nvPr/>
        </p:nvSpPr>
        <p:spPr>
          <a:xfrm>
            <a:off x="548640" y="1645920"/>
            <a:ext cx="3423818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Numéro 1"/>
          <p:cNvSpPr txBox="1"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5059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16352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Trimestres 1 à 3 saisis, bulletins remis</a:t>
            </a:r>
            <a:endParaRPr lang="en-US" sz="1400" dirty="0"/>
          </a:p>
        </p:txBody>
      </p:sp>
      <p:sp>
        <p:nvSpPr>
          <p:cNvPr id="8" name="Flèche"/>
          <p:cNvSpPr/>
          <p:nvPr/>
        </p:nvSpPr>
        <p:spPr>
          <a:xfrm>
            <a:off x="4045610" y="2308860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Étape 2"/>
          <p:cNvSpPr/>
          <p:nvPr/>
        </p:nvSpPr>
        <p:spPr>
          <a:xfrm>
            <a:off x="4383938" y="1645920"/>
            <a:ext cx="3423818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Numéro 2"/>
          <p:cNvSpPr txBox="1"/>
          <p:nvPr/>
        </p:nvSpPr>
        <p:spPr>
          <a:xfrm>
            <a:off x="4612538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45059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Impayés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2816352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Relancer et encaisser avant la clôture</a:t>
            </a:r>
            <a:endParaRPr lang="en-US" sz="1400" dirty="0"/>
          </a:p>
        </p:txBody>
      </p:sp>
      <p:sp>
        <p:nvSpPr>
          <p:cNvPr id="13" name="Flèche"/>
          <p:cNvSpPr/>
          <p:nvPr/>
        </p:nvSpPr>
        <p:spPr>
          <a:xfrm>
            <a:off x="7880909" y="2308860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Étape 3"/>
          <p:cNvSpPr/>
          <p:nvPr/>
        </p:nvSpPr>
        <p:spPr>
          <a:xfrm>
            <a:off x="8219237" y="1645920"/>
            <a:ext cx="3423818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Numéro 3"/>
          <p:cNvSpPr txBox="1"/>
          <p:nvPr/>
        </p:nvSpPr>
        <p:spPr>
          <a:xfrm>
            <a:off x="8447837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447837" y="245059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année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47837" y="2816352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l’année, ses classes et ses tarifs</a:t>
            </a:r>
            <a:endParaRPr lang="en-US" sz="1400" dirty="0"/>
          </a:p>
        </p:txBody>
      </p:sp>
      <p:sp>
        <p:nvSpPr>
          <p:cNvPr id="18" name="Étape 4"/>
          <p:cNvSpPr/>
          <p:nvPr/>
        </p:nvSpPr>
        <p:spPr>
          <a:xfrm>
            <a:off x="548640" y="3630168"/>
            <a:ext cx="3423818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Numéro 4"/>
          <p:cNvSpPr txBox="1"/>
          <p:nvPr/>
        </p:nvSpPr>
        <p:spPr>
          <a:xfrm>
            <a:off x="777240" y="3858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4348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8006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parcours : confirmer</a:t>
            </a:r>
            <a:endParaRPr lang="en-US" sz="1400" dirty="0"/>
          </a:p>
        </p:txBody>
      </p:sp>
      <p:sp>
        <p:nvSpPr>
          <p:cNvPr id="22" name="Flèche"/>
          <p:cNvSpPr/>
          <p:nvPr/>
        </p:nvSpPr>
        <p:spPr>
          <a:xfrm>
            <a:off x="4045610" y="4293108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Étape 5"/>
          <p:cNvSpPr/>
          <p:nvPr/>
        </p:nvSpPr>
        <p:spPr>
          <a:xfrm>
            <a:off x="4383938" y="3630168"/>
            <a:ext cx="3423818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Numéro 5"/>
          <p:cNvSpPr txBox="1"/>
          <p:nvPr/>
        </p:nvSpPr>
        <p:spPr>
          <a:xfrm>
            <a:off x="4612538" y="3858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612538" y="44348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courante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612538" y="48006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la nouvelle année comme courante</a:t>
            </a:r>
            <a:endParaRPr lang="en-US" sz="1400" dirty="0"/>
          </a:p>
        </p:txBody>
      </p:sp>
      <p:sp>
        <p:nvSpPr>
          <p:cNvPr id="27" name="Flèche"/>
          <p:cNvSpPr/>
          <p:nvPr/>
        </p:nvSpPr>
        <p:spPr>
          <a:xfrm>
            <a:off x="7880909" y="4293108"/>
            <a:ext cx="256032" cy="365760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Étape 6"/>
          <p:cNvSpPr/>
          <p:nvPr/>
        </p:nvSpPr>
        <p:spPr>
          <a:xfrm>
            <a:off x="8219237" y="3630168"/>
            <a:ext cx="3423818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Numéro 6"/>
          <p:cNvSpPr txBox="1"/>
          <p:nvPr/>
        </p:nvSpPr>
        <p:spPr>
          <a:xfrm>
            <a:off x="8447837" y="38587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447837" y="44348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Réinscriptions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447837" y="480060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Encaisser avec le type Réinscription</a:t>
            </a:r>
            <a:endParaRPr lang="en-US" sz="1400" dirty="0"/>
          </a:p>
        </p:txBody>
      </p:sp>
      <p:sp>
        <p:nvSpPr>
          <p:cNvPr id="32" name="Encadré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56235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passage de classe inscrit l'élève dans l'année suivante et génère ses factures, dont celle de réinscription.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réinscriptions</a:t>
            </a:r>
            <a:endParaRPr lang="en-US" sz="3000" dirty="0"/>
          </a:p>
        </p:txBody>
      </p:sp>
      <p:sp>
        <p:nvSpPr>
          <p:cNvPr id="3" name="Rôle Comptable"/>
          <p:cNvSpPr txBox="1"/>
          <p:nvPr/>
        </p:nvSpPr>
        <p:spPr>
          <a:xfrm>
            <a:off x="10509199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</a:t>
            </a:r>
            <a:endParaRPr lang="en-US" sz="1200" dirty="0"/>
          </a:p>
        </p:txBody>
      </p:sp>
      <p:sp>
        <p:nvSpPr>
          <p:cNvPr id="4" name="Rôle Chef"/>
          <p:cNvSpPr txBox="1"/>
          <p:nvPr/>
        </p:nvSpPr>
        <p:spPr>
          <a:xfrm>
            <a:off x="9722815" y="566928"/>
            <a:ext cx="676656" cy="329184"/>
          </a:xfrm>
          <a:prstGeom prst="roundRect">
            <a:avLst>
              <a:gd name="adj" fmla="val 50000"/>
            </a:avLst>
          </a:prstGeom>
          <a:solidFill>
            <a:srgbClr val="0B3B3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1200" dirty="0"/>
          </a:p>
        </p:txBody>
      </p:sp>
      <p:sp>
        <p:nvSpPr>
          <p:cNvPr id="5" name="Rôle Fondateur"/>
          <p:cNvSpPr txBox="1"/>
          <p:nvPr/>
        </p:nvSpPr>
        <p:spPr>
          <a:xfrm>
            <a:off x="8479231" y="566928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17AE8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</a:t>
            </a:r>
            <a:endParaRPr lang="en-US" sz="1200" dirty="0"/>
          </a:p>
        </p:txBody>
      </p:sp>
      <p:sp>
        <p:nvSpPr>
          <p:cNvPr id="6" name="Numéro 1"/>
          <p:cNvSpPr txBox="1"/>
          <p:nvPr/>
        </p:nvSpPr>
        <p:spPr>
          <a:xfrm>
            <a:off x="548640" y="132588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Étape 1"/>
          <p:cNvSpPr txBox="1"/>
          <p:nvPr/>
        </p:nvSpPr>
        <p:spPr>
          <a:xfrm>
            <a:off x="1005840" y="1335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le passage, ouvrez Finances › Paiement inscription/réinscription.</a:t>
            </a:r>
            <a:endParaRPr lang="en-US" sz="1400" dirty="0"/>
          </a:p>
        </p:txBody>
      </p:sp>
      <p:sp>
        <p:nvSpPr>
          <p:cNvPr id="8" name="Numéro 2"/>
          <p:cNvSpPr txBox="1"/>
          <p:nvPr/>
        </p:nvSpPr>
        <p:spPr>
          <a:xfrm>
            <a:off x="548640" y="193852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Étape 2"/>
          <p:cNvSpPr txBox="1"/>
          <p:nvPr/>
        </p:nvSpPr>
        <p:spPr>
          <a:xfrm>
            <a:off x="1005840" y="194767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L'élève déjà inscrit une année antérieure apparaît avec le type « Réinscription ».</a:t>
            </a:r>
            <a:endParaRPr lang="en-US" sz="1400" dirty="0"/>
          </a:p>
        </p:txBody>
      </p:sp>
      <p:sp>
        <p:nvSpPr>
          <p:cNvPr id="10" name="Numéro 3"/>
          <p:cNvSpPr txBox="1"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Étape 3"/>
          <p:cNvSpPr txBox="1"/>
          <p:nvPr/>
        </p:nvSpPr>
        <p:spPr>
          <a:xfrm>
            <a:off x="1005840" y="2560320"/>
            <a:ext cx="4069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montant appliqué est celui de la réinscription du niveau, ou celui des nouveaux à défaut.</a:t>
            </a:r>
            <a:endParaRPr lang="en-US" sz="1400" dirty="0"/>
          </a:p>
        </p:txBody>
      </p:sp>
      <p:sp>
        <p:nvSpPr>
          <p:cNvPr id="12" name="Numéro 4"/>
          <p:cNvSpPr txBox="1"/>
          <p:nvPr/>
        </p:nvSpPr>
        <p:spPr>
          <a:xfrm>
            <a:off x="548640" y="3378708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Étape 4"/>
          <p:cNvSpPr txBox="1"/>
          <p:nvPr/>
        </p:nvSpPr>
        <p:spPr>
          <a:xfrm>
            <a:off x="1005840" y="338785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Payer », choisissez le mode de paiement, puis confirmez.</a:t>
            </a:r>
            <a:endParaRPr lang="en-US" sz="1400" dirty="0"/>
          </a:p>
        </p:txBody>
      </p:sp>
      <p:sp>
        <p:nvSpPr>
          <p:cNvPr id="14" name="Numéro 5"/>
          <p:cNvSpPr txBox="1"/>
          <p:nvPr/>
        </p:nvSpPr>
        <p:spPr>
          <a:xfrm>
            <a:off x="548640" y="399135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Étape 5"/>
          <p:cNvSpPr txBox="1"/>
          <p:nvPr/>
        </p:nvSpPr>
        <p:spPr>
          <a:xfrm>
            <a:off x="1005840" y="400050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bordereau journalier affiche l'opération sous le type « Réinscription ».</a:t>
            </a:r>
            <a:endParaRPr lang="en-US" sz="1400" dirty="0"/>
          </a:p>
        </p:txBody>
      </p:sp>
      <p:sp>
        <p:nvSpPr>
          <p:cNvPr id="16" name="À savoir"/>
          <p:cNvSpPr/>
          <p:nvPr/>
        </p:nvSpPr>
        <p:spPr>
          <a:xfrm>
            <a:off x="548640" y="5545836"/>
            <a:ext cx="11094415" cy="745236"/>
          </a:xfrm>
          <a:prstGeom prst="roundRect">
            <a:avLst>
              <a:gd name="adj" fmla="val 12270"/>
            </a:avLst>
          </a:prstGeom>
          <a:solidFill>
            <a:srgbClr val="FFF4E6"/>
          </a:solidFill>
          <a:ln w="9525">
            <a:solidFill>
              <a:srgbClr val="F8D9B4"/>
            </a:solidFill>
            <a:prstDash val="solid"/>
          </a:ln>
        </p:spPr>
      </p:sp>
      <p:sp>
        <p:nvSpPr>
          <p:cNvPr id="17" name="Texte à savoir"/>
          <p:cNvSpPr txBox="1"/>
          <p:nvPr/>
        </p:nvSpPr>
        <p:spPr>
          <a:xfrm>
            <a:off x="777240" y="5637276"/>
            <a:ext cx="106372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savoir 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Pensez à renseigner le montant de réinscription dans Finances › Tarifs avant l'ouverture des réinscriptions.</a:t>
            </a:r>
            <a:endParaRPr lang="en-US" sz="1400" dirty="0"/>
          </a:p>
        </p:txBody>
      </p:sp>
      <p:sp>
        <p:nvSpPr>
          <p:cNvPr id="18" name="Cadre de la capture"/>
          <p:cNvSpPr/>
          <p:nvPr/>
        </p:nvSpPr>
        <p:spPr>
          <a:xfrm>
            <a:off x="5340096" y="1698576"/>
            <a:ext cx="6357823" cy="3309972"/>
          </a:xfrm>
          <a:prstGeom prst="roundRect">
            <a:avLst>
              <a:gd name="adj" fmla="val 1658"/>
            </a:avLst>
          </a:prstGeom>
          <a:solidFill>
            <a:srgbClr val="FFFFFF"/>
          </a:solidFill>
          <a:ln w="12700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0" descr="Capture d'écran : Les réinscrip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753440"/>
            <a:ext cx="6248095" cy="3200244"/>
          </a:xfrm>
          <a:prstGeom prst="rect">
            <a:avLst/>
          </a:prstGeom>
        </p:spPr>
      </p:pic>
      <p:sp>
        <p:nvSpPr>
          <p:cNvPr id="20" name="Repère 2"/>
          <p:cNvSpPr/>
          <p:nvPr/>
        </p:nvSpPr>
        <p:spPr>
          <a:xfrm>
            <a:off x="6025246" y="3113425"/>
            <a:ext cx="1312481" cy="260496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1" name="Numéro 2"/>
          <p:cNvSpPr txBox="1"/>
          <p:nvPr/>
        </p:nvSpPr>
        <p:spPr>
          <a:xfrm>
            <a:off x="5888086" y="2976265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Repère 4"/>
          <p:cNvSpPr/>
          <p:nvPr/>
        </p:nvSpPr>
        <p:spPr>
          <a:xfrm>
            <a:off x="10484634" y="3423448"/>
            <a:ext cx="602665" cy="228589"/>
          </a:xfrm>
          <a:prstGeom prst="rect">
            <a:avLst/>
          </a:prstGeom>
          <a:solidFill>
            <a:srgbClr val="FFFFFF">
              <a:alpha val="0"/>
            </a:srgbClr>
          </a:solidFill>
          <a:ln w="22225">
            <a:solidFill>
              <a:srgbClr val="E8590C"/>
            </a:solidFill>
            <a:prstDash val="solid"/>
          </a:ln>
        </p:spPr>
      </p:sp>
      <p:sp>
        <p:nvSpPr>
          <p:cNvPr id="23" name="Numéro 4"/>
          <p:cNvSpPr txBox="1"/>
          <p:nvPr/>
        </p:nvSpPr>
        <p:spPr>
          <a:xfrm>
            <a:off x="10347474" y="328628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neau 1"/>
          <p:cNvSpPr/>
          <p:nvPr/>
        </p:nvSpPr>
        <p:spPr>
          <a:xfrm>
            <a:off x="7498080" y="1234440"/>
            <a:ext cx="4389120" cy="43891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Anneau 2"/>
          <p:cNvSpPr/>
          <p:nvPr/>
        </p:nvSpPr>
        <p:spPr>
          <a:xfrm>
            <a:off x="8090611" y="1826971"/>
            <a:ext cx="3204058" cy="3204058"/>
          </a:xfrm>
          <a:prstGeom prst="ellipse">
            <a:avLst/>
          </a:prstGeom>
          <a:solidFill>
            <a:schemeClr val="accent1">
              <a:alpha val="2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nneau 3"/>
          <p:cNvSpPr/>
          <p:nvPr/>
        </p:nvSpPr>
        <p:spPr>
          <a:xfrm>
            <a:off x="8683142" y="2419502"/>
            <a:ext cx="2018995" cy="2018995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entre de la cible"/>
          <p:cNvSpPr/>
          <p:nvPr/>
        </p:nvSpPr>
        <p:spPr>
          <a:xfrm>
            <a:off x="9275674" y="3012034"/>
            <a:ext cx="833933" cy="83393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Numéro de chapitre"/>
          <p:cNvSpPr txBox="1"/>
          <p:nvPr/>
        </p:nvSpPr>
        <p:spPr>
          <a:xfrm>
            <a:off x="82296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ANNEXES</a:t>
            </a:r>
            <a:endParaRPr lang="en-US" sz="18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822960" y="16916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Annexes</a:t>
            </a:r>
            <a:endParaRPr lang="en-US" sz="4400" dirty="0"/>
          </a:p>
        </p:txBody>
      </p:sp>
      <p:sp>
        <p:nvSpPr>
          <p:cNvPr id="8" name="Contenu du chapitre"/>
          <p:cNvSpPr txBox="1"/>
          <p:nvPr/>
        </p:nvSpPr>
        <p:spPr>
          <a:xfrm>
            <a:off x="822960" y="338328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Journée type par rôle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et droits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Glossaire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et limites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Dépannage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journée type par rôle</a:t>
            </a:r>
            <a:endParaRPr lang="en-US" sz="3000" dirty="0"/>
          </a:p>
        </p:txBody>
      </p:sp>
      <p:sp>
        <p:nvSpPr>
          <p:cNvPr id="3" name="Colonne Secrétaire"/>
          <p:cNvSpPr/>
          <p:nvPr/>
        </p:nvSpPr>
        <p:spPr>
          <a:xfrm>
            <a:off x="548640" y="1417320"/>
            <a:ext cx="2602154" cy="4480560"/>
          </a:xfrm>
          <a:prstGeom prst="roundRect">
            <a:avLst>
              <a:gd name="adj" fmla="val 3514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En-tête Secrétaire"/>
          <p:cNvSpPr/>
          <p:nvPr/>
        </p:nvSpPr>
        <p:spPr>
          <a:xfrm>
            <a:off x="548640" y="1417320"/>
            <a:ext cx="2602154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367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17320"/>
            <a:ext cx="17334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Secrétaire</a:t>
            </a:r>
            <a:endParaRPr lang="en-US" sz="2000" dirty="0"/>
          </a:p>
        </p:txBody>
      </p:sp>
      <p:sp>
        <p:nvSpPr>
          <p:cNvPr id="7" name="Tâches Secrétaire"/>
          <p:cNvSpPr txBox="1"/>
          <p:nvPr/>
        </p:nvSpPr>
        <p:spPr>
          <a:xfrm>
            <a:off x="777240" y="2514600"/>
            <a:ext cx="219067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Traiter les demandes en attente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Accepter et placer en classe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les photos d'élèves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Imprimer les cartes scolaires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les messages aux parents</a:t>
            </a:r>
            <a:endParaRPr lang="en-US" sz="1600" dirty="0"/>
          </a:p>
        </p:txBody>
      </p:sp>
      <p:sp>
        <p:nvSpPr>
          <p:cNvPr id="8" name="Colonne Comptable"/>
          <p:cNvSpPr/>
          <p:nvPr/>
        </p:nvSpPr>
        <p:spPr>
          <a:xfrm>
            <a:off x="3379394" y="1417320"/>
            <a:ext cx="2602154" cy="4480560"/>
          </a:xfrm>
          <a:prstGeom prst="roundRect">
            <a:avLst>
              <a:gd name="adj" fmla="val 3514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En-tête Comptable"/>
          <p:cNvSpPr/>
          <p:nvPr/>
        </p:nvSpPr>
        <p:spPr>
          <a:xfrm>
            <a:off x="3379394" y="1417320"/>
            <a:ext cx="2602154" cy="822960"/>
          </a:xfrm>
          <a:prstGeom prst="roundRect">
            <a:avLst>
              <a:gd name="adj" fmla="val 1111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994" y="163677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56634" y="1417320"/>
            <a:ext cx="17334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Comptable</a:t>
            </a:r>
            <a:endParaRPr lang="en-US" sz="2000" dirty="0"/>
          </a:p>
        </p:txBody>
      </p:sp>
      <p:sp>
        <p:nvSpPr>
          <p:cNvPr id="12" name="Tâches Comptable"/>
          <p:cNvSpPr txBox="1"/>
          <p:nvPr/>
        </p:nvSpPr>
        <p:spPr>
          <a:xfrm>
            <a:off x="3607994" y="2514600"/>
            <a:ext cx="219067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Encaisser les inscriptions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Encaisser les factures et éditer les reçus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Relancer les impayés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le bordereau journalier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dépenses et bulletins de paie</a:t>
            </a:r>
            <a:endParaRPr lang="en-US" sz="1600" dirty="0"/>
          </a:p>
        </p:txBody>
      </p:sp>
      <p:sp>
        <p:nvSpPr>
          <p:cNvPr id="13" name="Colonne Enseignant"/>
          <p:cNvSpPr/>
          <p:nvPr/>
        </p:nvSpPr>
        <p:spPr>
          <a:xfrm>
            <a:off x="6210148" y="1417320"/>
            <a:ext cx="2602154" cy="4480560"/>
          </a:xfrm>
          <a:prstGeom prst="roundRect">
            <a:avLst>
              <a:gd name="adj" fmla="val 3514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En-tête Enseignant"/>
          <p:cNvSpPr/>
          <p:nvPr/>
        </p:nvSpPr>
        <p:spPr>
          <a:xfrm>
            <a:off x="6210148" y="1417320"/>
            <a:ext cx="2602154" cy="822960"/>
          </a:xfrm>
          <a:prstGeom prst="roundRect">
            <a:avLst>
              <a:gd name="adj" fmla="val 111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748" y="163677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87388" y="1417320"/>
            <a:ext cx="17334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</a:t>
            </a:r>
            <a:endParaRPr lang="en-US" sz="2000" dirty="0"/>
          </a:p>
        </p:txBody>
      </p:sp>
      <p:sp>
        <p:nvSpPr>
          <p:cNvPr id="17" name="Tâches Enseignant"/>
          <p:cNvSpPr txBox="1"/>
          <p:nvPr/>
        </p:nvSpPr>
        <p:spPr>
          <a:xfrm>
            <a:off x="6438748" y="2514600"/>
            <a:ext cx="219067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l'appel en début de cours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son emploi du temps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les notes du trimestre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Éditer les bulletins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la fiche de ses élèves</a:t>
            </a:r>
            <a:endParaRPr lang="en-US" sz="1600" dirty="0"/>
          </a:p>
        </p:txBody>
      </p:sp>
      <p:sp>
        <p:nvSpPr>
          <p:cNvPr id="18" name="Colonne Direction"/>
          <p:cNvSpPr/>
          <p:nvPr/>
        </p:nvSpPr>
        <p:spPr>
          <a:xfrm>
            <a:off x="9040901" y="1417320"/>
            <a:ext cx="2602154" cy="4480560"/>
          </a:xfrm>
          <a:prstGeom prst="roundRect">
            <a:avLst>
              <a:gd name="adj" fmla="val 3514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En-tête Direction"/>
          <p:cNvSpPr/>
          <p:nvPr/>
        </p:nvSpPr>
        <p:spPr>
          <a:xfrm>
            <a:off x="9040901" y="1417320"/>
            <a:ext cx="2602154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9501" y="163677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818141" y="1417320"/>
            <a:ext cx="17334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2000" dirty="0"/>
          </a:p>
        </p:txBody>
      </p:sp>
      <p:sp>
        <p:nvSpPr>
          <p:cNvPr id="22" name="Tâches Direction"/>
          <p:cNvSpPr txBox="1"/>
          <p:nvPr/>
        </p:nvSpPr>
        <p:spPr>
          <a:xfrm>
            <a:off x="9269501" y="2514600"/>
            <a:ext cx="219067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 tableau de bord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Suivre trésorerie et recouvrement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la paie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comptes et classes des enseignants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✓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le passage de classe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Rôles et droits</a:t>
            </a:r>
            <a:endParaRPr lang="en-US" sz="3000" dirty="0"/>
          </a:p>
        </p:txBody>
      </p:sp>
      <p:graphicFrame>
        <p:nvGraphicFramePr>
          <p:cNvPr id="63" name="Droits par rô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233672"/>
                <a:gridCol w="1371600"/>
                <a:gridCol w="1371600"/>
                <a:gridCol w="1371600"/>
                <a:gridCol w="1371600"/>
                <a:gridCol w="137160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Fondateur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Secrétaire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Enseignant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 de bord (chiffres)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97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6F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 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Élèves, Classes, Emplois du temps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6F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 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Admissions, Cartes scolaires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et bulletins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6F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 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Matières, Suivi de parcours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Appel, Historique d’absences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6F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 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Finances (bilan, factures, tarifs, bordereau, paie)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Personnel, Utilisateurs, Niveaux, Logistique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Bibliothèque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8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9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</a:tr>
            </a:tbl>
          </a:graphicData>
        </a:graphic>
      </p:graphicFrame>
      <p:sp>
        <p:nvSpPr>
          <p:cNvPr id="4" name="Légende"/>
          <p:cNvSpPr txBox="1"/>
          <p:nvPr/>
        </p:nvSpPr>
        <p:spPr>
          <a:xfrm>
            <a:off x="548640" y="5788152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 : effectifs et absences seulement, sans les montants (réservés à la direction et au comptable). Ses classes : uniquement les classes de l'enseignant (emploi du temps ou affectation) et leurs élèves.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Glossaire</a:t>
            </a:r>
            <a:endParaRPr lang="en-US" sz="3000" dirty="0"/>
          </a:p>
        </p:txBody>
      </p:sp>
      <p:sp>
        <p:nvSpPr>
          <p:cNvPr id="3" name="Terme Année courante"/>
          <p:cNvSpPr/>
          <p:nvPr/>
        </p:nvSpPr>
        <p:spPr>
          <a:xfrm>
            <a:off x="548640" y="1371600"/>
            <a:ext cx="5387188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929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courante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01368"/>
            <a:ext cx="49299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L'année scolaire sur laquelle travaillent l'appel, les notes et les finances. Une seule à la fois.</a:t>
            </a:r>
            <a:endParaRPr lang="en-US" sz="1400" dirty="0"/>
          </a:p>
        </p:txBody>
      </p:sp>
      <p:sp>
        <p:nvSpPr>
          <p:cNvPr id="6" name="Terme Matricule"/>
          <p:cNvSpPr/>
          <p:nvPr/>
        </p:nvSpPr>
        <p:spPr>
          <a:xfrm>
            <a:off x="6255868" y="1371600"/>
            <a:ext cx="5387188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84468" y="1463040"/>
            <a:ext cx="4929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84468" y="1801368"/>
            <a:ext cx="49299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facultatif de l'élève, imprimé sur la carte scolaire, les bordereaux et le QR code.</a:t>
            </a:r>
            <a:endParaRPr lang="en-US" sz="1400" dirty="0"/>
          </a:p>
        </p:txBody>
      </p:sp>
      <p:sp>
        <p:nvSpPr>
          <p:cNvPr id="9" name="Terme Type d'opération"/>
          <p:cNvSpPr/>
          <p:nvPr/>
        </p:nvSpPr>
        <p:spPr>
          <a:xfrm>
            <a:off x="548640" y="2578608"/>
            <a:ext cx="5387188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670048"/>
            <a:ext cx="4929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d'opération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008376"/>
            <a:ext cx="49299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d’un paiement : Inscription, Réinscription, Écolage, Trimestre 1, 2 ou 3.</a:t>
            </a:r>
            <a:endParaRPr lang="en-US" sz="1400" dirty="0"/>
          </a:p>
        </p:txBody>
      </p:sp>
      <p:sp>
        <p:nvSpPr>
          <p:cNvPr id="12" name="Terme Reçu N° · Facture N°"/>
          <p:cNvSpPr/>
          <p:nvPr/>
        </p:nvSpPr>
        <p:spPr>
          <a:xfrm>
            <a:off x="6255868" y="2578608"/>
            <a:ext cx="5387188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84468" y="2670048"/>
            <a:ext cx="4929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 N° · Facture N°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84468" y="3008376"/>
            <a:ext cx="49299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Numéros du paiement et de la facture qu'il règle, repris dans le bordereau.</a:t>
            </a:r>
            <a:endParaRPr lang="en-US" sz="1400" dirty="0"/>
          </a:p>
        </p:txBody>
      </p:sp>
      <p:sp>
        <p:nvSpPr>
          <p:cNvPr id="15" name="Terme Statuts de facture"/>
          <p:cNvSpPr/>
          <p:nvPr/>
        </p:nvSpPr>
        <p:spPr>
          <a:xfrm>
            <a:off x="548640" y="3785616"/>
            <a:ext cx="5387188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877056"/>
            <a:ext cx="4929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de facture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215384"/>
            <a:ext cx="49299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Impayée, Partielle (versement incomplet), Payée ou Annulée.</a:t>
            </a:r>
            <a:endParaRPr lang="en-US" sz="1400" dirty="0"/>
          </a:p>
        </p:txBody>
      </p:sp>
      <p:sp>
        <p:nvSpPr>
          <p:cNvPr id="18" name="Terme Coefficient"/>
          <p:cNvSpPr/>
          <p:nvPr/>
        </p:nvSpPr>
        <p:spPr>
          <a:xfrm>
            <a:off x="6255868" y="3785616"/>
            <a:ext cx="5387188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84468" y="3877056"/>
            <a:ext cx="4929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84468" y="4215384"/>
            <a:ext cx="49299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d'une matière dans la moyenne : une note de coefficient 3 compte trois fois.</a:t>
            </a:r>
            <a:endParaRPr lang="en-US" sz="1400" dirty="0"/>
          </a:p>
        </p:txBody>
      </p:sp>
      <p:sp>
        <p:nvSpPr>
          <p:cNvPr id="21" name="Terme Résultat net"/>
          <p:cNvSpPr/>
          <p:nvPr/>
        </p:nvSpPr>
        <p:spPr>
          <a:xfrm>
            <a:off x="548640" y="4992624"/>
            <a:ext cx="5387188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77240" y="5084064"/>
            <a:ext cx="4929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net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422392"/>
            <a:ext cx="49299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Recettes totales moins dépenses totales, salaires compris.</a:t>
            </a:r>
            <a:endParaRPr lang="en-US" sz="1400" dirty="0"/>
          </a:p>
        </p:txBody>
      </p:sp>
      <p:sp>
        <p:nvSpPr>
          <p:cNvPr id="24" name="Terme Brouillon"/>
          <p:cNvSpPr/>
          <p:nvPr/>
        </p:nvSpPr>
        <p:spPr>
          <a:xfrm>
            <a:off x="6255868" y="4992624"/>
            <a:ext cx="5387188" cy="109728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rgbClr val="D5DF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84468" y="5084064"/>
            <a:ext cx="49299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84468" y="5422392"/>
            <a:ext cx="49299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 de paie créé mais pas encore validé. Il est déjà compté dans les salaires.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Bonnes pratiques et limites</a:t>
            </a:r>
            <a:endParaRPr lang="en-US" sz="3000" dirty="0"/>
          </a:p>
        </p:txBody>
      </p:sp>
      <p:sp>
        <p:nvSpPr>
          <p:cNvPr id="3" name="Bonnes pratiques"/>
          <p:cNvSpPr/>
          <p:nvPr/>
        </p:nvSpPr>
        <p:spPr>
          <a:xfrm>
            <a:off x="548640" y="1371600"/>
            <a:ext cx="5364328" cy="4846320"/>
          </a:xfrm>
          <a:prstGeom prst="roundRect">
            <a:avLst>
              <a:gd name="adj" fmla="val 2264"/>
            </a:avLst>
          </a:prstGeom>
          <a:solidFill>
            <a:srgbClr val="E8F8F2"/>
          </a:solidFill>
          <a:ln w="12700">
            <a:solidFill>
              <a:srgbClr val="BFE8D8"/>
            </a:solidFill>
            <a:prstDash val="solid"/>
          </a:ln>
        </p:spPr>
      </p:sp>
      <p:sp>
        <p:nvSpPr>
          <p:cNvPr id="4" name="Pastille FiCheckCircle"/>
          <p:cNvSpPr/>
          <p:nvPr/>
        </p:nvSpPr>
        <p:spPr>
          <a:xfrm>
            <a:off x="822960" y="1627632"/>
            <a:ext cx="548640" cy="548640"/>
          </a:xfrm>
          <a:prstGeom prst="ellipse">
            <a:avLst/>
          </a:prstGeom>
          <a:solidFill>
            <a:srgbClr val="17AE89"/>
          </a:solidFill>
          <a:ln w="12700">
            <a:solidFill>
              <a:srgbClr val="17AE8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770278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2763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2000" dirty="0"/>
          </a:p>
        </p:txBody>
      </p:sp>
      <p:sp>
        <p:nvSpPr>
          <p:cNvPr id="7" name="Bonnes pratiques : liste"/>
          <p:cNvSpPr txBox="1"/>
          <p:nvPr/>
        </p:nvSpPr>
        <p:spPr>
          <a:xfrm>
            <a:off x="822960" y="2423160"/>
            <a:ext cx="481568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Définissez tarifs et frais d'inscription avant la première admission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Saisissez le matricule dès l'acceptation : il facilite cartes et bordereaux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Ajoutez la photo de chaque élève avant d’imprimer les cartes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 la classe de l'élève avant de générer sa carte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Faites l’appel chaque jour : le cumul alimente les décisions de passage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un compte par personne, avec le rôle minimal, et reliez chaque enseignant à sa fiche</a:t>
            </a:r>
            <a:endParaRPr lang="en-US" sz="1600" dirty="0"/>
          </a:p>
        </p:txBody>
      </p:sp>
      <p:sp>
        <p:nvSpPr>
          <p:cNvPr id="8" name="Limites actuelles à connaître"/>
          <p:cNvSpPr/>
          <p:nvPr/>
        </p:nvSpPr>
        <p:spPr>
          <a:xfrm>
            <a:off x="6278728" y="1371600"/>
            <a:ext cx="5364328" cy="4846320"/>
          </a:xfrm>
          <a:prstGeom prst="roundRect">
            <a:avLst>
              <a:gd name="adj" fmla="val 2264"/>
            </a:avLst>
          </a:prstGeom>
          <a:solidFill>
            <a:srgbClr val="FFF6E5"/>
          </a:solidFill>
          <a:ln w="12700">
            <a:solidFill>
              <a:srgbClr val="F8DFA8"/>
            </a:solidFill>
            <a:prstDash val="solid"/>
          </a:ln>
        </p:spPr>
      </p:sp>
      <p:sp>
        <p:nvSpPr>
          <p:cNvPr id="9" name="Pastille FiAlertTriangle"/>
          <p:cNvSpPr/>
          <p:nvPr/>
        </p:nvSpPr>
        <p:spPr>
          <a:xfrm>
            <a:off x="6553048" y="1627632"/>
            <a:ext cx="548640" cy="548640"/>
          </a:xfrm>
          <a:prstGeom prst="ellipse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770278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84568" y="162763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actuelles à connaître</a:t>
            </a:r>
            <a:endParaRPr lang="en-US" sz="2000" dirty="0"/>
          </a:p>
        </p:txBody>
      </p:sp>
      <p:sp>
        <p:nvSpPr>
          <p:cNvPr id="12" name="Limites actuelles à connaître : liste"/>
          <p:cNvSpPr txBox="1"/>
          <p:nvPr/>
        </p:nvSpPr>
        <p:spPr>
          <a:xfrm>
            <a:off x="6553048" y="2423160"/>
            <a:ext cx="4815688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▲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et Mobile Money sont simulés : aucun message ni paiement réel n'est transmis tant qu'un opérateur n'est pas branché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▲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Annuler l'admission » supprime définitivement factures, paiements et notes de l'élève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▲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une dépense est définitif et demande un code à 4 chiffres, à ne confier qu'aux personnes habilitées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▲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photos acceptées sont au format JPEG ou PNG, 2 Mo au plus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▲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connexion, la génération de PDF, l'envoi de SMS et les imports Excel sont impossibles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Dépannage rapide</a:t>
            </a:r>
            <a:endParaRPr lang="en-US" sz="3000" dirty="0"/>
          </a:p>
        </p:txBody>
      </p:sp>
      <p:graphicFrame>
        <p:nvGraphicFramePr>
          <p:cNvPr id="66" name="Dépannag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8817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Problème rencontré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faire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 ne vois pas une page du menu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Votre rôle n'y donne pas accès : demandez à la direction (Établissement › Utilisateurs).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enseignant ne voit aucune classe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 compte n'est pas relié à sa fiche du personnel, ou la fiche n'a aucune classe : voir Utilisateurs puis Personnel.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Générer la carte » est grisé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L'élève n'a pas de classe cette année : affectez-le depuis sa fiche.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Frais non définis » à l’inscription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Renseignez les frais du niveau dans Finances › Tarifs, section Frais d'inscription.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classe de destination au passage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Créez l'année suivante et ses classes dans Élèves › Classes.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facture manque pour un élève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Cliquez sur « Régénérer les factures manquantes » dans le Bilan financier.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Hors ligne » en haut de page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Continuez : les actions sont mises en file puis synchronisées au retour du réseau.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Connexion impossible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 désactivé ou mot de passe oublié : la direction agit dans Utilisateurs.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neau 1"/>
          <p:cNvSpPr/>
          <p:nvPr/>
        </p:nvSpPr>
        <p:spPr>
          <a:xfrm>
            <a:off x="6858000" y="960120"/>
            <a:ext cx="4937760" cy="493776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Anneau 2"/>
          <p:cNvSpPr/>
          <p:nvPr/>
        </p:nvSpPr>
        <p:spPr>
          <a:xfrm>
            <a:off x="7524598" y="1626718"/>
            <a:ext cx="3604565" cy="3604565"/>
          </a:xfrm>
          <a:prstGeom prst="ellipse">
            <a:avLst/>
          </a:prstGeom>
          <a:solidFill>
            <a:schemeClr val="accent1">
              <a:alpha val="2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nneau 3"/>
          <p:cNvSpPr/>
          <p:nvPr/>
        </p:nvSpPr>
        <p:spPr>
          <a:xfrm>
            <a:off x="8191195" y="2293315"/>
            <a:ext cx="2271370" cy="227137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entre de la cible"/>
          <p:cNvSpPr/>
          <p:nvPr/>
        </p:nvSpPr>
        <p:spPr>
          <a:xfrm>
            <a:off x="8857793" y="2959913"/>
            <a:ext cx="938174" cy="93817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822960" y="210312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Bonne utilisation</a:t>
            </a:r>
            <a:endParaRPr lang="en-US" sz="5400" dirty="0"/>
          </a:p>
        </p:txBody>
      </p:sp>
      <p:sp>
        <p:nvSpPr>
          <p:cNvPr id="7" name="Sous-titre"/>
          <p:cNvSpPr txBox="1"/>
          <p:nvPr/>
        </p:nvSpPr>
        <p:spPr>
          <a:xfrm>
            <a:off x="822960" y="32918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cible du formateur</a:t>
            </a:r>
            <a:endParaRPr lang="en-US" sz="2800" dirty="0"/>
          </a:p>
        </p:txBody>
      </p:sp>
      <p:sp>
        <p:nvSpPr>
          <p:cNvPr id="8" name="Remarque"/>
          <p:cNvSpPr txBox="1"/>
          <p:nvPr/>
        </p:nvSpPr>
        <p:spPr>
          <a:xfrm>
            <a:off x="822960" y="41148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toute question, rapprochez-vous de la direction de votre établissement.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C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 cible du formateur">
  <a:themeElements>
    <a:clrScheme name="La cible du formateur">
      <a:dk1>
        <a:srgbClr val="1F2937"/>
      </a:dk1>
      <a:lt1>
        <a:srgbClr val="FFFFFF"/>
      </a:lt1>
      <a:dk2>
        <a:srgbClr val="0B3B35"/>
      </a:dk2>
      <a:lt2>
        <a:srgbClr val="EEF7F4"/>
      </a:lt2>
      <a:accent1>
        <a:srgbClr val="17AE89"/>
      </a:accent1>
      <a:accent2>
        <a:srgbClr val="E8590C"/>
      </a:accent2>
      <a:accent3>
        <a:srgbClr val="F59F00"/>
      </a:accent3>
      <a:accent4>
        <a:srgbClr val="1C7ED6"/>
      </a:accent4>
      <a:accent5>
        <a:srgbClr val="7048E8"/>
      </a:accent5>
      <a:accent6>
        <a:srgbClr val="E03131"/>
      </a:accent6>
      <a:hlink>
        <a:srgbClr val="1C7ED6"/>
      </a:hlink>
      <a:folHlink>
        <a:srgbClr val="7048E8"/>
      </a:folHlink>
    </a:clrScheme>
    <a:fontScheme name="La cible du formateu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d'utilisation - La cible du formateur</dc:title>
  <dc:subject>Guide d'utilisation de la plateforme de gestion scolaire</dc:subject>
  <dc:creator>La cible du formateur</dc:creator>
  <cp:lastModifiedBy>La cible du formateur</cp:lastModifiedBy>
  <cp:revision>1</cp:revision>
  <dcterms:created xsi:type="dcterms:W3CDTF">2026-10-09T12:28:42Z</dcterms:created>
  <dcterms:modified xsi:type="dcterms:W3CDTF">2026-10-09T12:28:42Z</dcterms:modified>
</cp:coreProperties>
</file>