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solidFill>
            <a:srgbClr val="0A7C6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1072865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72865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d'utilisation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F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gestion scolaire pour les écoles privées guinéennes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57784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complète — tous les modules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5394960" cy="5303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Qu'est-ce que Kalanso ?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 connecter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Rôles et permissions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Tableau de bord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Niveaux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Classes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Admissions — demandes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Admissions — traitement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Fiche élève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Notes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Bulletins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Suivi de parcours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Emploi du temps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217920" y="1097280"/>
            <a:ext cx="5394960" cy="5303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Appel du jour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Historique d'absences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Communication (SMS parents)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Tarifs d'écolage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Frais d'inscription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Factures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Paiement Mobile Money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Reçus et factures PDF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Personnel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 Paie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 Bilan financier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 Logistique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 Bibliothèque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 Exports &amp; bonnes pratiques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Kalanso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525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est un ERP scolaire : une plateforme unique qui centralise toute la gestion quotidienne d'une école privée (élèves, classes, notes, finances, personnel, communication).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depuis un navigateur web, sur ordinateur comme sur mobile — aucune installation nécessaire.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école dispose de son propre espace : les données d'un établissement ne sont jamais visibles par un autre.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remplacent progressivement les cahiers et tableurs Excel : moins de ressaisie, moins d'erreurs, une vision en temps réel de la situation de l'école.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Grands domaines couverts :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Scolarité (élèves, classes, notes, emploi du temps, absences)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 (écolage, factures, paie, bilan)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de l'établissement (personnel, logistique, bibliothèque, communication)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80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Ouvrez Kalanso dans votre navigateur : vous arrivez sur la page de connexion.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Saisissez votre email et votre mot de passe, puis cliquez sur « Se connecter ».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utilisateur (fondateur, chef d'établissement, secrétaire, comptable, enseignant) a son propre compte : ne partagez jamais votre mot de passe.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connecté, votre nom, votre rôle et un bouton « Déconnexion » apparaissent en haut de l'écran.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menu de gauche s'adapte automatiquement à votre rôle : vous ne voyez que ce qui vous concerne.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solidFill>
            <a:srgbClr val="EAFBF6"/>
          </a:solidFill>
          <a:ln w="9525">
            <a:solidFill>
              <a:srgbClr val="17AE8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897880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</a:t>
            </a:r>
            <a:pPr indent="0" marL="0">
              <a:buNone/>
            </a:pPr>
            <a:r>
              <a:rPr lang="en-US" sz="1200" i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 oublié ou compte à créer ? Contactez le fondateur ou le chef d'établissement, seuls habilités à gérer les comptes utilisateurs.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et permissions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7295" cy="5029200"/>
        </p:xfrm>
        <a:graphic>
          <a:graphicData uri="http://schemas.openxmlformats.org/drawingml/2006/table">
            <a:tbl>
              <a:tblPr/>
              <a:tblGrid>
                <a:gridCol w="2743200"/>
                <a:gridCol w="853409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C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principal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C63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Fondateur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total : tous les modules, tous les indicateurs financiers, gestion des rôles et de la configuration de l'école.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Chef d'établissement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quasi complet au quotidien pédagogique et administratif (élèves, classes, personnel, finances, communication).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Secrétaire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Admissions, élèves, classes, communication — la gestion administrative du quotidien.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Finances : tarifs, factures, paiements, paie, bilan financier.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Enseignant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 de ses classes, appel du jour, emploi du temps — accès en lecture sur les élèves de ses classes.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tableau de bord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page après connexion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instantanée : nombre d'élèves, nombre de personnel, paiements du mois, montant des impayés, absences du jour.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graphique « Présence du jour » résume en un coup d'œil présents / absents / retards de la journée.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boutons de téléchargement rapide : liste complète des élèves, liste des impayés (fichiers Excel).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point de départ recommandé de chaque session de travail : il signale immédiatement les situations qui demandent une action (impayés élevés, absences anormales).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Niveaux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 → Niveaux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niveau représente une année d'études (CP1, CE1, 6ème, Terminale...). Il structure les classes, les tarifs d'écolage et les frais d'inscription.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niveau : renseignez son nom, éventuellement son cycle (Primaire, Collège...) et son ordre d'affichage.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: cliquez sur « Modifier » sur la ligne du niveau pour ajuster nom, cycle ou ordre.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 : possible uniquement si le niveau n'est plus utilisé par des classes ou des tarifs existants.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solidFill>
            <a:srgbClr val="EAFBF6"/>
          </a:solidFill>
          <a:ln w="9525">
            <a:solidFill>
              <a:srgbClr val="17AE8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897880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</a:t>
            </a:r>
            <a:pPr indent="0" marL="0">
              <a:buNone/>
            </a:pPr>
            <a:r>
              <a:rPr lang="en-US" sz="1200" i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L'ordre détermine la position du niveau dans toutes les listes déroulantes de l'application — à définir en premier lors de la mise en place de l'école.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Élèves → Classes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: tous rôles de gestion — consultation : tous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une classe : nom (ex. CM1 A), niveau, année scolaire. Le frais d'inscription est automatiquement celui défini pour le niveau.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une nouvelle année scolaire (libellé, dates de début/fin) directement depuis cette page — nécessaire pour préparer le passage de classe.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tableau des effectifs affiche, pour chaque classe : niveau, année scolaire, frais d'inscription, nombre de filles/garçons, total, et un lien « Voir les élèves ».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barre de recherche permet de retrouver rapidement une classe par nom ou niveau.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— Demandes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Élèves → Admissions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d'établissement, Secrétaire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élève n'est créé directement : toute entrée d'élève passe par une demande d'admission, acceptée ou refusée.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façons de recevoir une demande :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public en ligne : un lien unique par école, à partager aux parents (réseaux sociaux, affichage).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Inscription sur place » : le secrétariat saisit lui-même les informations d'un élève reçu au bureau.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demande peut être accompagnée de pièces jointes (photo, acte de naissance, bulletin précédent...).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demandes apparaissent dans l'onglet « En attente », classées ensuite en « Acceptées » ou « Refusées ».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— Traitement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d'établissement, Secrétaire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127729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les pièces jointes : chaque document reçu peut être ouvert, puis marqué « Vérifié » ou « Rejeté ».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Accepter une demande : choisissez la classe d'affectation — l'élève, son dossier et la facture des frais d'inscription sont créés automatiquement (facture immédiatement soldée).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Refuser une demande : un motif de refus est demandé, conservé dans l'historique.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l'acceptation, l'élève apparaît dans le module Élèves et devient visible partout dans l'application (classe, finances, absences...).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solidFill>
            <a:srgbClr val="EAFBF6"/>
          </a:solidFill>
          <a:ln w="9525">
            <a:solidFill>
              <a:srgbClr val="17AE8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897880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</a:t>
            </a:r>
            <a:pPr indent="0" marL="0">
              <a:buNone/>
            </a:pPr>
            <a:r>
              <a:rPr lang="en-US" sz="1200" i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étape est le seul point d'entrée d'un nouvel élève dans Kalanso — elle garantit qu'aucune inscription n'est créée sans dossier ni décision explicite.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élève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Élèves → cliquer sur un élève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 générales : identité, matricule, genre, classe actuelle, coordonnées du ou des parents/tuteurs.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Absences / retards (année en cours) : compteur direct sur la fiche.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rapide au bulletin de notes (téléchargement) et à la situation financière de l'élève (factures, solde).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 de recherche sur la liste des élèves : par nom, prénom ou matricule.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Élèves → Notes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d'établissement, Enseignant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enseignant saisit les notes de ses propres classes et matières, trimestre par trimestre.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Sélectionnez la classe, la matière et le trimestre : la liste des élèves inscrits apparaît automatiquement.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Saisissez une note par élève puis enregistrez — Kalanso vérifie que chaque élève appartient bien à la classe choisie avant d'accepter la saisie.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notes déjà saisies peuvent être corrigées en resoumettant le formulaire pour la même classe/matière/trimestre.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525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bulletin rassemble les notes d'un élève sur les trois trimestres d'une matière, avec calcul automatique des moyennes.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Téléchargeable en Excel depuis la fiche de l'élève ou la page Notes, pour archivage ou impression.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export « Notes de la classe » (Excel) permet de sortir en une fois toutes les notes d'une classe pour un trimestre donné.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parcours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Élèves → Suivi de parcours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Décide du passage en classe supérieure à partir de la moyenne annuelle (moyenne des 3 trimestres). Seuil de passage : 5/10.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Choisissez une classe : Kalanso calcule automatiquement, pour chaque élève, ses moyennes trimestrielles, sa moyenne annuelle et une proposition de décision (passage ou redoublement).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élève admis, une classe de destination est proposée (niveau supérieur, année scolaire suivante) — modifiable au cas par cas.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Validez le passage : les élèves sélectionnés sont automatiquement réinscrits dans leur nouvelle classe.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solidFill>
            <a:srgbClr val="EAFBF6"/>
          </a:solidFill>
          <a:ln w="9525">
            <a:solidFill>
              <a:srgbClr val="17AE8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897880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</a:t>
            </a:r>
            <a:pPr indent="0" marL="0">
              <a:buNone/>
            </a:pPr>
            <a:r>
              <a:rPr lang="en-US" sz="1200" i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classe et l'année scolaire de destination doivent déjà exister — créez-les depuis la page Classes avant de lancer les passages.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Emploi du temps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Élèves → Emplois du temps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créneau associe une classe, une matière, un enseignant, une salle, un jour et une plage horaire, avec un taux horaire (utilisé ensuite pour le calcul du salaire de l'enseignant).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empêche la création d'un créneau en conflit : même salle ou même enseignant déjà occupé sur le même horaire.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salles sont gérées directement depuis cette page (création à la volée).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possible en Excel ou en PDF, par classe, pour affichage ou distribution.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 du jour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scolaire → Appel du jour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Sélectionnez une classe et une date : la liste des élèves inscrits s'affiche, chacun marqué par défaut « Présent ».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Basculez un élève en « Absent » ou « Retard » selon la situation réelle, puis enregistrez.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L'appel peut être corrigé plus tard en le resoumettant pour la même classe et la même date — la correction remplace bien l'appel précédent.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export Excel de l'appel est disponible pour archivage.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d'absences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scolaire → Historique d'absences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 toutes les absences et retards enregistrés, filtrable par classe et par période.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 de base à l'indicateur « Absences aujourd'hui » du tableau de bord.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Complète l'appel du jour pour un suivi dans la durée (élèves à absentéisme répété, par exemple).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scolaire → Communication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: Fondateur, Chef d'établissement, Secrétaire, Comptable — lecture : tous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 un message (SMS) aux parents, soit à toute une classe, soit à un élève précis.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Rédigez le contenu du message puis cliquez sur « Envoyer aux parents ».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« Journal des messages » conserve l'historique complet : date, élève, parent, téléphone, type de message (manuel, absence, rappel d'impayé), statut d'envoi.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Certains messages sont générés automatiquement par Kalanso (ex. rappel d'impayé) et apparaissent dans le même journal.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Tarifs d'écolage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 → Tarifs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d'établissement, Comptable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tarif est défini par niveau (pas par classe) : tout élève inscrit dans une classe de ce niveau reçoit automatiquement la facture correspondante.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tarifs possibles sur un même niveau (ex. « Écolage annuel », « Trimestre 1 », « Trimestre 2 ») : chacun génère sa propre facture.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tarif : libellé, niveau, montant. Modifier : lien « Modifier » sur la ligne du tarif concerné.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d'inscription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 → Tarifs — section « Frais d'inscription par niveau »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d'établissement, Comptable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facturé automatiquement à l'inscription de tout élève admis dans une classe de ce niveau.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montant par niveau et par année scolaire (contrairement à l'écolage, qui peut avoir plusieurs tarifs).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facture d'inscription est générée et soldée automatiquement au moment de l'acceptation d'une admission — aucune action manuelle nécessaire.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Modifiable à tout moment via le lien « Modifier » de la ligne concernée.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 → Factures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d'établissement, Comptable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impayés : élèves, montant total, montant payé, statut (impayée, partielle, payée, annulée).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un paiement : espèces, virement, chèque ou Mobile Money — met immédiatement à jour le solde de l'élève.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Excel de factures en masse (utile lors de la mise en place initiale) et export de la liste complète des factures.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Excel téléchargeable guide la préparation d'un import.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Mobile Money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 → Factures — bouton « Mobile Money »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470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Initier une transaction : choisissez l'opérateur (Orange Money, MTN Mobile Money...), le montant, le numéro du payeur.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transaction est d'abord « en attente », puis confirmée ou marquée en échec selon la réponse effective de l'opérateur.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confirmée, le paiement est automatiquement rattaché à la facture et le solde de l'élève est mis à jour comme pour tout autre mode de paiement.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Reçus et factures PDF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525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paiement enregistré génère un reçu PDF téléchargeable ou imprimable (« Voir le reçu du dernier paiement »).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facture peut être visualisée et téléchargée en PDF (bouton « œil » sur la ligne de la facture) : détail des lignes, montant total, montant payé, solde restant.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documents sont conçus pour être remis directement aux parents comme justificatif de paiement.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 → Personnel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de chaque membre du personnel : identité, matricule, fonction, type (Enseignant ou Administratif), date d'embauche.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enseignant : les affectations (classe, matière, taux horaire) sont gérées depuis l'Emploi du temps — son salaire de base en découle automatiquement.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profil administratif : un salaire de base fixe est renseigné directement sur sa fiche.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rapide par nom ou fonction sur la liste du personnel.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 du personnel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 → Paie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d'établissement, Comptable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bulletin par employé et par mois : le salaire de base est calculé automatiquement (heures réellement dispensées × taux horaire pour un enseignant, montant fixe pour un administratif).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enseignant : les heures de chaque classe sont pré-remplies depuis l'emploi du temps, ajustables au cas par cas (maladie, absence...) via un total global réparti automatiquement.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additionnelles libres : primes, indemnités, retenues (écolage du personnel, cotisation sociale, avance sur salaire...).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Statuts : Brouillon → Validé → Payé. Seuls les bulletins validés comptent dans la masse salariale du module Finance.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bulletin PDF est téléchargeable individuellement ; le « cahier de paie » (Excel) regroupe tous les bulletins du mois ; import Excel en masse également disponible.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financier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Finances → Bilan financier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d'établissement, Comptable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: écolage facturé/encaissé, frais d'inscription, masse salariale, solde net, taux de recouvrement.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de résultat mensuel : recettes totales (écolage + inscription + autres recettes), dépenses totales (salaires + autres dépenses), résultat net.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Enregistrement libre de mouvements financiers hors écolage/salaires : dépenses (loyer, fournitures, maintenance...) et autres recettes (cantine, transport, dons...).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Recouvrement par classe : identifie rapidement les classes en retard de paiement.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Régénérer les factures manquantes » : vérifie que chaque élève inscrit a bien toutes ses factures et complète les manquantes.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Excel complet du bilan financier de l'année.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 → Logistique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Inventaire du matériel de l'école : catégorie (Mobilier, Informatique, Pédagogique, Autre), désignation, quantité, état, salle de localisation.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États suivis : Bon, Moyen, À réparer, Hors service — un indicateur signale le nombre d'articles à surveiller.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par catégorie ou par état pour cibler rapidement un inventaire (ex. tout le matériel « à réparer »).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Excel de l'inventaire complet.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 → Bibliothèque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Fondateur, Chef d'établissement, Secrétaire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127729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des livres : titre, auteur, catégorie, ISBN, nombre d'exemplaires (total / disponibles).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un emprunt : choisissez un livre disponible et un élève — une date de retour prévue est proposée (14 jours par défaut).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emprunts : en cours, en retard (signalé automatiquement), retournés.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Marquer un retour libère immédiatement un exemplaire pour un nouvel emprunt.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disponibles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525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plupart des modules proposent un export Excel ou PDF, reconnaissable au bouton avec une icône de téléchargement.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Récapitulatif :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élèves, liste des impayés (Tableau de bord)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 de notes, notes de la classe (Notes)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 du jour, emploi du temps classe (Excel + PDF) (Vie scolaire / Emploi du temps)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Factures, modèle d'import de factures (Finances)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 de paie (PDF), cahier de paie, modèle d'import de paie (Paie)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financier complet (Finance)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Inventaire du matériel (Logistique)</a:t>
            </a:r>
            <a:endParaRPr lang="en-US" sz="1500" dirty="0"/>
          </a:p>
          <a:p>
            <a:pPr marL="406400" indent="-4064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Reçu de paiement, facture (PDF) (Finances)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AE8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0"/>
            <a:ext cx="112772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11277295" cy="525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Commencez toujours par configurer Niveaux → Classes → Tarifs avant d'ouvrir les admissions.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Faites l'appel du jour et la saisie des notes le plus tôt possible : plus la saisie est régulière, plus les indicateurs (absences, moyennes, recouvrement) restent fiables.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partagez jamais votre mot de passe : chaque action est associée à l'utilisateur connecté.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de doute sur un montant ou une décision (passage de classe, suppression), vérifiez toujours l'aperçu ou la confirmation affichée avant de valider.</a:t>
            </a:r>
            <a:endParaRPr lang="en-US" sz="1500" dirty="0"/>
          </a:p>
          <a:p>
            <a:pPr marL="254000" indent="-254000"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Utilisez les exports régulièrement comme sauvegarde de secours des données clés (élèves, factures, paie).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AFBF6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537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A7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C6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3774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toute question sur l'utilisation de Kalanso, contactez le fondateur ou le chef d'établissement de votre école.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Kalanso — Manuel d'utilisation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Manuel d'utilisation — Kalanso</dc:title>
  <dc:subject>PptxGenJS Presentation</dc:subject>
  <dc:creator>Kalanso</dc:creator>
  <cp:lastModifiedBy>Kalanso</cp:lastModifiedBy>
  <cp:revision>1</cp:revision>
  <dcterms:created xsi:type="dcterms:W3CDTF">2026-07-25T22:30:47Z</dcterms:created>
  <dcterms:modified xsi:type="dcterms:W3CDTF">2026-07-25T22:30:47Z</dcterms:modified>
</cp:coreProperties>
</file>